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senter 1: The Airways and Asthma" id="{33d46e26-ecba-83cd-dec6-4c7702909004}">
          <p14:sldIdLst>
            <p14:sldId id="256"/>
            <p14:sldId id="257"/>
            <p14:sldId id="258"/>
            <p14:sldId id="259"/>
            <p14:sldId id="260"/>
            <p14:sldId id="261"/>
            <p14:sldId id="262"/>
            <p14:sldId id="263"/>
          </p14:sldIdLst>
        </p14:section>
        <p14:section name="Presenter 2: COPD" id="{3f95de10-cfc0-c2dd-968c-8cf26cc58a85}">
          <p14:sldIdLst>
            <p14:sldId id="264"/>
            <p14:sldId id="265"/>
            <p14:sldId id="266"/>
            <p14:sldId id="267"/>
            <p14:sldId id="268"/>
            <p14:sldId id="269"/>
            <p14:sldId id="270"/>
            <p14:sldId id="271"/>
          </p14:sldIdLst>
        </p14:section>
        <p14:section name="Presenter 3: Diagnosis, Treatment and Review" id="{17f70929-6170-a74d-b120-913a5c93dedb}">
          <p14:sldIdLst>
            <p14:sldId id="272"/>
            <p14:sldId id="273"/>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595959"/>
                </a:solidFill>
                <a:latin typeface="+mn-lt"/>
              </a:defRPr>
            </a:pPr>
            <a:r>
              <a:rPr sz="1600" b="0" i="0" u="none" strike="noStrike">
                <a:solidFill>
                  <a:srgbClr val="595959"/>
                </a:solidFill>
                <a:latin typeface="+mn-lt"/>
              </a:rPr>
              <a:t>Blowing out as hard and fast as possible</a:t>
            </a:r>
          </a:p>
        </c:rich>
      </c:tx>
      <c:layout/>
      <c:overlay val="0"/>
    </c:title>
    <c:autoTitleDeleted val="0"/>
    <c:plotArea>
      <c:layout>
        <c:manualLayout>
          <c:layoutTarget val="inner"/>
          <c:xMode val="edge"/>
          <c:yMode val="edge"/>
          <c:x val="0.12"/>
          <c:y val="0.14"/>
          <c:w val="0.84"/>
          <c:h val="0.6"/>
        </c:manualLayout>
      </c:layout>
      <c:lineChart>
        <c:varyColors val="0"/>
        <c:ser>
          <c:idx val="0"/>
          <c:order val="0"/>
          <c:tx>
            <c:strRef>
              <c:f>Sheet1!$B$1</c:f>
              <c:strCache>
                <c:ptCount val="1"/>
                <c:pt idx="0">
                  <c:v>Healthy</c:v>
                </c:pt>
              </c:strCache>
            </c:strRef>
          </c:tx>
          <c:spPr>
            <a:solidFill>
              <a:srgbClr val="4472C4"/>
            </a:solidFill>
            <a:ln w="38100" cap="flat">
              <a:solidFill>
                <a:srgbClr val="4472C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4472C4"/>
              </a:solidFill>
              <a:ln w="9525" cap="flat">
                <a:solidFill>
                  <a:srgbClr val="4472C4"/>
                </a:solidFill>
                <a:prstDash val="solid"/>
                <a:round/>
              </a:ln>
              <a:effectLst/>
            </c:spPr>
          </c:marker>
          <c:cat>
            <c:multiLvlStrRef>
              <c:f>Sheet1!$A$2:$A$26</c:f>
              <c:multiLvlStrCache>
                <c:ptCount val="25"/>
                <c:lvl>
                  <c:pt idx="0">
                    <c:v>0</c:v>
                  </c:pt>
                  <c:pt idx="1">
                    <c:v/>
                  </c:pt>
                  <c:pt idx="2">
                    <c:v/>
                  </c:pt>
                  <c:pt idx="3">
                    <c:v/>
                  </c:pt>
                  <c:pt idx="4">
                    <c:v>1</c:v>
                  </c:pt>
                  <c:pt idx="5">
                    <c:v/>
                  </c:pt>
                  <c:pt idx="6">
                    <c:v/>
                  </c:pt>
                  <c:pt idx="7">
                    <c:v/>
                  </c:pt>
                  <c:pt idx="8">
                    <c:v>2</c:v>
                  </c:pt>
                  <c:pt idx="9">
                    <c:v/>
                  </c:pt>
                  <c:pt idx="10">
                    <c:v/>
                  </c:pt>
                  <c:pt idx="11">
                    <c:v/>
                  </c:pt>
                  <c:pt idx="12">
                    <c:v>3</c:v>
                  </c:pt>
                  <c:pt idx="13">
                    <c:v/>
                  </c:pt>
                  <c:pt idx="14">
                    <c:v/>
                  </c:pt>
                  <c:pt idx="15">
                    <c:v/>
                  </c:pt>
                  <c:pt idx="16">
                    <c:v>4</c:v>
                  </c:pt>
                  <c:pt idx="17">
                    <c:v/>
                  </c:pt>
                  <c:pt idx="18">
                    <c:v/>
                  </c:pt>
                  <c:pt idx="19">
                    <c:v/>
                  </c:pt>
                  <c:pt idx="20">
                    <c:v>5</c:v>
                  </c:pt>
                  <c:pt idx="21">
                    <c:v/>
                  </c:pt>
                  <c:pt idx="22">
                    <c:v/>
                  </c:pt>
                  <c:pt idx="23">
                    <c:v/>
                  </c:pt>
                  <c:pt idx="24">
                    <c:v>6</c:v>
                  </c:pt>
                </c:lvl>
              </c:multiLvlStrCache>
            </c:multiLvlStrRef>
          </c:cat>
          <c:val>
            <c:numRef>
              <c:f>Sheet1!$B$2:$B$26</c:f>
              <c:numCache>
                <c:formatCode>General</c:formatCode>
                <c:ptCount val="25"/>
                <c:pt idx="0">
                  <c:v>0</c:v>
                </c:pt>
                <c:pt idx="1">
                  <c:v>1.66</c:v>
                </c:pt>
                <c:pt idx="2">
                  <c:v>2.76</c:v>
                </c:pt>
                <c:pt idx="3">
                  <c:v>3.5</c:v>
                </c:pt>
                <c:pt idx="4">
                  <c:v>4</c:v>
                </c:pt>
                <c:pt idx="5">
                  <c:v>4.33</c:v>
                </c:pt>
                <c:pt idx="6">
                  <c:v>4.55</c:v>
                </c:pt>
                <c:pt idx="7">
                  <c:v>4.7</c:v>
                </c:pt>
                <c:pt idx="8">
                  <c:v>4.8</c:v>
                </c:pt>
                <c:pt idx="9">
                  <c:v>4.87</c:v>
                </c:pt>
                <c:pt idx="10">
                  <c:v>4.91</c:v>
                </c:pt>
                <c:pt idx="11">
                  <c:v>4.94</c:v>
                </c:pt>
                <c:pt idx="12">
                  <c:v>4.96</c:v>
                </c:pt>
                <c:pt idx="13">
                  <c:v>4.97</c:v>
                </c:pt>
                <c:pt idx="14">
                  <c:v>4.98</c:v>
                </c:pt>
                <c:pt idx="15">
                  <c:v>4.99</c:v>
                </c:pt>
                <c:pt idx="16">
                  <c:v>4.99</c:v>
                </c:pt>
                <c:pt idx="17">
                  <c:v>4.99</c:v>
                </c:pt>
                <c:pt idx="18">
                  <c:v>5</c:v>
                </c:pt>
                <c:pt idx="19">
                  <c:v>5</c:v>
                </c:pt>
                <c:pt idx="20">
                  <c:v>5</c:v>
                </c:pt>
                <c:pt idx="21">
                  <c:v>5</c:v>
                </c:pt>
                <c:pt idx="22">
                  <c:v>5</c:v>
                </c:pt>
                <c:pt idx="23">
                  <c:v>5</c:v>
                </c:pt>
                <c:pt idx="24">
                  <c:v>5</c:v>
                </c:pt>
              </c:numCache>
            </c:numRef>
          </c:val>
          <c:smooth val="1"/>
        </c:ser>
        <c:ser>
          <c:idx val="1"/>
          <c:order val="1"/>
          <c:tx>
            <c:strRef>
              <c:f>Sheet1!$C$1</c:f>
              <c:strCache>
                <c:ptCount val="1"/>
                <c:pt idx="0">
                  <c:v>Obstruction</c:v>
                </c:pt>
              </c:strCache>
            </c:strRef>
          </c:tx>
          <c:spPr>
            <a:solidFill>
              <a:srgbClr val="ED7D31"/>
            </a:solidFill>
            <a:ln w="38100" cap="flat">
              <a:solidFill>
                <a:srgbClr val="ED7D3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D7D31"/>
              </a:solidFill>
              <a:ln w="9525" cap="flat">
                <a:solidFill>
                  <a:srgbClr val="ED7D31"/>
                </a:solidFill>
                <a:prstDash val="solid"/>
                <a:round/>
              </a:ln>
              <a:effectLst/>
            </c:spPr>
          </c:marker>
          <c:cat>
            <c:multiLvlStrRef>
              <c:f>Sheet1!$A$2:$A$26</c:f>
              <c:multiLvlStrCache>
                <c:ptCount val="25"/>
                <c:lvl>
                  <c:pt idx="0">
                    <c:v>0</c:v>
                  </c:pt>
                  <c:pt idx="1">
                    <c:v/>
                  </c:pt>
                  <c:pt idx="2">
                    <c:v/>
                  </c:pt>
                  <c:pt idx="3">
                    <c:v/>
                  </c:pt>
                  <c:pt idx="4">
                    <c:v>1</c:v>
                  </c:pt>
                  <c:pt idx="5">
                    <c:v/>
                  </c:pt>
                  <c:pt idx="6">
                    <c:v/>
                  </c:pt>
                  <c:pt idx="7">
                    <c:v/>
                  </c:pt>
                  <c:pt idx="8">
                    <c:v>2</c:v>
                  </c:pt>
                  <c:pt idx="9">
                    <c:v/>
                  </c:pt>
                  <c:pt idx="10">
                    <c:v/>
                  </c:pt>
                  <c:pt idx="11">
                    <c:v/>
                  </c:pt>
                  <c:pt idx="12">
                    <c:v>3</c:v>
                  </c:pt>
                  <c:pt idx="13">
                    <c:v/>
                  </c:pt>
                  <c:pt idx="14">
                    <c:v/>
                  </c:pt>
                  <c:pt idx="15">
                    <c:v/>
                  </c:pt>
                  <c:pt idx="16">
                    <c:v>4</c:v>
                  </c:pt>
                  <c:pt idx="17">
                    <c:v/>
                  </c:pt>
                  <c:pt idx="18">
                    <c:v/>
                  </c:pt>
                  <c:pt idx="19">
                    <c:v/>
                  </c:pt>
                  <c:pt idx="20">
                    <c:v>5</c:v>
                  </c:pt>
                  <c:pt idx="21">
                    <c:v/>
                  </c:pt>
                  <c:pt idx="22">
                    <c:v/>
                  </c:pt>
                  <c:pt idx="23">
                    <c:v/>
                  </c:pt>
                  <c:pt idx="24">
                    <c:v>6</c:v>
                  </c:pt>
                </c:lvl>
              </c:multiLvlStrCache>
            </c:multiLvlStrRef>
          </c:cat>
          <c:val>
            <c:numRef>
              <c:f>Sheet1!$C$2:$C$26</c:f>
              <c:numCache>
                <c:formatCode>General</c:formatCode>
                <c:ptCount val="25"/>
                <c:pt idx="0">
                  <c:v>0</c:v>
                </c:pt>
                <c:pt idx="1">
                  <c:v>0.57</c:v>
                </c:pt>
                <c:pt idx="2">
                  <c:v>1.05</c:v>
                </c:pt>
                <c:pt idx="3">
                  <c:v>1.46</c:v>
                </c:pt>
                <c:pt idx="4">
                  <c:v>1.8</c:v>
                </c:pt>
                <c:pt idx="5">
                  <c:v>2.09</c:v>
                </c:pt>
                <c:pt idx="6">
                  <c:v>2.33</c:v>
                </c:pt>
                <c:pt idx="7">
                  <c:v>2.53</c:v>
                </c:pt>
                <c:pt idx="8">
                  <c:v>2.7</c:v>
                </c:pt>
                <c:pt idx="9">
                  <c:v>2.84</c:v>
                </c:pt>
                <c:pt idx="10">
                  <c:v>2.96</c:v>
                </c:pt>
                <c:pt idx="11">
                  <c:v>3.06</c:v>
                </c:pt>
                <c:pt idx="12">
                  <c:v>3.15</c:v>
                </c:pt>
                <c:pt idx="13">
                  <c:v>3.22</c:v>
                </c:pt>
                <c:pt idx="14">
                  <c:v>3.28</c:v>
                </c:pt>
                <c:pt idx="15">
                  <c:v>3.33</c:v>
                </c:pt>
                <c:pt idx="16">
                  <c:v>3.37</c:v>
                </c:pt>
                <c:pt idx="17">
                  <c:v>3.41</c:v>
                </c:pt>
                <c:pt idx="18">
                  <c:v>3.44</c:v>
                </c:pt>
                <c:pt idx="19">
                  <c:v>3.47</c:v>
                </c:pt>
                <c:pt idx="20">
                  <c:v>3.49</c:v>
                </c:pt>
                <c:pt idx="21">
                  <c:v>3.51</c:v>
                </c:pt>
                <c:pt idx="22">
                  <c:v>3.52</c:v>
                </c:pt>
                <c:pt idx="23">
                  <c:v>3.53</c:v>
                </c:pt>
                <c:pt idx="24">
                  <c:v>3.54</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595959"/>
                    </a:solidFill>
                    <a:latin typeface="+mn-lt"/>
                  </a:defRPr>
                </a:pPr>
                <a:r>
                  <a:rPr sz="1400" b="0" i="0" u="none" strike="noStrike">
                    <a:solidFill>
                      <a:srgbClr val="595959"/>
                    </a:solidFill>
                    <a:latin typeface="+mn-lt"/>
                  </a:rPr>
                  <a:t>Time (seconds)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595959"/>
                </a:solidFill>
                <a:latin typeface="+mn-lt"/>
              </a:defRPr>
            </a:pPr>
            <a:endParaRPr lang="en-US"/>
          </a:p>
        </c:txPr>
        <c:crossAx val="2094734552"/>
        <c:crosses val="autoZero"/>
        <c:auto val="1"/>
        <c:lblAlgn val="ctr"/>
        <c:noMultiLvlLbl val="1"/>
        <c:tickLblSkip val="4"/>
      </c:catAx>
      <c:valAx>
        <c:axId val="2094734552"/>
        <c:scaling>
          <c:orientation val="minMax"/>
          <c:max val="6"/>
          <c:min val="0"/>
        </c:scaling>
        <c:delete val="0"/>
        <c:axPos val="l"/>
        <c:majorGridlines>
          <c:spPr>
            <a:ln w="9525" cap="flat">
              <a:solidFill>
                <a:srgbClr val="D9D9D9"/>
              </a:solidFill>
              <a:prstDash val="solid"/>
              <a:round/>
            </a:ln>
          </c:spPr>
        </c:majorGridlines>
        <c:title>
          <c:tx>
            <c:rich>
              <a:bodyPr/>
              <a:lstStyle/>
              <a:p>
                <a:pPr>
                  <a:defRPr sz="1400" b="0" i="0" u="none" strike="noStrike">
                    <a:solidFill>
                      <a:srgbClr val="595959"/>
                    </a:solidFill>
                    <a:latin typeface="+mn-lt"/>
                  </a:defRPr>
                </a:pPr>
                <a:r>
                  <a:rPr sz="1400" b="0" i="0" u="none" strike="noStrike">
                    <a:solidFill>
                      <a:srgbClr val="595959"/>
                    </a:solidFill>
                    <a:latin typeface="+mn-lt"/>
                  </a:rPr>
                  <a:t>Air blown out (litres)</a:t>
                </a:r>
              </a:p>
            </c:rich>
          </c:tx>
          <c:layout/>
          <c:overlay val="0"/>
        </c:title>
        <c:numFmt formatCode="General"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b"/>
      <c:overlay val="0"/>
      <c:txPr>
        <a:bodyPr/>
        <a:lstStyle/>
        <a:p>
          <a:pPr>
            <a:defRPr sz="1400">
              <a:solidFill>
                <a:srgbClr val="59595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1 – 30 seconds</a:t>
            </a:r>
          </a:p>
          <a:p>
            <a:endParaRPr lang="en-US" dirty="0"/>
          </a:p>
          <a:p>
            <a:r>
              <a:rPr lang="en-US" dirty="0"/>
              <a:t>Good morning, everyone. My name is Presenter 1, and these are my classmates, Presenter 2 and Presenter 3. Today we are going to talk about asthma and COPD. They are the two most common obstructive lung diseases. Our title is "When the air can't get out." In a few minutes, you will see why.</a:t>
            </a:r>
          </a:p>
          <a:p>
            <a:endParaRPr lang="en-US" dirty="0"/>
          </a:p>
          <a:p>
            <a:r>
              <a:rPr lang="en-US" dirty="0"/>
              <a:t>Stress: asthma (AZ-muh); COPD (see-oh-pee-DEE); obstructive (ub-STRUK-tiv)</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1 – 50 seconds</a:t>
            </a:r>
          </a:p>
          <a:p>
            <a:endParaRPr lang="en-US" dirty="0"/>
          </a:p>
          <a:p>
            <a:r>
              <a:rPr lang="en-US" dirty="0"/>
              <a:t>Let's start with two patients. This is Neda. She is nineteen, and she is a university student. She loves volleyball, but after a game she coughs and wheezes. A wheeze is a high, whistling sound when you breathe. And this is Mr. Rahimi. He is sixty-six, and he is a retired taxi driver. He gets breathless on the stairs. Breathless means short of breath. So, both of them struggle to breathe, and both of them wheeze. But they have two different diseases. By the end of our talk, you will know which disease each one has, and why.</a:t>
            </a:r>
          </a:p>
          <a:p>
            <a:endParaRPr lang="en-US" dirty="0"/>
          </a:p>
          <a:p>
            <a:r>
              <a:rPr lang="en-US" dirty="0"/>
              <a:t>Stress: wheeze (WEEZ); breathless (BRETH-lus); struggle (STRUG-ul)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1 – 30 seconds</a:t>
            </a:r>
          </a:p>
          <a:p>
            <a:endParaRPr lang="en-US" dirty="0"/>
          </a:p>
          <a:p>
            <a:r>
              <a:rPr lang="en-US" dirty="0"/>
              <a:t>Here is our plan. First, I will explain how the airways work and what "obstructive" means. Then I will talk about asthma. After that, Presenter 2 will explain COPD. Finally, Presenter 3 will show how doctors diagnose and treat these diseases. At the end, there is a short quiz for you, so please stay with us!</a:t>
            </a:r>
          </a:p>
          <a:p>
            <a:endParaRPr lang="en-US" dirty="0"/>
          </a:p>
          <a:p>
            <a:r>
              <a:rPr lang="en-US" dirty="0"/>
              <a:t>Stress: diagnose (DY-ug-nohs); quiz (KWIZ)</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1 – 55 seconds</a:t>
            </a:r>
          </a:p>
          <a:p>
            <a:endParaRPr lang="en-US" dirty="0"/>
          </a:p>
          <a:p>
            <a:r>
              <a:rPr lang="en-US" dirty="0"/>
              <a:t>To understand these diseases, we need to know the airways. Our airways look like a tree, but upside down. The trunk is the trachea, or windpipe. The trachea divides into two big branches, called the bronchi. One goes to each lung. The bronchi divide again and again into small branches, called bronchioles. And at the end, like leaves, there are millions of tiny air sacs. They are called alveoli. In the alveoli, oxygen goes into the blood, and carbon dioxide comes out. Breathing in takes muscle work. But breathing out is passive. The lungs simply spring back, like a balloon.</a:t>
            </a:r>
          </a:p>
          <a:p>
            <a:endParaRPr lang="en-US" dirty="0"/>
          </a:p>
          <a:p>
            <a:r>
              <a:rPr lang="en-US" dirty="0"/>
              <a:t>Stress: trachea (TRAY-kee-uh); bronchi (BRONG-kye); bronchioles (BRONG-kee-ohlz); alveoli (al-VEE-uh-lye); passive (PASS-iv)</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1 – 65 seconds</a:t>
            </a:r>
          </a:p>
          <a:p>
            <a:endParaRPr lang="en-US" dirty="0"/>
          </a:p>
          <a:p>
            <a:r>
              <a:rPr lang="en-US" dirty="0"/>
              <a:t>The word "obstructive" comes from the verb "to obstruct". It means to block. In obstructive lung diseases, the airways become narrow. Look at the picture. At the top, a healthy airway is wide open, and the air flows out easily. At the bottom, the airway is narrow. Air can get in, but it is very hard to get out. So old air stays trapped inside the lungs. Now, let's try something together. Please take a deep breath in. Now breathe out slowly through a straw, or through pursed lips, like this. [Pause and demonstrate.] It takes a long time, right? Now imagine breathing like this all day. That is life with an obstructive lung disease.</a:t>
            </a:r>
          </a:p>
          <a:p>
            <a:endParaRPr lang="en-US" dirty="0"/>
          </a:p>
          <a:p>
            <a:r>
              <a:rPr lang="en-US" dirty="0"/>
              <a:t>Stress: obstruct (ub-STRUKT); narrow (NAIR-oh); trapped (TRAPT); pursed lips (PURST lips)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1 – 75 seconds</a:t>
            </a:r>
          </a:p>
          <a:p>
            <a:endParaRPr lang="en-US" dirty="0"/>
          </a:p>
          <a:p>
            <a:r>
              <a:rPr lang="en-US" dirty="0"/>
              <a:t>Now, let's go back to Neda. Neda has asthma. Asthma is a long-term disease of the airways. Long-term means it lasts for many years. In asthma, the airways are very sensitive. When they meet a trigger, they overreact. Look at the two circles. They show an airway cut across. On the left, a normal airway is wide open. On the right is an airway during an asthma attack. Three things happen. Number one: the wall becomes swollen. We call this inflammation. Number two: the muscle around the airway squeezes tight. This is called bronchospasm. Number three: the airway makes too much mucus, a thick, sticky liquid. Together, these changes make the airway very narrow. But here is the good news. In asthma, the narrowing is usually reversible. Reversible means it can go back to normal.</a:t>
            </a:r>
          </a:p>
          <a:p>
            <a:endParaRPr lang="en-US" dirty="0"/>
          </a:p>
          <a:p>
            <a:r>
              <a:rPr lang="en-US" dirty="0"/>
              <a:t>Stress: sensitive (SEN-sih-tiv); inflammation (in-fluh-MAY-shun); bronchospasm (BRONG-koh-spaz-um); mucus (MYOO-kus); reversible (rih-VER-suh-bul)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1 – 55 seconds</a:t>
            </a:r>
          </a:p>
          <a:p>
            <a:endParaRPr lang="en-US" dirty="0"/>
          </a:p>
          <a:p>
            <a:r>
              <a:rPr lang="en-US" dirty="0"/>
              <a:t>So, what makes the airways react? We call it a trigger. A trigger is something that starts the symptoms. The most common triggers are allergens. An allergen is a substance that causes an allergy, like pollen from trees and flowers, dust mites in our beds, pet hair, and mould. Cigarette smoke and air pollution are triggers too. So are cold air and exercise. Colds and flu are very common triggers, especially in children. Even stress and strong emotions can start an attack. For Neda, the triggers are exercise and pollen in spring. That is why her symptoms come and go.</a:t>
            </a:r>
          </a:p>
          <a:p>
            <a:endParaRPr lang="en-US" dirty="0"/>
          </a:p>
          <a:p>
            <a:r>
              <a:rPr lang="en-US" dirty="0"/>
              <a:t>Stress: trigger (TRIG-er); allergen (AL-er-jen); pollen (POL-un); dust mites (DUST mytes); mould (MOHLD)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1 – 60 seconds</a:t>
            </a:r>
          </a:p>
          <a:p>
            <a:endParaRPr lang="en-US" dirty="0"/>
          </a:p>
          <a:p>
            <a:r>
              <a:rPr lang="en-US" dirty="0"/>
              <a:t>These are the four main symptoms of asthma. Wheezing, the whistling sound. Coughing, often at night or early in the morning. Chest tightness. Patients say it feels like a tight band around the chest. And shortness of breath. The key word for asthma is "variable". It means the symptoms come and go. But sometimes an attack is severe. Watch for these danger signs: the patient cannot finish a sentence, the lips turn blue, or the inhaler does not help. This is an emergency, so call for help immediately. That's all about asthma from me. Now, Presenter 2 will tell you what is happening to Mr. Rahimi.</a:t>
            </a:r>
          </a:p>
          <a:p>
            <a:endParaRPr lang="en-US" dirty="0"/>
          </a:p>
          <a:p>
            <a:r>
              <a:rPr lang="en-US" dirty="0"/>
              <a:t>Stress: variable (VAIR-ee-uh-bul); severe (suh-VEER); emergency (ih-MER-jen-see); immediately (ih-MEE-dee-ut-lee)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2 – 40 seconds</a:t>
            </a:r>
          </a:p>
          <a:p>
            <a:endParaRPr lang="en-US" dirty="0"/>
          </a:p>
          <a:p>
            <a:r>
              <a:rPr lang="en-US" dirty="0"/>
              <a:t>Thank you, Presenter 1. Now let's go back to our second patient, Mr. Rahimi. He smoked one pack of cigarettes a day for forty years. Every morning, he coughs and brings up phlegm. Phlegm is the thick mucus we cough up from the chest. Ten years ago, he was breathless only on the stairs. Now he is breathless even on flat ground. His symptoms don't come and go like Neda's. They get slowly worse, year after year.</a:t>
            </a:r>
          </a:p>
          <a:p>
            <a:endParaRPr lang="en-US" dirty="0"/>
          </a:p>
          <a:p>
            <a:r>
              <a:rPr lang="en-US" dirty="0"/>
              <a:t>Stress: phlegm (FLEM); cigarettes (sig-uh-RETS); flat ground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2 – 60 seconds</a:t>
            </a:r>
          </a:p>
          <a:p>
            <a:endParaRPr lang="en-US" dirty="0"/>
          </a:p>
          <a:p>
            <a:r>
              <a:rPr lang="en-US" dirty="0"/>
              <a:t>Mr. Rahimi has COPD. COPD is an abbreviation, so let's read it letter by letter. C is for chronic. Chronic means long-lasting. O is for obstructive, which means blocking the airflow. P is for pulmonary. Pulmonary means related to the lungs. And D is for disease. So, COPD is a long-lasting lung disease that blocks the airflow. Doctors and nurses use this abbreviation every day. Now, three key facts. First, the blockage is not fully reversible. This is the big difference from asthma. Second, COPD is progressive. Progressive means it slowly gets worse. And third, it usually starts after the age of forty.</a:t>
            </a:r>
          </a:p>
          <a:p>
            <a:endParaRPr lang="en-US" dirty="0"/>
          </a:p>
          <a:p>
            <a:r>
              <a:rPr lang="en-US" dirty="0"/>
              <a:t>Stress: abbreviation (uh-bree-vee-AY-shun); chronic (KRON-ik); pulmonary (PUL-muh-nair-ee); progressive (pruh-GRES-iv)</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2 – 75 seconds</a:t>
            </a:r>
          </a:p>
          <a:p>
            <a:endParaRPr lang="en-US" dirty="0"/>
          </a:p>
          <a:p>
            <a:r>
              <a:rPr lang="en-US" dirty="0"/>
              <a:t>COPD has two main types. Most patients, like Mr. Rahimi, have a mix of both. The first type is chronic bronchitis. The ending "itis" means inflammation. So bronchitis is inflammation of the bronchi, the big tubes. The tubes become swollen, and they make too much mucus. The main sign is a cough with phlegm that lasts for months. The second type is emphysema. Here, the problem is in the alveoli, the tiny air sacs. Look at the picture. Healthy alveoli are small, like a bunch of grapes. In emphysema, their thin walls break down. Many small sacs become a few big, floppy ones. The lungs lose their elasticity. That is their ability to stretch and spring back. So the air stays trapped inside. Remember: bronchitis is in the tubes, and emphysema is in the air sacs.</a:t>
            </a:r>
          </a:p>
          <a:p>
            <a:endParaRPr lang="en-US" dirty="0"/>
          </a:p>
          <a:p>
            <a:r>
              <a:rPr lang="en-US" dirty="0"/>
              <a:t>Stress: bronchitis (brong-KY-tis); emphysema (em-fuh-SEE-muh); floppy (FLOP-ee); elasticity (ee-las-TIS-ih-tee)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2 – 55 seconds</a:t>
            </a:r>
          </a:p>
          <a:p>
            <a:endParaRPr lang="en-US" dirty="0"/>
          </a:p>
          <a:p>
            <a:r>
              <a:rPr lang="en-US" dirty="0"/>
              <a:t>So, what damages the lungs in COPD? The main cause is tobacco smoke. That includes cigarettes, the water pipe, or hookah, and second-hand smoke. Second-hand smoke means breathing in other people's smoke. According to the World Health Organization, in high-income countries more than seventy percent of COPD cases are caused by smoking. But in poorer countries, another big cause is household air pollution. This is smoke from cooking or heating with wood or coal inside the home. Polluted air, dust and chemicals at work can also hurt the lungs. Finally, a rare genetic condition can cause COPD in young people.</a:t>
            </a:r>
          </a:p>
          <a:p>
            <a:endParaRPr lang="en-US" dirty="0"/>
          </a:p>
          <a:p>
            <a:r>
              <a:rPr lang="en-US" dirty="0"/>
              <a:t>Stress: tobacco (tuh-BAK-oh); hookah (HOOK-uh); second-hand smoke; household air pollution (puh-LOO-shun); genetic (juh-NET-ik)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2 – 55 seconds</a:t>
            </a:r>
          </a:p>
          <a:p>
            <a:endParaRPr lang="en-US" dirty="0"/>
          </a:p>
          <a:p>
            <a:r>
              <a:rPr lang="en-US" dirty="0"/>
              <a:t>The main symptoms of COPD are shortness of breath, a chronic cough, and sputum. Sputum is the medical word for phlegm. The medical word for shortness of breath is dyspnea. Many patients also feel tired all the time. Now look at the steps on the right. In COPD, breathlessness slowly gets worse. At first, the patient is breathless only on stairs or hills. Later, it happens when walking on flat ground. In severe COPD, even getting dressed is hard work. Many people think this is just "getting old", so they see a doctor very late.</a:t>
            </a:r>
          </a:p>
          <a:p>
            <a:endParaRPr lang="en-US" dirty="0"/>
          </a:p>
          <a:p>
            <a:r>
              <a:rPr lang="en-US" dirty="0"/>
              <a:t>Stress: sputum (SPYOO-tum); dyspnea (DISP-nee-uh); breathlessness (BRETH-lus-nus)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2 – 45 seconds</a:t>
            </a:r>
          </a:p>
          <a:p>
            <a:endParaRPr lang="en-US" dirty="0"/>
          </a:p>
          <a:p>
            <a:r>
              <a:rPr lang="en-US" dirty="0"/>
              <a:t>Sometimes COPD suddenly gets worse for a few days. We call this a flare-up. The medical word is exacerbation. The patient becomes more breathless than usual. They cough more, and the sputum can change colour to yellow or green. The most common causes are chest infections and air pollution. A serious flare-up needs hospital care, often with oxygen and extra medicine. Each flare-up can also leave the lungs a little weaker. That is why preventing them is so important.</a:t>
            </a:r>
          </a:p>
          <a:p>
            <a:endParaRPr lang="en-US" dirty="0"/>
          </a:p>
          <a:p>
            <a:r>
              <a:rPr lang="en-US" dirty="0"/>
              <a:t>Stress: flare-up (FLAIR-up); exacerbation (ig-ZAS-er-BAY-shun); infection (in-FEK-shun)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2 – 45 seconds</a:t>
            </a:r>
          </a:p>
          <a:p>
            <a:endParaRPr lang="en-US" dirty="0"/>
          </a:p>
          <a:p>
            <a:r>
              <a:rPr lang="en-US" dirty="0"/>
              <a:t>Why should we care about these diseases? Let's look at the numbers from the World Health Organization. In 2019, about two hundred and sixty-two million people had asthma. In the same year, asthma caused four hundred and fifty-five thousand deaths. Asthma is also the most common chronic disease in children. COPD is even more deadly. In 2023, it caused three point four million deaths. That makes COPD the third leading cause of death in the world. And most of these deaths happen in low- and middle-income countries.</a:t>
            </a:r>
          </a:p>
          <a:p>
            <a:endParaRPr lang="en-US" dirty="0"/>
          </a:p>
          <a:p>
            <a:r>
              <a:rPr lang="en-US" dirty="0"/>
              <a:t>Stress: 262 million (two hundred and sixty-two million); 455,000 (four hundred and fifty-five thousand); 3.4 million (three point four million); leading cause (LEE-ding kawz)</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2 – 45 seconds</a:t>
            </a:r>
          </a:p>
          <a:p>
            <a:endParaRPr lang="en-US" dirty="0"/>
          </a:p>
          <a:p>
            <a:r>
              <a:rPr lang="en-US" dirty="0"/>
              <a:t>Before we move on, here is something useful for us as future doctors. Patients and doctors often use different words for the same thing. When a patient says, "I can't catch my breath", the doctor writes "dyspnea". "I'm coughing up phlegm" becomes "productive cough with sputum". "A whistling in my chest" is a wheeze. "It suddenly got worse" is an exacerbation. And a "puffer" is an inhaler. Now, Presenter 3 will explain how doctors diagnose and treat these diseases.</a:t>
            </a:r>
          </a:p>
          <a:p>
            <a:endParaRPr lang="en-US" dirty="0"/>
          </a:p>
          <a:p>
            <a:r>
              <a:rPr lang="en-US" dirty="0"/>
              <a:t>Stress: productive cough (pruh-DUK-tiv KOF); puffer (PUF-er); inhaler (in-HAY-ler)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3 – 40 seconds</a:t>
            </a:r>
          </a:p>
          <a:p>
            <a:endParaRPr lang="en-US" dirty="0"/>
          </a:p>
          <a:p>
            <a:r>
              <a:rPr lang="en-US" dirty="0"/>
              <a:t>Thank you, Presenter 2. So, how do doctors find out if a patient has asthma or COPD? There are three steps. Step one: ask. The doctor takes a history. A history is the patient's story: their symptoms, smoking, allergies, and family illnesses. Step two: listen. The doctor listens to the chest with a stethoscope and may hear a wheeze. Step three: test. The key test is spirometry. Let's see how it works.</a:t>
            </a:r>
          </a:p>
          <a:p>
            <a:endParaRPr lang="en-US" dirty="0"/>
          </a:p>
          <a:p>
            <a:r>
              <a:rPr lang="en-US" dirty="0"/>
              <a:t>Stress: history (HIS-tuh-ree); stethoscope (STETH-uh-skohp); spirometry (spy-ROM-uh-tree)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3 – 70 seconds</a:t>
            </a:r>
          </a:p>
          <a:p>
            <a:endParaRPr lang="en-US" dirty="0"/>
          </a:p>
          <a:p>
            <a:r>
              <a:rPr lang="en-US" dirty="0"/>
              <a:t>Spirometry measures how much air you can blow out, and how fast. The patient takes the deepest breath possible. Then they blow into a machine as hard and as fast as they can. Look at the graph. The blue line is a healthy person. In the first second, they blow out four litres. We call this FEV1. In total, they blow out five litres. This is FVC. Four divided by five is zero point eight. That's normal. The orange line is a patient with obstruction. The air comes out slowly. FEV1 divided by FVC is only zero point five. Below zero point seven means obstruction. Then the patient uses a reliever inhaler and repeats the test. In asthma, the result gets much better. In COPD, it improves only a little.</a:t>
            </a:r>
          </a:p>
          <a:p>
            <a:endParaRPr lang="en-US" dirty="0"/>
          </a:p>
          <a:p>
            <a:r>
              <a:rPr lang="en-US" dirty="0"/>
              <a:t>Stress: FEV1 (eff-ee-vee-WUN); FVC (eff-vee-SEE); litres (LEE-terz); obstruction (ub-STRUK-shun); reliever (rih-LEE-ver)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3 – 60 seconds</a:t>
            </a:r>
          </a:p>
          <a:p>
            <a:endParaRPr lang="en-US" dirty="0"/>
          </a:p>
          <a:p>
            <a:r>
              <a:rPr lang="en-US" dirty="0"/>
              <a:t>Now, treatment. Most asthma medicines are inhalers. An inhaler is a small device that sends the medicine straight into the lungs. There are two main kinds. The first is the reliever. It works in minutes and relaxes the airway muscle. So we call it a bronchodilator, which means "airway opener". A common example is salbutamol. The second is the controller, or preventer. It contains a steroid, a medicine that calms the inflammation. It works slowly, so patients use it every day, even when they feel well. An example is budesonide. Remember: a reliever alone is not enough. The inflammation needs treatment too.</a:t>
            </a:r>
          </a:p>
          <a:p>
            <a:endParaRPr lang="en-US" dirty="0"/>
          </a:p>
          <a:p>
            <a:r>
              <a:rPr lang="en-US" dirty="0"/>
              <a:t>Stress: bronchodilator (BRONG-koh-dy-LAY-ter); salbutamol (sal-BYOO-tuh-mol); steroid (STEER-oyd); budesonide (byoo-DES-uh-nyde); preventer (prih-VEN-ter)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3 – 45 seconds</a:t>
            </a:r>
          </a:p>
          <a:p>
            <a:endParaRPr lang="en-US" dirty="0"/>
          </a:p>
          <a:p>
            <a:r>
              <a:rPr lang="en-US" dirty="0"/>
              <a:t>An inhaler only works if you use it correctly. So here are the steps, the way we explain them to a patient. One: shake the inhaler. Two: breathe out gently, away from it. Three: close your lips around it. Four: press once, and at the same time, breathe in slowly and deeply. Five: hold your breath for about ten seconds. Six: after a steroid inhaler, rinse your mouth. Did you notice the grammar? To give instructions, we use the imperative: shake, breathe, press, hold.</a:t>
            </a:r>
          </a:p>
          <a:p>
            <a:endParaRPr lang="en-US" dirty="0"/>
          </a:p>
          <a:p>
            <a:r>
              <a:rPr lang="en-US" dirty="0"/>
              <a:t>Stress: imperative (im-PAIR-uh-tiv); gently (JENT-lee); rinse (RINS)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3 – 55 seconds</a:t>
            </a:r>
          </a:p>
          <a:p>
            <a:endParaRPr lang="en-US" dirty="0"/>
          </a:p>
          <a:p>
            <a:r>
              <a:rPr lang="en-US" dirty="0"/>
              <a:t>Now let's look at COPD treatment. Number one, and the most important: stop smoking. It is never too late, and quitting slows down the damage. Number two: inhalers that open the airways, the bronchodilators. Number three: pulmonary rehabilitation. This is a programme of exercise and breathing training. It helps patients feel less breathless and do more every day. Number four: vaccines against flu, pneumonia and COVID-19. They help to prevent flare-ups. And number five: oxygen therapy, for patients with severe COPD. COPD cannot be cured, but treatment helps people breathe better and live better.</a:t>
            </a:r>
          </a:p>
          <a:p>
            <a:endParaRPr lang="en-US" dirty="0"/>
          </a:p>
          <a:p>
            <a:r>
              <a:rPr lang="en-US" dirty="0"/>
              <a:t>Stress: rehabilitation (REE-huh-bil-ih-TAY-shun); vaccines (vak-SEENZ); pneumonia (noo-MOH-nee-uh); therapy (THAIR-uh-pee)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3 – 55 seconds</a:t>
            </a:r>
          </a:p>
          <a:p>
            <a:endParaRPr lang="en-US" dirty="0"/>
          </a:p>
          <a:p>
            <a:r>
              <a:rPr lang="en-US" dirty="0"/>
              <a:t>Now we can answer our question from the beginning. Why do Neda and Mr. Rahimi have different diseases? Let's compare. Asthma often starts in childhood or youth. COPD usually starts after forty. Asthma comes from sensitive airways and triggers. COPD comes mainly from smoking and other smoke. In asthma, symptoms come and go. In COPD, they slowly get worse. After a reliever inhaler, the spirometry result improves a lot in asthma, but only a little in COPD. And the main treatments are different too. So, Neda has asthma, and Mr. Rahimi has COPD.</a:t>
            </a:r>
          </a:p>
          <a:p>
            <a:endParaRPr lang="en-US" dirty="0"/>
          </a:p>
          <a:p>
            <a:r>
              <a:rPr lang="en-US" dirty="0"/>
              <a:t>Stress: compare (kum-PAIR); youth (YOOTH); reversible (rih-VER-suh-bul)</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3 – 55 seconds</a:t>
            </a:r>
          </a:p>
          <a:p>
            <a:endParaRPr lang="en-US" dirty="0"/>
          </a:p>
          <a:p>
            <a:r>
              <a:rPr lang="en-US" dirty="0"/>
              <a:t>Now it's your turn! I will read four short cases. Please call out the answer: asthma or COPD? Number one. A nine-year-old boy wheezes every time he plays with a cat. [Pause, then click.] Yes, asthma! Number two. A seventy-year-old woman cooked over a wood fire for fifty years. Now she is breathless every day. [Pause, then click.] Correct, COPD, from household smoke. Number three. After a reliever inhaler, his breathing test is almost normal. [Click.] Asthma. Number four. The walls of her alveoli are broken, and air is trapped. [Click.] COPD. Well done, everyone!</a:t>
            </a:r>
          </a:p>
          <a:p>
            <a:endParaRPr lang="en-US" dirty="0"/>
          </a:p>
          <a:p>
            <a:r>
              <a:rPr lang="en-US" dirty="0"/>
              <a:t>Stress: call out (KAWL OWT); household (HOWS-hohld)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3 – 25 seconds</a:t>
            </a:r>
          </a:p>
          <a:p>
            <a:endParaRPr lang="en-US" dirty="0"/>
          </a:p>
          <a:p>
            <a:r>
              <a:rPr lang="en-US" dirty="0"/>
              <a:t>To finish, here are our take-home messages. Both diseases block the air from getting out. Asthma comes and goes, and it is reversible. COPD comes mostly from smoke, and it slowly gets worse. Spirometry tells them apart. And the best prevention is simple: don't smoke.</a:t>
            </a:r>
          </a:p>
          <a:p>
            <a:endParaRPr lang="en-US" dirty="0"/>
          </a:p>
          <a:p>
            <a:r>
              <a:rPr lang="en-US" dirty="0"/>
              <a:t>Stress: take-home message; prevention (prih-VEN-shun)</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3 – 15 seconds</a:t>
            </a:r>
          </a:p>
          <a:p>
            <a:endParaRPr lang="en-US" dirty="0"/>
          </a:p>
          <a:p>
            <a:r>
              <a:rPr lang="en-US" dirty="0"/>
              <a:t>That's the end of our presentation. Thank you very much for listening, and thank you to our teacher. Now we are happy to answer your questions.</a:t>
            </a:r>
          </a:p>
          <a:p>
            <a:endParaRPr lang="en-US" dirty="0"/>
          </a:p>
          <a:p>
            <a:r>
              <a:rPr lang="en-US" dirty="0"/>
              <a:t>Stress: questions (KWES-chunz)</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p:nvPr>
        </p:nvSpPr>
        <p:spPr>
          <a:xfrm>
            <a:off x="1524305" y="1121969"/>
            <a:ext cx="9144000" cy="2386584"/>
          </a:xfrm>
          <a:prstGeom prst="rect">
            <a:avLst/>
          </a:prstGeom>
          <a:noFill/>
          <a:ln/>
        </p:spPr>
        <p:txBody>
          <a:bodyPr wrap="square" rtlCol="0"/>
          <a:lstStyle>
            <a:lvl1pPr algn="ctr" indent="0" marL="0">
              <a:buNone/>
              <a:defRPr lang="en-US" sz="6000" dirty="0"/>
            </a:lvl1pPr>
          </a:lstStyle>
          <a:p>
            <a:pPr algn="ctr" indent="0" marL="0">
              <a:buNone/>
            </a:pPr>
            <a:endParaRPr lang="en-US" sz="6000" dirty="0"/>
          </a:p>
        </p:txBody>
      </p:sp>
      <p:sp>
        <p:nvSpPr>
          <p:cNvPr id="3" name="Text 0"/>
          <p:cNvSpPr/>
          <p:nvPr>
            <p:ph idx="101" type="body"/>
          </p:nvPr>
        </p:nvSpPr>
        <p:spPr>
          <a:xfrm>
            <a:off x="1524305" y="3600907"/>
            <a:ext cx="9144000" cy="1655064"/>
          </a:xfrm>
          <a:prstGeom prst="rect">
            <a:avLst/>
          </a:prstGeom>
          <a:noFill/>
          <a:ln/>
        </p:spPr>
        <p:txBody>
          <a:bodyPr wrap="square" rtlCol="0"/>
          <a:lstStyle>
            <a:lvl1pPr algn="ctr" indent="0" marL="0">
              <a:buNone/>
              <a:defRPr lang="en-US" sz="2400" dirty="0"/>
            </a:lvl1pPr>
          </a:lstStyle>
          <a:p>
            <a:pPr algn="ct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p:nvPr>
        </p:nvSpPr>
        <p:spPr>
          <a:xfrm>
            <a:off x="838505" y="365760"/>
            <a:ext cx="10515600" cy="1325880"/>
          </a:xfrm>
          <a:prstGeom prst="rect">
            <a:avLst/>
          </a:prstGeom>
          <a:noFill/>
          <a:ln/>
        </p:spPr>
        <p:txBody>
          <a:bodyPr wrap="square" rtlCol="0"/>
          <a:lstStyle>
            <a:lvl1pPr algn="l" indent="0" marL="0">
              <a:buNone/>
              <a:defRPr lang="en-US" sz="4400" dirty="0"/>
            </a:lvl1pPr>
          </a:lstStyle>
          <a:p>
            <a:pPr algn="l" indent="0" marL="0">
              <a:buNone/>
            </a:pPr>
            <a:endParaRPr lang="en-US" sz="4400" dirty="0"/>
          </a:p>
        </p:txBody>
      </p:sp>
      <p:sp>
        <p:nvSpPr>
          <p:cNvPr id="3" name="Text 0"/>
          <p:cNvSpPr/>
          <p:nvPr>
            <p:ph idx="101" type="body"/>
          </p:nvPr>
        </p:nvSpPr>
        <p:spPr>
          <a:xfrm>
            <a:off x="838505" y="1826057"/>
            <a:ext cx="10515600" cy="4351630"/>
          </a:xfrm>
          <a:prstGeom prst="rect">
            <a:avLst/>
          </a:prstGeom>
          <a:noFill/>
          <a:ln/>
        </p:spPr>
        <p:txBody>
          <a:bodyPr wrap="square" rtlCol="0"/>
          <a:lstStyle>
            <a:lvl1pPr>
              <a:defRPr lang="en-US" sz="2800" dirty="0"/>
            </a:lvl1pPr>
          </a:lstStyle>
          <a:p>
            <a:endParaRPr lang="en-US" sz="2800" dirty="0"/>
          </a:p>
        </p:txBody>
      </p:sp>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wo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p:nvPr>
        </p:nvSpPr>
        <p:spPr>
          <a:xfrm>
            <a:off x="838505" y="365760"/>
            <a:ext cx="10515600" cy="1325880"/>
          </a:xfrm>
          <a:prstGeom prst="rect">
            <a:avLst/>
          </a:prstGeom>
          <a:noFill/>
          <a:ln/>
        </p:spPr>
        <p:txBody>
          <a:bodyPr wrap="square" rtlCol="0"/>
          <a:lstStyle>
            <a:lvl1pPr algn="l" indent="0" marL="0">
              <a:buNone/>
              <a:defRPr lang="en-US" sz="4400" dirty="0"/>
            </a:lvl1pPr>
          </a:lstStyle>
          <a:p>
            <a:pPr algn="l" indent="0" marL="0">
              <a:buNone/>
            </a:pPr>
            <a:endParaRPr lang="en-US" sz="4400" dirty="0"/>
          </a:p>
        </p:txBody>
      </p:sp>
      <p:sp>
        <p:nvSpPr>
          <p:cNvPr id="3" name="Text 0"/>
          <p:cNvSpPr/>
          <p:nvPr>
            <p:ph idx="101" type="body"/>
          </p:nvPr>
        </p:nvSpPr>
        <p:spPr>
          <a:xfrm>
            <a:off x="838505" y="1826057"/>
            <a:ext cx="5181905" cy="4351630"/>
          </a:xfrm>
          <a:prstGeom prst="rect">
            <a:avLst/>
          </a:prstGeom>
          <a:noFill/>
          <a:ln/>
        </p:spPr>
        <p:txBody>
          <a:bodyPr wrap="square" rtlCol="0"/>
          <a:lstStyle>
            <a:lvl1pPr>
              <a:defRPr lang="en-US" sz="2400" dirty="0"/>
            </a:lvl1pPr>
          </a:lstStyle>
          <a:p>
            <a:endParaRPr lang="en-US" sz="2400" dirty="0"/>
          </a:p>
        </p:txBody>
      </p:sp>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p:nvPr>
        </p:nvSpPr>
        <p:spPr>
          <a:xfrm>
            <a:off x="838505" y="365760"/>
            <a:ext cx="10515600" cy="1325880"/>
          </a:xfrm>
          <a:prstGeom prst="rect">
            <a:avLst/>
          </a:prstGeom>
          <a:noFill/>
          <a:ln/>
        </p:spPr>
        <p:txBody>
          <a:bodyPr wrap="square" rtlCol="0"/>
          <a:lstStyle>
            <a:lvl1pPr algn="l" indent="0" marL="0">
              <a:buNone/>
              <a:defRPr lang="en-US" sz="4400" dirty="0"/>
            </a:lvl1pPr>
          </a:lstStyle>
          <a:p>
            <a:pPr algn="l" indent="0" marL="0">
              <a:buNone/>
            </a:pPr>
            <a:endParaRPr lang="en-US" sz="4400" dirty="0"/>
          </a:p>
        </p:txBody>
      </p:sp>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5.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5.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5.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5.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5.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title"/>
          </p:nvPr>
        </p:nvSpPr>
        <p:spPr>
          <a:xfrm>
            <a:off x="1524305" y="1121969"/>
            <a:ext cx="9144000" cy="2386584"/>
          </a:xfrm>
          <a:prstGeom prst="rect">
            <a:avLst/>
          </a:prstGeom>
          <a:noFill/>
          <a:ln/>
        </p:spPr>
        <p:txBody>
          <a:bodyPr wrap="square" rtlCol="0" anchor="b"/>
          <a:lstStyle/>
          <a:p>
            <a:pPr algn="ctr" indent="0" marL="0">
              <a:buNone/>
            </a:pPr>
            <a:r>
              <a:rPr lang="en-US" sz="6000" dirty="0"/>
              <a:t>Asthma and COPD</a:t>
            </a:r>
            <a:endParaRPr lang="en-US" sz="6000" dirty="0"/>
          </a:p>
        </p:txBody>
      </p:sp>
      <p:sp>
        <p:nvSpPr>
          <p:cNvPr id="4" name="Text 0"/>
          <p:cNvSpPr/>
          <p:nvPr>
            <p:ph idx="101" type="body"/>
          </p:nvPr>
        </p:nvSpPr>
        <p:spPr>
          <a:xfrm>
            <a:off x="1524305" y="3600907"/>
            <a:ext cx="9144000" cy="1655064"/>
          </a:xfrm>
          <a:prstGeom prst="rect">
            <a:avLst/>
          </a:prstGeom>
          <a:noFill/>
          <a:ln/>
        </p:spPr>
        <p:txBody>
          <a:bodyPr wrap="square" rtlCol="0" anchor="t"/>
          <a:lstStyle/>
          <a:p>
            <a:pPr algn="ctr" indent="0" marL="0">
              <a:buNone/>
            </a:pPr>
            <a:r>
              <a:rPr lang="en-US" sz="2800" dirty="0">
                <a:solidFill>
                  <a:srgbClr val="000000"/>
                </a:solidFill>
              </a:rPr>
              <a:t>When the air can’t get out</a:t>
            </a:r>
            <a:endParaRPr lang="en-US" sz="2400" dirty="0"/>
          </a:p>
          <a:p>
            <a:pPr algn="ctr" indent="0" marL="0">
              <a:buNone/>
            </a:pPr>
            <a:r>
              <a:rPr lang="en-US" sz="1200" dirty="0">
                <a:solidFill>
                  <a:srgbClr val="000000"/>
                </a:solidFill>
              </a:rPr>
              <a:t> </a:t>
            </a:r>
            <a:endParaRPr lang="en-US" sz="2400" dirty="0"/>
          </a:p>
          <a:p>
            <a:pPr algn="ctr" indent="0" marL="0">
              <a:buNone/>
            </a:pPr>
            <a:r>
              <a:rPr lang="en-US" sz="2000" dirty="0">
                <a:solidFill>
                  <a:srgbClr val="000000"/>
                </a:solidFill>
              </a:rPr>
              <a:t>Presenter 1, Presenter 2 and Presenter 3</a:t>
            </a:r>
            <a:endParaRPr lang="en-US" sz="2400" dirty="0"/>
          </a:p>
          <a:p>
            <a:pPr algn="ctr" indent="0" marL="0">
              <a:buNone/>
            </a:pPr>
            <a:r>
              <a:rPr lang="en-US" sz="2000" dirty="0">
                <a:solidFill>
                  <a:srgbClr val="000000"/>
                </a:solidFill>
              </a:rPr>
              <a:t>English for Medicine II</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title"/>
          </p:nvPr>
        </p:nvSpPr>
        <p:spPr>
          <a:xfrm>
            <a:off x="838505" y="365760"/>
            <a:ext cx="10515600" cy="1325880"/>
          </a:xfrm>
          <a:prstGeom prst="rect">
            <a:avLst/>
          </a:prstGeom>
          <a:noFill/>
          <a:ln/>
        </p:spPr>
        <p:txBody>
          <a:bodyPr wrap="square" rtlCol="0" anchor="ctr"/>
          <a:lstStyle/>
          <a:p>
            <a:pPr algn="l" indent="0" marL="0">
              <a:buNone/>
            </a:pPr>
            <a:r>
              <a:rPr lang="en-US" sz="4400" dirty="0"/>
              <a:t>Two Patients, One Problem</a:t>
            </a:r>
            <a:endParaRPr lang="en-US" sz="4400" dirty="0"/>
          </a:p>
        </p:txBody>
      </p:sp>
      <p:pic>
        <p:nvPicPr>
          <p:cNvPr id="4" name="Picture placeholder 1" descr="PICTURE NEEDED: Young woman (about 19) using a blue asthma inhaler, ideally in sports clothes or at a volleyball court. Search: young woman asthma inhaler sport">    </p:cNvPr>
          <p:cNvPicPr>
            <a:picLocks noChangeAspect="1"/>
          </p:cNvPicPr>
          <p:nvPr/>
        </p:nvPicPr>
        <p:blipFill>
          <a:blip r:embed="rId1"/>
          <a:stretch>
            <a:fillRect/>
          </a:stretch>
        </p:blipFill>
        <p:spPr>
          <a:xfrm>
            <a:off x="1341425" y="1783080"/>
            <a:ext cx="4023360" cy="2651760"/>
          </a:xfrm>
          <a:prstGeom prst="rect">
            <a:avLst/>
          </a:prstGeom>
        </p:spPr>
      </p:pic>
      <p:pic>
        <p:nvPicPr>
          <p:cNvPr id="5" name="Picture placeholder 2" descr="PICTURE NEEDED: Older man (60s) out of breath on the stairs, holding the rail or his chest. Search: older man short of breath stairs">    </p:cNvPr>
          <p:cNvPicPr>
            <a:picLocks noChangeAspect="1"/>
          </p:cNvPicPr>
          <p:nvPr/>
        </p:nvPicPr>
        <p:blipFill>
          <a:blip r:embed="rId2"/>
          <a:stretch>
            <a:fillRect/>
          </a:stretch>
        </p:blipFill>
        <p:spPr>
          <a:xfrm>
            <a:off x="6827825" y="1783080"/>
            <a:ext cx="4023360" cy="2651760"/>
          </a:xfrm>
          <a:prstGeom prst="rect">
            <a:avLst/>
          </a:prstGeom>
        </p:spPr>
      </p:pic>
      <p:sp>
        <p:nvSpPr>
          <p:cNvPr id="6" name="Text 1"/>
          <p:cNvSpPr txBox="1"/>
          <p:nvPr/>
        </p:nvSpPr>
        <p:spPr>
          <a:xfrm>
            <a:off x="1341425" y="4526280"/>
            <a:ext cx="4023360" cy="1005840"/>
          </a:xfrm>
          <a:prstGeom prst="rect">
            <a:avLst/>
          </a:prstGeom>
          <a:noFill/>
          <a:ln/>
        </p:spPr>
        <p:txBody>
          <a:bodyPr wrap="square" rtlCol="0" anchor="t"/>
          <a:lstStyle/>
          <a:p>
            <a:pPr algn="ctr" indent="0" marL="0">
              <a:buNone/>
            </a:pPr>
            <a:r>
              <a:rPr lang="en-US" sz="2400" b="1" dirty="0">
                <a:solidFill>
                  <a:srgbClr val="000000"/>
                </a:solidFill>
              </a:rPr>
              <a:t>Neda, 19</a:t>
            </a:r>
            <a:endParaRPr lang="en-US" sz="2000" dirty="0"/>
          </a:p>
          <a:p>
            <a:pPr algn="ctr" indent="0" marL="0">
              <a:buNone/>
            </a:pPr>
            <a:r>
              <a:rPr lang="en-US" sz="1800" dirty="0">
                <a:solidFill>
                  <a:srgbClr val="000000"/>
                </a:solidFill>
              </a:rPr>
              <a:t>University student</a:t>
            </a:r>
            <a:endParaRPr lang="en-US" sz="2000" dirty="0"/>
          </a:p>
          <a:p>
            <a:pPr algn="ctr" indent="0" marL="0">
              <a:buNone/>
            </a:pPr>
            <a:r>
              <a:rPr lang="en-US" sz="1800" dirty="0">
                <a:solidFill>
                  <a:srgbClr val="000000"/>
                </a:solidFill>
              </a:rPr>
              <a:t>Wheezes after volleyball</a:t>
            </a:r>
            <a:endParaRPr lang="en-US" sz="2000" dirty="0"/>
          </a:p>
        </p:txBody>
      </p:sp>
      <p:sp>
        <p:nvSpPr>
          <p:cNvPr id="7" name="Text 2"/>
          <p:cNvSpPr txBox="1"/>
          <p:nvPr/>
        </p:nvSpPr>
        <p:spPr>
          <a:xfrm>
            <a:off x="6827825" y="4526280"/>
            <a:ext cx="4023360" cy="1005840"/>
          </a:xfrm>
          <a:prstGeom prst="rect">
            <a:avLst/>
          </a:prstGeom>
          <a:noFill/>
          <a:ln/>
        </p:spPr>
        <p:txBody>
          <a:bodyPr wrap="square" rtlCol="0" anchor="t"/>
          <a:lstStyle/>
          <a:p>
            <a:pPr algn="ctr" indent="0" marL="0">
              <a:buNone/>
            </a:pPr>
            <a:r>
              <a:rPr lang="en-US" sz="2400" b="1" dirty="0">
                <a:solidFill>
                  <a:srgbClr val="000000"/>
                </a:solidFill>
              </a:rPr>
              <a:t>Mr. Rahimi, 66</a:t>
            </a:r>
            <a:endParaRPr lang="en-US" sz="2000" dirty="0"/>
          </a:p>
          <a:p>
            <a:pPr algn="ctr" indent="0" marL="0">
              <a:buNone/>
            </a:pPr>
            <a:r>
              <a:rPr lang="en-US" sz="1800" dirty="0">
                <a:solidFill>
                  <a:srgbClr val="000000"/>
                </a:solidFill>
              </a:rPr>
              <a:t>Retired taxi driver</a:t>
            </a:r>
            <a:endParaRPr lang="en-US" sz="2000" dirty="0"/>
          </a:p>
          <a:p>
            <a:pPr algn="ctr" indent="0" marL="0">
              <a:buNone/>
            </a:pPr>
            <a:r>
              <a:rPr lang="en-US" sz="1800" dirty="0">
                <a:solidFill>
                  <a:srgbClr val="000000"/>
                </a:solidFill>
              </a:rPr>
              <a:t>Breathless on the stairs</a:t>
            </a:r>
            <a:endParaRPr lang="en-US" sz="2000" dirty="0"/>
          </a:p>
        </p:txBody>
      </p:sp>
      <p:sp>
        <p:nvSpPr>
          <p:cNvPr id="8" name="Text 3"/>
          <p:cNvSpPr txBox="1"/>
          <p:nvPr/>
        </p:nvSpPr>
        <p:spPr>
          <a:xfrm>
            <a:off x="838505" y="5623560"/>
            <a:ext cx="10515600" cy="502920"/>
          </a:xfrm>
          <a:prstGeom prst="rect">
            <a:avLst/>
          </a:prstGeom>
          <a:noFill/>
          <a:ln/>
        </p:spPr>
        <p:txBody>
          <a:bodyPr wrap="square" rtlCol="0" anchor="t"/>
          <a:lstStyle/>
          <a:p>
            <a:pPr algn="ctr" indent="0" marL="0">
              <a:buNone/>
            </a:pPr>
            <a:r>
              <a:rPr lang="en-US" sz="2200" dirty="0">
                <a:solidFill>
                  <a:srgbClr val="000000"/>
                </a:solidFill>
              </a:rPr>
              <a:t>Both are short of breath. Both wheeze. But they have </a:t>
            </a:r>
            <a:r>
              <a:rPr lang="en-US" sz="2200" b="1" dirty="0">
                <a:solidFill>
                  <a:srgbClr val="000000"/>
                </a:solidFill>
              </a:rPr>
              <a:t>different diseases</a:t>
            </a:r>
            <a:r>
              <a:rPr lang="en-US" sz="2200" dirty="0">
                <a:solidFill>
                  <a:srgbClr val="000000"/>
                </a:solidFill>
              </a:rPr>
              <a:t>. Why?</a:t>
            </a:r>
            <a:endParaRPr lang="en-US" sz="2200" dirty="0"/>
          </a:p>
        </p:txBody>
      </p:sp>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ph idx="100" type="title"/>
          </p:nvPr>
        </p:nvSpPr>
        <p:spPr>
          <a:xfrm>
            <a:off x="838505" y="365760"/>
            <a:ext cx="10515600" cy="1325880"/>
          </a:xfrm>
          <a:prstGeom prst="rect">
            <a:avLst/>
          </a:prstGeom>
          <a:noFill/>
          <a:ln/>
        </p:spPr>
        <p:txBody>
          <a:bodyPr wrap="square" rtlCol="0" anchor="ctr"/>
          <a:lstStyle/>
          <a:p>
            <a:pPr algn="l" indent="0" marL="0">
              <a:buNone/>
            </a:pPr>
            <a:r>
              <a:rPr lang="en-US" sz="4400" dirty="0"/>
              <a:t>Our Plan for Today</a:t>
            </a:r>
            <a:endParaRPr lang="en-US" sz="4400" dirty="0"/>
          </a:p>
        </p:txBody>
      </p:sp>
      <p:sp>
        <p:nvSpPr>
          <p:cNvPr id="4" name="Step 1"/>
          <p:cNvSpPr/>
          <p:nvPr/>
        </p:nvSpPr>
        <p:spPr>
          <a:xfrm>
            <a:off x="838505" y="1920240"/>
            <a:ext cx="3566160" cy="1188720"/>
          </a:xfrm>
          <a:prstGeom prst="homePlate">
            <a:avLst/>
          </a:prstGeom>
          <a:solidFill>
            <a:srgbClr val="4472C4"/>
          </a:solidFill>
          <a:ln w="12700">
            <a:solidFill>
              <a:srgbClr val="2F528F"/>
            </a:solidFill>
          </a:ln>
        </p:spPr>
        <p:txBody>
          <a:bodyPr wrap="square" lIns="38100" tIns="381000" rIns="76200" bIns="38100" rtlCol="0" anchor="ctr"/>
          <a:lstStyle/>
          <a:p>
            <a:pPr algn="ctr" indent="0" marL="0">
              <a:buNone/>
            </a:pPr>
            <a:r>
              <a:rPr lang="en-US" sz="2000" b="1" dirty="0">
                <a:solidFill>
                  <a:srgbClr val="FFFFFF"/>
                </a:solidFill>
              </a:rPr>
              <a:t>Presenter 1</a:t>
            </a:r>
            <a:endParaRPr lang="en-US" sz="1800" dirty="0"/>
          </a:p>
          <a:p>
            <a:pPr algn="ctr" indent="0" marL="0">
              <a:buNone/>
            </a:pPr>
            <a:r>
              <a:rPr lang="en-US" sz="1800" dirty="0">
                <a:solidFill>
                  <a:srgbClr val="FFFFFF"/>
                </a:solidFill>
              </a:rPr>
              <a:t>The airways and asthma</a:t>
            </a:r>
            <a:endParaRPr lang="en-US" sz="1800" dirty="0"/>
          </a:p>
        </p:txBody>
      </p:sp>
      <p:sp>
        <p:nvSpPr>
          <p:cNvPr id="5" name="Text 2"/>
          <p:cNvSpPr txBox="1"/>
          <p:nvPr/>
        </p:nvSpPr>
        <p:spPr>
          <a:xfrm>
            <a:off x="1067105" y="3337560"/>
            <a:ext cx="3108960" cy="1554480"/>
          </a:xfrm>
          <a:prstGeom prst="rect">
            <a:avLst/>
          </a:prstGeom>
          <a:noFill/>
          <a:ln/>
        </p:spPr>
        <p:txBody>
          <a:bodyPr wrap="square" rtlCol="0" anchor="t"/>
          <a:lstStyle/>
          <a:p>
            <a:pPr marL="342900" indent="-342900">
              <a:spcAft>
                <a:spcPts val="600"/>
              </a:spcAft>
              <a:buSzPct val="100000"/>
              <a:buChar char="•"/>
            </a:pPr>
            <a:r>
              <a:rPr lang="en-US" sz="2000" dirty="0">
                <a:solidFill>
                  <a:srgbClr val="000000"/>
                </a:solidFill>
              </a:rPr>
              <a:t>How we breathe</a:t>
            </a:r>
            <a:endParaRPr lang="en-US" sz="2000" dirty="0"/>
          </a:p>
          <a:p>
            <a:pPr marL="342900" indent="-342900">
              <a:spcAft>
                <a:spcPts val="600"/>
              </a:spcAft>
              <a:buSzPct val="100000"/>
              <a:buChar char="•"/>
            </a:pPr>
            <a:r>
              <a:rPr lang="en-US" sz="2000" dirty="0">
                <a:solidFill>
                  <a:srgbClr val="000000"/>
                </a:solidFill>
              </a:rPr>
              <a:t>What “obstructive” means</a:t>
            </a:r>
            <a:endParaRPr lang="en-US" sz="2000" dirty="0"/>
          </a:p>
          <a:p>
            <a:pPr marL="342900" indent="-342900">
              <a:spcAft>
                <a:spcPts val="600"/>
              </a:spcAft>
              <a:buSzPct val="100000"/>
              <a:buChar char="•"/>
            </a:pPr>
            <a:r>
              <a:rPr lang="en-US" sz="2000" dirty="0">
                <a:solidFill>
                  <a:srgbClr val="000000"/>
                </a:solidFill>
              </a:rPr>
              <a:t>Asthma</a:t>
            </a:r>
            <a:endParaRPr lang="en-US" sz="2000" dirty="0"/>
          </a:p>
        </p:txBody>
      </p:sp>
      <p:sp>
        <p:nvSpPr>
          <p:cNvPr id="6" name="Step 2"/>
          <p:cNvSpPr/>
          <p:nvPr/>
        </p:nvSpPr>
        <p:spPr>
          <a:xfrm>
            <a:off x="4313225" y="1920240"/>
            <a:ext cx="3566160" cy="1188720"/>
          </a:xfrm>
          <a:prstGeom prst="chevron">
            <a:avLst/>
          </a:prstGeom>
          <a:solidFill>
            <a:srgbClr val="4472C4"/>
          </a:solidFill>
          <a:ln w="12700">
            <a:solidFill>
              <a:srgbClr val="2F528F"/>
            </a:solidFill>
          </a:ln>
        </p:spPr>
        <p:txBody>
          <a:bodyPr wrap="square" lIns="38100" tIns="381000" rIns="381000" bIns="38100" rtlCol="0" anchor="ctr"/>
          <a:lstStyle/>
          <a:p>
            <a:pPr algn="ctr" indent="0" marL="0">
              <a:buNone/>
            </a:pPr>
            <a:r>
              <a:rPr lang="en-US" sz="2000" b="1" dirty="0">
                <a:solidFill>
                  <a:srgbClr val="FFFFFF"/>
                </a:solidFill>
              </a:rPr>
              <a:t>Presenter 2</a:t>
            </a:r>
            <a:endParaRPr lang="en-US" sz="1800" dirty="0"/>
          </a:p>
          <a:p>
            <a:pPr algn="ctr" indent="0" marL="0">
              <a:buNone/>
            </a:pPr>
            <a:r>
              <a:rPr lang="en-US" sz="1800" dirty="0">
                <a:solidFill>
                  <a:srgbClr val="FFFFFF"/>
                </a:solidFill>
              </a:rPr>
              <a:t>COPD</a:t>
            </a:r>
            <a:endParaRPr lang="en-US" sz="1800" dirty="0"/>
          </a:p>
        </p:txBody>
      </p:sp>
      <p:sp>
        <p:nvSpPr>
          <p:cNvPr id="7" name="Text 4"/>
          <p:cNvSpPr txBox="1"/>
          <p:nvPr/>
        </p:nvSpPr>
        <p:spPr>
          <a:xfrm>
            <a:off x="4541825" y="3337560"/>
            <a:ext cx="3108960" cy="1554480"/>
          </a:xfrm>
          <a:prstGeom prst="rect">
            <a:avLst/>
          </a:prstGeom>
          <a:noFill/>
          <a:ln/>
        </p:spPr>
        <p:txBody>
          <a:bodyPr wrap="square" rtlCol="0" anchor="t"/>
          <a:lstStyle/>
          <a:p>
            <a:pPr marL="342900" indent="-342900">
              <a:spcAft>
                <a:spcPts val="600"/>
              </a:spcAft>
              <a:buSzPct val="100000"/>
              <a:buChar char="•"/>
            </a:pPr>
            <a:r>
              <a:rPr lang="en-US" sz="2000" dirty="0">
                <a:solidFill>
                  <a:srgbClr val="000000"/>
                </a:solidFill>
              </a:rPr>
              <a:t>What COPD is</a:t>
            </a:r>
            <a:endParaRPr lang="en-US" sz="2000" dirty="0"/>
          </a:p>
          <a:p>
            <a:pPr marL="342900" indent="-342900">
              <a:spcAft>
                <a:spcPts val="600"/>
              </a:spcAft>
              <a:buSzPct val="100000"/>
              <a:buChar char="•"/>
            </a:pPr>
            <a:r>
              <a:rPr lang="en-US" sz="2000" dirty="0">
                <a:solidFill>
                  <a:srgbClr val="000000"/>
                </a:solidFill>
              </a:rPr>
              <a:t>Causes and symptoms</a:t>
            </a:r>
            <a:endParaRPr lang="en-US" sz="2000" dirty="0"/>
          </a:p>
          <a:p>
            <a:pPr marL="342900" indent="-342900">
              <a:spcAft>
                <a:spcPts val="600"/>
              </a:spcAft>
              <a:buSzPct val="100000"/>
              <a:buChar char="•"/>
            </a:pPr>
            <a:r>
              <a:rPr lang="en-US" sz="2000" dirty="0">
                <a:solidFill>
                  <a:srgbClr val="000000"/>
                </a:solidFill>
              </a:rPr>
              <a:t>Why it matters</a:t>
            </a:r>
            <a:endParaRPr lang="en-US" sz="2000" dirty="0"/>
          </a:p>
        </p:txBody>
      </p:sp>
      <p:sp>
        <p:nvSpPr>
          <p:cNvPr id="8" name="Step 3"/>
          <p:cNvSpPr/>
          <p:nvPr/>
        </p:nvSpPr>
        <p:spPr>
          <a:xfrm>
            <a:off x="7787945" y="1920240"/>
            <a:ext cx="3566160" cy="1188720"/>
          </a:xfrm>
          <a:prstGeom prst="chevron">
            <a:avLst/>
          </a:prstGeom>
          <a:solidFill>
            <a:srgbClr val="4472C4"/>
          </a:solidFill>
          <a:ln w="12700">
            <a:solidFill>
              <a:srgbClr val="2F528F"/>
            </a:solidFill>
          </a:ln>
        </p:spPr>
        <p:txBody>
          <a:bodyPr wrap="square" lIns="38100" tIns="381000" rIns="381000" bIns="38100" rtlCol="0" anchor="ctr"/>
          <a:lstStyle/>
          <a:p>
            <a:pPr algn="ctr" indent="0" marL="0">
              <a:buNone/>
            </a:pPr>
            <a:r>
              <a:rPr lang="en-US" sz="2000" b="1" dirty="0">
                <a:solidFill>
                  <a:srgbClr val="FFFFFF"/>
                </a:solidFill>
              </a:rPr>
              <a:t>Presenter 3</a:t>
            </a:r>
            <a:endParaRPr lang="en-US" sz="1800" dirty="0"/>
          </a:p>
          <a:p>
            <a:pPr algn="ctr" indent="0" marL="0">
              <a:buNone/>
            </a:pPr>
            <a:r>
              <a:rPr lang="en-US" sz="1800" dirty="0">
                <a:solidFill>
                  <a:srgbClr val="FFFFFF"/>
                </a:solidFill>
              </a:rPr>
              <a:t>Tests and treatment</a:t>
            </a:r>
            <a:endParaRPr lang="en-US" sz="1800" dirty="0"/>
          </a:p>
        </p:txBody>
      </p:sp>
      <p:sp>
        <p:nvSpPr>
          <p:cNvPr id="9" name="Text 6"/>
          <p:cNvSpPr txBox="1"/>
          <p:nvPr/>
        </p:nvSpPr>
        <p:spPr>
          <a:xfrm>
            <a:off x="8016545" y="3337560"/>
            <a:ext cx="3108960" cy="1554480"/>
          </a:xfrm>
          <a:prstGeom prst="rect">
            <a:avLst/>
          </a:prstGeom>
          <a:noFill/>
          <a:ln/>
        </p:spPr>
        <p:txBody>
          <a:bodyPr wrap="square" rtlCol="0" anchor="t"/>
          <a:lstStyle/>
          <a:p>
            <a:pPr marL="342900" indent="-342900">
              <a:spcAft>
                <a:spcPts val="600"/>
              </a:spcAft>
              <a:buSzPct val="100000"/>
              <a:buChar char="•"/>
            </a:pPr>
            <a:r>
              <a:rPr lang="en-US" sz="2000" dirty="0">
                <a:solidFill>
                  <a:srgbClr val="000000"/>
                </a:solidFill>
              </a:rPr>
              <a:t>Spirometry and inhalers</a:t>
            </a:r>
            <a:endParaRPr lang="en-US" sz="2000" dirty="0"/>
          </a:p>
          <a:p>
            <a:pPr marL="342900" indent="-342900">
              <a:spcAft>
                <a:spcPts val="600"/>
              </a:spcAft>
              <a:buSzPct val="100000"/>
              <a:buChar char="•"/>
            </a:pPr>
            <a:r>
              <a:rPr lang="en-US" sz="2000" dirty="0">
                <a:solidFill>
                  <a:srgbClr val="000000"/>
                </a:solidFill>
              </a:rPr>
              <a:t>Asthma vs COPD</a:t>
            </a:r>
            <a:endParaRPr lang="en-US" sz="2000" dirty="0"/>
          </a:p>
          <a:p>
            <a:pPr marL="342900" indent="-342900">
              <a:spcAft>
                <a:spcPts val="600"/>
              </a:spcAft>
              <a:buSzPct val="100000"/>
              <a:buChar char="•"/>
            </a:pPr>
            <a:r>
              <a:rPr lang="en-US" sz="2000" dirty="0">
                <a:solidFill>
                  <a:srgbClr val="000000"/>
                </a:solidFill>
              </a:rPr>
              <a:t>A short quiz!</a:t>
            </a:r>
            <a:endParaRPr lang="en-US" sz="2000" dirty="0"/>
          </a:p>
        </p:txBody>
      </p:sp>
      <p:sp>
        <p:nvSpPr>
          <p:cNvPr id="10" name="Text 7"/>
          <p:cNvSpPr txBox="1"/>
          <p:nvPr/>
        </p:nvSpPr>
        <p:spPr>
          <a:xfrm>
            <a:off x="838505" y="5303520"/>
            <a:ext cx="10515600" cy="457200"/>
          </a:xfrm>
          <a:prstGeom prst="rect">
            <a:avLst/>
          </a:prstGeom>
          <a:noFill/>
          <a:ln/>
        </p:spPr>
        <p:txBody>
          <a:bodyPr wrap="square" rtlCol="0" anchor="t"/>
          <a:lstStyle/>
          <a:p>
            <a:pPr algn="ctr" indent="0" marL="0">
              <a:buNone/>
            </a:pPr>
            <a:r>
              <a:rPr lang="en-US" sz="1800" dirty="0">
                <a:solidFill>
                  <a:srgbClr val="595959"/>
                </a:solidFill>
              </a:rPr>
              <a:t>About 7 minutes each • Questions at the end</a:t>
            </a:r>
            <a:endParaRPr lang="en-US" sz="1800" dirty="0"/>
          </a:p>
        </p:txBody>
      </p:sp>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ph idx="100" type="title"/>
          </p:nvPr>
        </p:nvSpPr>
        <p:spPr>
          <a:xfrm>
            <a:off x="838505" y="365760"/>
            <a:ext cx="10515600" cy="1325880"/>
          </a:xfrm>
          <a:prstGeom prst="rect">
            <a:avLst/>
          </a:prstGeom>
          <a:noFill/>
          <a:ln/>
        </p:spPr>
        <p:txBody>
          <a:bodyPr wrap="square" rtlCol="0" anchor="ctr"/>
          <a:lstStyle/>
          <a:p>
            <a:pPr algn="l" indent="0" marL="0">
              <a:buNone/>
            </a:pPr>
            <a:r>
              <a:rPr lang="en-US" sz="4400" dirty="0"/>
              <a:t>The Airways: An Upside-Down Tree</a:t>
            </a:r>
            <a:endParaRPr lang="en-US" sz="4400" dirty="0"/>
          </a:p>
        </p:txBody>
      </p:sp>
      <p:sp>
        <p:nvSpPr>
          <p:cNvPr id="4" name="Trachea (windpipe)"/>
          <p:cNvSpPr/>
          <p:nvPr/>
        </p:nvSpPr>
        <p:spPr>
          <a:xfrm>
            <a:off x="838505" y="1828800"/>
            <a:ext cx="2834640" cy="658368"/>
          </a:xfrm>
          <a:prstGeom prst="rect">
            <a:avLst/>
          </a:prstGeom>
          <a:solidFill>
            <a:srgbClr val="4472C4"/>
          </a:solidFill>
          <a:ln w="12700">
            <a:solidFill>
              <a:srgbClr val="2F528F"/>
            </a:solidFill>
          </a:ln>
        </p:spPr>
        <p:txBody>
          <a:bodyPr wrap="square" rtlCol="0" anchor="ctr"/>
          <a:lstStyle/>
          <a:p>
            <a:pPr algn="ctr" indent="0" marL="0">
              <a:buNone/>
            </a:pPr>
            <a:r>
              <a:rPr lang="en-US" sz="2000" b="1" dirty="0">
                <a:solidFill>
                  <a:srgbClr val="FFFFFF"/>
                </a:solidFill>
              </a:rPr>
              <a:t>Trachea (windpipe)</a:t>
            </a:r>
            <a:endParaRPr lang="en-US" sz="1800" dirty="0"/>
          </a:p>
        </p:txBody>
      </p:sp>
      <p:sp>
        <p:nvSpPr>
          <p:cNvPr id="5" name="Text 2"/>
          <p:cNvSpPr txBox="1"/>
          <p:nvPr/>
        </p:nvSpPr>
        <p:spPr>
          <a:xfrm>
            <a:off x="3840480" y="1828800"/>
            <a:ext cx="2560320" cy="658368"/>
          </a:xfrm>
          <a:prstGeom prst="rect">
            <a:avLst/>
          </a:prstGeom>
          <a:noFill/>
          <a:ln/>
        </p:spPr>
        <p:txBody>
          <a:bodyPr wrap="square" rtlCol="0" anchor="ctr"/>
          <a:lstStyle/>
          <a:p>
            <a:pPr indent="0" marL="0">
              <a:buNone/>
            </a:pPr>
            <a:r>
              <a:rPr lang="en-US" sz="2200" dirty="0">
                <a:solidFill>
                  <a:srgbClr val="000000"/>
                </a:solidFill>
              </a:rPr>
              <a:t>= the trunk</a:t>
            </a:r>
            <a:endParaRPr lang="en-US" sz="2200" dirty="0"/>
          </a:p>
        </p:txBody>
      </p:sp>
      <p:sp>
        <p:nvSpPr>
          <p:cNvPr id="6" name="Arrow 1"/>
          <p:cNvSpPr/>
          <p:nvPr/>
        </p:nvSpPr>
        <p:spPr>
          <a:xfrm>
            <a:off x="2095805" y="2514600"/>
            <a:ext cx="320040" cy="292608"/>
          </a:xfrm>
          <a:prstGeom prst="downArrow">
            <a:avLst/>
          </a:prstGeom>
          <a:solidFill>
            <a:srgbClr val="4472C4"/>
          </a:solidFill>
          <a:ln w="12700">
            <a:solidFill>
              <a:srgbClr val="2F528F"/>
            </a:solidFill>
            <a:prstDash val="solid"/>
          </a:ln>
        </p:spPr>
      </p:sp>
      <p:sp>
        <p:nvSpPr>
          <p:cNvPr id="7" name="Bronchi"/>
          <p:cNvSpPr/>
          <p:nvPr/>
        </p:nvSpPr>
        <p:spPr>
          <a:xfrm>
            <a:off x="838505" y="2834640"/>
            <a:ext cx="2834640" cy="658368"/>
          </a:xfrm>
          <a:prstGeom prst="rect">
            <a:avLst/>
          </a:prstGeom>
          <a:solidFill>
            <a:srgbClr val="4472C4"/>
          </a:solidFill>
          <a:ln w="12700">
            <a:solidFill>
              <a:srgbClr val="2F528F"/>
            </a:solidFill>
          </a:ln>
        </p:spPr>
        <p:txBody>
          <a:bodyPr wrap="square" rtlCol="0" anchor="ctr"/>
          <a:lstStyle/>
          <a:p>
            <a:pPr algn="ctr" indent="0" marL="0">
              <a:buNone/>
            </a:pPr>
            <a:r>
              <a:rPr lang="en-US" sz="2000" b="1" dirty="0">
                <a:solidFill>
                  <a:srgbClr val="FFFFFF"/>
                </a:solidFill>
              </a:rPr>
              <a:t>Bronchi</a:t>
            </a:r>
            <a:endParaRPr lang="en-US" sz="1800" dirty="0"/>
          </a:p>
        </p:txBody>
      </p:sp>
      <p:sp>
        <p:nvSpPr>
          <p:cNvPr id="8" name="Text 5"/>
          <p:cNvSpPr txBox="1"/>
          <p:nvPr/>
        </p:nvSpPr>
        <p:spPr>
          <a:xfrm>
            <a:off x="3840480" y="2834640"/>
            <a:ext cx="2560320" cy="658368"/>
          </a:xfrm>
          <a:prstGeom prst="rect">
            <a:avLst/>
          </a:prstGeom>
          <a:noFill/>
          <a:ln/>
        </p:spPr>
        <p:txBody>
          <a:bodyPr wrap="square" rtlCol="0" anchor="ctr"/>
          <a:lstStyle/>
          <a:p>
            <a:pPr indent="0" marL="0">
              <a:buNone/>
            </a:pPr>
            <a:r>
              <a:rPr lang="en-US" sz="2200" dirty="0">
                <a:solidFill>
                  <a:srgbClr val="000000"/>
                </a:solidFill>
              </a:rPr>
              <a:t>= big branches</a:t>
            </a:r>
            <a:endParaRPr lang="en-US" sz="2200" dirty="0"/>
          </a:p>
        </p:txBody>
      </p:sp>
      <p:sp>
        <p:nvSpPr>
          <p:cNvPr id="9" name="Arrow 2"/>
          <p:cNvSpPr/>
          <p:nvPr/>
        </p:nvSpPr>
        <p:spPr>
          <a:xfrm>
            <a:off x="2095805" y="3520440"/>
            <a:ext cx="320040" cy="292608"/>
          </a:xfrm>
          <a:prstGeom prst="downArrow">
            <a:avLst/>
          </a:prstGeom>
          <a:solidFill>
            <a:srgbClr val="4472C4"/>
          </a:solidFill>
          <a:ln w="12700">
            <a:solidFill>
              <a:srgbClr val="2F528F"/>
            </a:solidFill>
            <a:prstDash val="solid"/>
          </a:ln>
        </p:spPr>
      </p:sp>
      <p:sp>
        <p:nvSpPr>
          <p:cNvPr id="10" name="Bronchioles"/>
          <p:cNvSpPr/>
          <p:nvPr/>
        </p:nvSpPr>
        <p:spPr>
          <a:xfrm>
            <a:off x="838505" y="3840480"/>
            <a:ext cx="2834640" cy="658368"/>
          </a:xfrm>
          <a:prstGeom prst="rect">
            <a:avLst/>
          </a:prstGeom>
          <a:solidFill>
            <a:srgbClr val="4472C4"/>
          </a:solidFill>
          <a:ln w="12700">
            <a:solidFill>
              <a:srgbClr val="2F528F"/>
            </a:solidFill>
          </a:ln>
        </p:spPr>
        <p:txBody>
          <a:bodyPr wrap="square" rtlCol="0" anchor="ctr"/>
          <a:lstStyle/>
          <a:p>
            <a:pPr algn="ctr" indent="0" marL="0">
              <a:buNone/>
            </a:pPr>
            <a:r>
              <a:rPr lang="en-US" sz="2000" b="1" dirty="0">
                <a:solidFill>
                  <a:srgbClr val="FFFFFF"/>
                </a:solidFill>
              </a:rPr>
              <a:t>Bronchioles</a:t>
            </a:r>
            <a:endParaRPr lang="en-US" sz="1800" dirty="0"/>
          </a:p>
        </p:txBody>
      </p:sp>
      <p:sp>
        <p:nvSpPr>
          <p:cNvPr id="11" name="Text 8"/>
          <p:cNvSpPr txBox="1"/>
          <p:nvPr/>
        </p:nvSpPr>
        <p:spPr>
          <a:xfrm>
            <a:off x="3840480" y="3840480"/>
            <a:ext cx="2560320" cy="658368"/>
          </a:xfrm>
          <a:prstGeom prst="rect">
            <a:avLst/>
          </a:prstGeom>
          <a:noFill/>
          <a:ln/>
        </p:spPr>
        <p:txBody>
          <a:bodyPr wrap="square" rtlCol="0" anchor="ctr"/>
          <a:lstStyle/>
          <a:p>
            <a:pPr indent="0" marL="0">
              <a:buNone/>
            </a:pPr>
            <a:r>
              <a:rPr lang="en-US" sz="2200" dirty="0">
                <a:solidFill>
                  <a:srgbClr val="000000"/>
                </a:solidFill>
              </a:rPr>
              <a:t>= small branches</a:t>
            </a:r>
            <a:endParaRPr lang="en-US" sz="2200" dirty="0"/>
          </a:p>
        </p:txBody>
      </p:sp>
      <p:sp>
        <p:nvSpPr>
          <p:cNvPr id="12" name="Arrow 3"/>
          <p:cNvSpPr/>
          <p:nvPr/>
        </p:nvSpPr>
        <p:spPr>
          <a:xfrm>
            <a:off x="2095805" y="4526280"/>
            <a:ext cx="320040" cy="292608"/>
          </a:xfrm>
          <a:prstGeom prst="downArrow">
            <a:avLst/>
          </a:prstGeom>
          <a:solidFill>
            <a:srgbClr val="4472C4"/>
          </a:solidFill>
          <a:ln w="12700">
            <a:solidFill>
              <a:srgbClr val="2F528F"/>
            </a:solidFill>
            <a:prstDash val="solid"/>
          </a:ln>
        </p:spPr>
      </p:sp>
      <p:sp>
        <p:nvSpPr>
          <p:cNvPr id="13" name="Alveoli (air sacs)"/>
          <p:cNvSpPr/>
          <p:nvPr/>
        </p:nvSpPr>
        <p:spPr>
          <a:xfrm>
            <a:off x="838505" y="4846320"/>
            <a:ext cx="2834640" cy="658368"/>
          </a:xfrm>
          <a:prstGeom prst="rect">
            <a:avLst/>
          </a:prstGeom>
          <a:solidFill>
            <a:srgbClr val="4472C4"/>
          </a:solidFill>
          <a:ln w="12700">
            <a:solidFill>
              <a:srgbClr val="2F528F"/>
            </a:solidFill>
          </a:ln>
        </p:spPr>
        <p:txBody>
          <a:bodyPr wrap="square" rtlCol="0" anchor="ctr"/>
          <a:lstStyle/>
          <a:p>
            <a:pPr algn="ctr" indent="0" marL="0">
              <a:buNone/>
            </a:pPr>
            <a:r>
              <a:rPr lang="en-US" sz="2000" b="1" dirty="0">
                <a:solidFill>
                  <a:srgbClr val="FFFFFF"/>
                </a:solidFill>
              </a:rPr>
              <a:t>Alveoli (air sacs)</a:t>
            </a:r>
            <a:endParaRPr lang="en-US" sz="1800" dirty="0"/>
          </a:p>
        </p:txBody>
      </p:sp>
      <p:sp>
        <p:nvSpPr>
          <p:cNvPr id="14" name="Text 11"/>
          <p:cNvSpPr txBox="1"/>
          <p:nvPr/>
        </p:nvSpPr>
        <p:spPr>
          <a:xfrm>
            <a:off x="3840480" y="4846320"/>
            <a:ext cx="2560320" cy="658368"/>
          </a:xfrm>
          <a:prstGeom prst="rect">
            <a:avLst/>
          </a:prstGeom>
          <a:noFill/>
          <a:ln/>
        </p:spPr>
        <p:txBody>
          <a:bodyPr wrap="square" rtlCol="0" anchor="ctr"/>
          <a:lstStyle/>
          <a:p>
            <a:pPr indent="0" marL="0">
              <a:buNone/>
            </a:pPr>
            <a:r>
              <a:rPr lang="en-US" sz="2200" dirty="0">
                <a:solidFill>
                  <a:srgbClr val="000000"/>
                </a:solidFill>
              </a:rPr>
              <a:t>= the leaves</a:t>
            </a:r>
            <a:endParaRPr lang="en-US" sz="2200" dirty="0"/>
          </a:p>
        </p:txBody>
      </p:sp>
      <p:pic>
        <p:nvPicPr>
          <p:cNvPr id="15" name="Picture placeholder 3" descr="PICTURE NEEDED: Simple labelled diagram of the lungs and airways: trachea, bronchi, bronchioles and alveoli. Search: bronchial tree labelled diagram">    </p:cNvPr>
          <p:cNvPicPr>
            <a:picLocks noChangeAspect="1"/>
          </p:cNvPicPr>
          <p:nvPr/>
        </p:nvPicPr>
        <p:blipFill>
          <a:blip r:embed="rId1"/>
          <a:stretch>
            <a:fillRect/>
          </a:stretch>
        </p:blipFill>
        <p:spPr>
          <a:xfrm>
            <a:off x="6675120" y="1783080"/>
            <a:ext cx="4681728" cy="3429000"/>
          </a:xfrm>
          <a:prstGeom prst="rect">
            <a:avLst/>
          </a:prstGeom>
        </p:spPr>
      </p:pic>
      <p:sp>
        <p:nvSpPr>
          <p:cNvPr id="16" name="Text 12"/>
          <p:cNvSpPr txBox="1"/>
          <p:nvPr/>
        </p:nvSpPr>
        <p:spPr>
          <a:xfrm>
            <a:off x="6675120" y="5303520"/>
            <a:ext cx="4681728" cy="822960"/>
          </a:xfrm>
          <a:prstGeom prst="rect">
            <a:avLst/>
          </a:prstGeom>
          <a:noFill/>
          <a:ln/>
        </p:spPr>
        <p:txBody>
          <a:bodyPr wrap="square" rtlCol="0" anchor="t"/>
          <a:lstStyle/>
          <a:p>
            <a:pPr indent="0" marL="0">
              <a:buNone/>
            </a:pPr>
            <a:r>
              <a:rPr lang="en-US" sz="1800" dirty="0">
                <a:solidFill>
                  <a:srgbClr val="000000"/>
                </a:solidFill>
              </a:rPr>
              <a:t>In the alveoli, </a:t>
            </a:r>
            <a:r>
              <a:rPr lang="en-US" sz="1800" b="1" dirty="0">
                <a:solidFill>
                  <a:srgbClr val="000000"/>
                </a:solidFill>
              </a:rPr>
              <a:t>oxygen</a:t>
            </a:r>
            <a:r>
              <a:rPr lang="en-US" sz="1800" dirty="0">
                <a:solidFill>
                  <a:srgbClr val="000000"/>
                </a:solidFill>
              </a:rPr>
              <a:t> goes into the blood and </a:t>
            </a:r>
            <a:r>
              <a:rPr lang="en-US" sz="1800" b="1" dirty="0">
                <a:solidFill>
                  <a:srgbClr val="000000"/>
                </a:solidFill>
              </a:rPr>
              <a:t>carbon dioxide</a:t>
            </a:r>
            <a:r>
              <a:rPr lang="en-US" sz="1800" dirty="0">
                <a:solidFill>
                  <a:srgbClr val="000000"/>
                </a:solidFill>
              </a:rPr>
              <a:t> comes out.</a:t>
            </a:r>
            <a:endParaRPr lang="en-US" sz="1800" dirty="0"/>
          </a:p>
        </p:txBody>
      </p:sp>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p:nvPr>
            <p:ph idx="100" type="title"/>
          </p:nvPr>
        </p:nvSpPr>
        <p:spPr>
          <a:xfrm>
            <a:off x="838505" y="365760"/>
            <a:ext cx="10515600" cy="1325880"/>
          </a:xfrm>
          <a:prstGeom prst="rect">
            <a:avLst/>
          </a:prstGeom>
          <a:noFill/>
          <a:ln/>
        </p:spPr>
        <p:txBody>
          <a:bodyPr wrap="square" rtlCol="0" anchor="ctr"/>
          <a:lstStyle/>
          <a:p>
            <a:pPr algn="l" indent="0" marL="0">
              <a:buNone/>
            </a:pPr>
            <a:r>
              <a:rPr lang="en-US" sz="4400" dirty="0"/>
              <a:t>What Does “Obstructive” Mean?</a:t>
            </a:r>
            <a:endParaRPr lang="en-US" sz="4400" dirty="0"/>
          </a:p>
        </p:txBody>
      </p:sp>
      <p:sp>
        <p:nvSpPr>
          <p:cNvPr id="4" name="Text 1"/>
          <p:cNvSpPr txBox="1"/>
          <p:nvPr/>
        </p:nvSpPr>
        <p:spPr>
          <a:xfrm>
            <a:off x="838505" y="1783080"/>
            <a:ext cx="5120640" cy="411480"/>
          </a:xfrm>
          <a:prstGeom prst="rect">
            <a:avLst/>
          </a:prstGeom>
          <a:noFill/>
          <a:ln/>
        </p:spPr>
        <p:txBody>
          <a:bodyPr wrap="square" lIns="0" tIns="0" rIns="0" bIns="0" rtlCol="0" anchor="t"/>
          <a:lstStyle/>
          <a:p>
            <a:pPr indent="0" marL="0">
              <a:buNone/>
            </a:pPr>
            <a:r>
              <a:rPr lang="en-US" sz="2000" b="1" dirty="0">
                <a:solidFill>
                  <a:srgbClr val="000000"/>
                </a:solidFill>
              </a:rPr>
              <a:t>Healthy airway: wide open</a:t>
            </a:r>
            <a:endParaRPr lang="en-US" sz="2000" dirty="0"/>
          </a:p>
        </p:txBody>
      </p:sp>
      <p:sp>
        <p:nvSpPr>
          <p:cNvPr id="5" name="Healthy wall top"/>
          <p:cNvSpPr/>
          <p:nvPr/>
        </p:nvSpPr>
        <p:spPr>
          <a:xfrm>
            <a:off x="838505" y="2240280"/>
            <a:ext cx="5120640" cy="256032"/>
          </a:xfrm>
          <a:prstGeom prst="rect">
            <a:avLst/>
          </a:prstGeom>
          <a:solidFill>
            <a:srgbClr val="B4C7E7"/>
          </a:solidFill>
          <a:ln w="12700">
            <a:solidFill>
              <a:srgbClr val="2F528F"/>
            </a:solidFill>
            <a:prstDash val="solid"/>
          </a:ln>
        </p:spPr>
      </p:sp>
      <p:sp>
        <p:nvSpPr>
          <p:cNvPr id="6" name="Healthy wall bottom"/>
          <p:cNvSpPr/>
          <p:nvPr/>
        </p:nvSpPr>
        <p:spPr>
          <a:xfrm>
            <a:off x="838505" y="3264408"/>
            <a:ext cx="5120640" cy="256032"/>
          </a:xfrm>
          <a:prstGeom prst="rect">
            <a:avLst/>
          </a:prstGeom>
          <a:solidFill>
            <a:srgbClr val="B4C7E7"/>
          </a:solidFill>
          <a:ln w="12700">
            <a:solidFill>
              <a:srgbClr val="2F528F"/>
            </a:solidFill>
            <a:prstDash val="solid"/>
          </a:ln>
        </p:spPr>
      </p:sp>
      <p:sp>
        <p:nvSpPr>
          <p:cNvPr id="7" name="Healthy airflow"/>
          <p:cNvSpPr/>
          <p:nvPr/>
        </p:nvSpPr>
        <p:spPr>
          <a:xfrm>
            <a:off x="1188720" y="2587752"/>
            <a:ext cx="4206240" cy="603504"/>
          </a:xfrm>
          <a:prstGeom prst="rightArrow">
            <a:avLst/>
          </a:prstGeom>
          <a:solidFill>
            <a:srgbClr val="4472C4"/>
          </a:solidFill>
          <a:ln w="12700">
            <a:solidFill>
              <a:srgbClr val="2F528F"/>
            </a:solidFill>
          </a:ln>
        </p:spPr>
        <p:txBody>
          <a:bodyPr wrap="square" rtlCol="0" anchor="ctr"/>
          <a:lstStyle/>
          <a:p>
            <a:pPr algn="ctr" indent="0" marL="0">
              <a:buNone/>
            </a:pPr>
            <a:r>
              <a:rPr lang="en-US" sz="1600" dirty="0">
                <a:solidFill>
                  <a:srgbClr val="FFFFFF"/>
                </a:solidFill>
              </a:rPr>
              <a:t>Air flows out easily</a:t>
            </a:r>
            <a:endParaRPr lang="en-US" sz="1800" dirty="0"/>
          </a:p>
        </p:txBody>
      </p:sp>
      <p:sp>
        <p:nvSpPr>
          <p:cNvPr id="8" name="Text 5"/>
          <p:cNvSpPr txBox="1"/>
          <p:nvPr/>
        </p:nvSpPr>
        <p:spPr>
          <a:xfrm>
            <a:off x="838505" y="3657600"/>
            <a:ext cx="5120640" cy="411480"/>
          </a:xfrm>
          <a:prstGeom prst="rect">
            <a:avLst/>
          </a:prstGeom>
          <a:noFill/>
          <a:ln/>
        </p:spPr>
        <p:txBody>
          <a:bodyPr wrap="square" lIns="0" tIns="0" rIns="0" bIns="0" rtlCol="0" anchor="t"/>
          <a:lstStyle/>
          <a:p>
            <a:pPr indent="0" marL="0">
              <a:buNone/>
            </a:pPr>
            <a:r>
              <a:rPr lang="en-US" sz="2000" b="1" dirty="0">
                <a:solidFill>
                  <a:srgbClr val="000000"/>
                </a:solidFill>
              </a:rPr>
              <a:t>Obstructed airway: narrow</a:t>
            </a:r>
            <a:endParaRPr lang="en-US" sz="2000" dirty="0"/>
          </a:p>
        </p:txBody>
      </p:sp>
      <p:sp>
        <p:nvSpPr>
          <p:cNvPr id="9" name="Narrow wall top"/>
          <p:cNvSpPr/>
          <p:nvPr/>
        </p:nvSpPr>
        <p:spPr>
          <a:xfrm>
            <a:off x="838505" y="4114800"/>
            <a:ext cx="5120640" cy="566928"/>
          </a:xfrm>
          <a:prstGeom prst="rect">
            <a:avLst/>
          </a:prstGeom>
          <a:solidFill>
            <a:srgbClr val="B4C7E7"/>
          </a:solidFill>
          <a:ln w="12700">
            <a:solidFill>
              <a:srgbClr val="2F528F"/>
            </a:solidFill>
            <a:prstDash val="solid"/>
          </a:ln>
        </p:spPr>
      </p:sp>
      <p:sp>
        <p:nvSpPr>
          <p:cNvPr id="10" name="Narrow wall bottom"/>
          <p:cNvSpPr/>
          <p:nvPr/>
        </p:nvSpPr>
        <p:spPr>
          <a:xfrm>
            <a:off x="838505" y="4956048"/>
            <a:ext cx="5120640" cy="566928"/>
          </a:xfrm>
          <a:prstGeom prst="rect">
            <a:avLst/>
          </a:prstGeom>
          <a:solidFill>
            <a:srgbClr val="B4C7E7"/>
          </a:solidFill>
          <a:ln w="12700">
            <a:solidFill>
              <a:srgbClr val="2F528F"/>
            </a:solidFill>
            <a:prstDash val="solid"/>
          </a:ln>
        </p:spPr>
      </p:sp>
      <p:sp>
        <p:nvSpPr>
          <p:cNvPr id="11" name="Weak airflow"/>
          <p:cNvSpPr/>
          <p:nvPr/>
        </p:nvSpPr>
        <p:spPr>
          <a:xfrm>
            <a:off x="1188720" y="4709160"/>
            <a:ext cx="1737360" cy="219456"/>
          </a:xfrm>
          <a:prstGeom prst="rightArrow">
            <a:avLst/>
          </a:prstGeom>
          <a:solidFill>
            <a:srgbClr val="4472C4"/>
          </a:solidFill>
          <a:ln w="12700">
            <a:solidFill>
              <a:srgbClr val="2F528F"/>
            </a:solidFill>
            <a:prstDash val="solid"/>
          </a:ln>
        </p:spPr>
      </p:sp>
      <p:sp>
        <p:nvSpPr>
          <p:cNvPr id="12" name="Text 9"/>
          <p:cNvSpPr txBox="1"/>
          <p:nvPr/>
        </p:nvSpPr>
        <p:spPr>
          <a:xfrm>
            <a:off x="838505" y="5596128"/>
            <a:ext cx="5120640" cy="411480"/>
          </a:xfrm>
          <a:prstGeom prst="rect">
            <a:avLst/>
          </a:prstGeom>
          <a:noFill/>
          <a:ln/>
        </p:spPr>
        <p:txBody>
          <a:bodyPr wrap="square" lIns="0" tIns="0" rIns="0" bIns="0" rtlCol="0" anchor="t"/>
          <a:lstStyle/>
          <a:p>
            <a:pPr indent="0" marL="0">
              <a:buNone/>
            </a:pPr>
            <a:r>
              <a:rPr lang="en-US" sz="1600" i="1" dirty="0">
                <a:solidFill>
                  <a:srgbClr val="000000"/>
                </a:solidFill>
              </a:rPr>
              <a:t>Air gets in, but it can’t get out easily</a:t>
            </a:r>
            <a:endParaRPr lang="en-US" sz="1600" dirty="0"/>
          </a:p>
        </p:txBody>
      </p:sp>
      <p:sp>
        <p:nvSpPr>
          <p:cNvPr id="13" name="Text 10"/>
          <p:cNvSpPr txBox="1"/>
          <p:nvPr/>
        </p:nvSpPr>
        <p:spPr>
          <a:xfrm>
            <a:off x="6675120" y="1783080"/>
            <a:ext cx="4681728" cy="548640"/>
          </a:xfrm>
          <a:prstGeom prst="rect">
            <a:avLst/>
          </a:prstGeom>
          <a:noFill/>
          <a:ln/>
        </p:spPr>
        <p:txBody>
          <a:bodyPr wrap="square" rtlCol="0" anchor="t"/>
          <a:lstStyle/>
          <a:p>
            <a:pPr indent="0" marL="0">
              <a:buNone/>
            </a:pPr>
            <a:r>
              <a:rPr lang="en-US" sz="2600" b="1" dirty="0">
                <a:solidFill>
                  <a:srgbClr val="000000"/>
                </a:solidFill>
              </a:rPr>
              <a:t>To obstruct</a:t>
            </a:r>
            <a:r>
              <a:rPr lang="en-US" sz="2600" dirty="0">
                <a:solidFill>
                  <a:srgbClr val="000000"/>
                </a:solidFill>
              </a:rPr>
              <a:t> = to block</a:t>
            </a:r>
            <a:endParaRPr lang="en-US" sz="2600" dirty="0"/>
          </a:p>
        </p:txBody>
      </p:sp>
      <p:sp>
        <p:nvSpPr>
          <p:cNvPr id="14" name="Text 11"/>
          <p:cNvSpPr txBox="1"/>
          <p:nvPr/>
        </p:nvSpPr>
        <p:spPr>
          <a:xfrm>
            <a:off x="6675120" y="2377440"/>
            <a:ext cx="4681728" cy="1463040"/>
          </a:xfrm>
          <a:prstGeom prst="rect">
            <a:avLst/>
          </a:prstGeom>
          <a:noFill/>
          <a:ln/>
        </p:spPr>
        <p:txBody>
          <a:bodyPr wrap="square" rtlCol="0" anchor="t"/>
          <a:lstStyle/>
          <a:p>
            <a:pPr marL="342900" indent="-342900">
              <a:spcAft>
                <a:spcPts val="600"/>
              </a:spcAft>
              <a:buSzPct val="100000"/>
              <a:buChar char="•"/>
            </a:pPr>
            <a:r>
              <a:rPr lang="en-US" sz="2000" dirty="0">
                <a:solidFill>
                  <a:srgbClr val="000000"/>
                </a:solidFill>
              </a:rPr>
              <a:t>The airways become narrow</a:t>
            </a:r>
            <a:endParaRPr lang="en-US" sz="2000" dirty="0"/>
          </a:p>
          <a:p>
            <a:pPr marL="342900" indent="-342900">
              <a:spcAft>
                <a:spcPts val="600"/>
              </a:spcAft>
              <a:buSzPct val="100000"/>
              <a:buChar char="•"/>
            </a:pPr>
            <a:r>
              <a:rPr lang="en-US" sz="2000" dirty="0">
                <a:solidFill>
                  <a:srgbClr val="000000"/>
                </a:solidFill>
              </a:rPr>
              <a:t>Air gets in, but it is hard to get out</a:t>
            </a:r>
            <a:endParaRPr lang="en-US" sz="2000" dirty="0"/>
          </a:p>
          <a:p>
            <a:pPr marL="342900" indent="-342900">
              <a:spcAft>
                <a:spcPts val="600"/>
              </a:spcAft>
              <a:buSzPct val="100000"/>
              <a:buChar char="•"/>
            </a:pPr>
            <a:r>
              <a:rPr lang="en-US" sz="2000" dirty="0">
                <a:solidFill>
                  <a:srgbClr val="000000"/>
                </a:solidFill>
              </a:rPr>
              <a:t>Old air is trapped in the lungs</a:t>
            </a:r>
            <a:endParaRPr lang="en-US" sz="2000" dirty="0"/>
          </a:p>
        </p:txBody>
      </p:sp>
      <p:sp>
        <p:nvSpPr>
          <p:cNvPr id="15" name="Text 12"/>
          <p:cNvSpPr txBox="1"/>
          <p:nvPr/>
        </p:nvSpPr>
        <p:spPr>
          <a:xfrm>
            <a:off x="6675120" y="4069080"/>
            <a:ext cx="4681728" cy="1463040"/>
          </a:xfrm>
          <a:prstGeom prst="rect">
            <a:avLst/>
          </a:prstGeom>
          <a:noFill/>
          <a:ln/>
        </p:spPr>
        <p:txBody>
          <a:bodyPr wrap="square" rtlCol="0" anchor="t"/>
          <a:lstStyle/>
          <a:p>
            <a:pPr indent="0" marL="0">
              <a:buNone/>
            </a:pPr>
            <a:r>
              <a:rPr lang="en-US" sz="2400" b="1" dirty="0">
                <a:solidFill>
                  <a:srgbClr val="000000"/>
                </a:solidFill>
              </a:rPr>
              <a:t>Try this!</a:t>
            </a:r>
            <a:endParaRPr lang="en-US" sz="2000" dirty="0"/>
          </a:p>
          <a:p>
            <a:pPr indent="0" marL="0">
              <a:buNone/>
            </a:pPr>
            <a:r>
              <a:rPr lang="en-US" sz="2000" dirty="0">
                <a:solidFill>
                  <a:srgbClr val="000000"/>
                </a:solidFill>
              </a:rPr>
              <a:t>Take a deep breath in. Then breathe out slowly through a straw. How does it feel?</a:t>
            </a:r>
            <a:endParaRPr lang="en-US" sz="2000" dirty="0"/>
          </a:p>
        </p:txBody>
      </p:sp>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p:nvPr>
            <p:ph idx="100" type="title"/>
          </p:nvPr>
        </p:nvSpPr>
        <p:spPr>
          <a:xfrm>
            <a:off x="838505" y="365760"/>
            <a:ext cx="10515600" cy="1325880"/>
          </a:xfrm>
          <a:prstGeom prst="rect">
            <a:avLst/>
          </a:prstGeom>
          <a:noFill/>
          <a:ln/>
        </p:spPr>
        <p:txBody>
          <a:bodyPr wrap="square" rtlCol="0" anchor="ctr"/>
          <a:lstStyle/>
          <a:p>
            <a:pPr algn="l" indent="0" marL="0">
              <a:buNone/>
            </a:pPr>
            <a:r>
              <a:rPr lang="en-US" sz="4400" dirty="0"/>
              <a:t>What Happens in Asthma?</a:t>
            </a:r>
            <a:endParaRPr lang="en-US" sz="4400" dirty="0"/>
          </a:p>
        </p:txBody>
      </p:sp>
      <p:sp>
        <p:nvSpPr>
          <p:cNvPr id="4" name="Text 1"/>
          <p:cNvSpPr txBox="1"/>
          <p:nvPr/>
        </p:nvSpPr>
        <p:spPr>
          <a:xfrm>
            <a:off x="838505" y="1691640"/>
            <a:ext cx="10515600" cy="502920"/>
          </a:xfrm>
          <a:prstGeom prst="rect">
            <a:avLst/>
          </a:prstGeom>
          <a:noFill/>
          <a:ln/>
        </p:spPr>
        <p:txBody>
          <a:bodyPr wrap="square" rtlCol="0" anchor="t"/>
          <a:lstStyle/>
          <a:p>
            <a:pPr indent="0" marL="0">
              <a:buNone/>
            </a:pPr>
            <a:r>
              <a:rPr lang="en-US" sz="2200" b="1" dirty="0">
                <a:solidFill>
                  <a:srgbClr val="000000"/>
                </a:solidFill>
              </a:rPr>
              <a:t>Asthma</a:t>
            </a:r>
            <a:r>
              <a:rPr lang="en-US" sz="2200" dirty="0">
                <a:solidFill>
                  <a:srgbClr val="000000"/>
                </a:solidFill>
              </a:rPr>
              <a:t> = a long-term disease of sensitive airways that overreact to triggers</a:t>
            </a:r>
            <a:endParaRPr lang="en-US" sz="2200" dirty="0"/>
          </a:p>
        </p:txBody>
      </p:sp>
      <p:sp>
        <p:nvSpPr>
          <p:cNvPr id="5" name="Normal airway muscle"/>
          <p:cNvSpPr/>
          <p:nvPr/>
        </p:nvSpPr>
        <p:spPr>
          <a:xfrm>
            <a:off x="1143000" y="2697480"/>
            <a:ext cx="2286000" cy="2286000"/>
          </a:xfrm>
          <a:prstGeom prst="ellipse">
            <a:avLst/>
          </a:prstGeom>
          <a:solidFill>
            <a:srgbClr val="4472C4"/>
          </a:solidFill>
          <a:ln w="12700">
            <a:solidFill>
              <a:srgbClr val="2F528F"/>
            </a:solidFill>
            <a:prstDash val="solid"/>
          </a:ln>
        </p:spPr>
      </p:sp>
      <p:sp>
        <p:nvSpPr>
          <p:cNvPr id="6" name="Normal airway wall"/>
          <p:cNvSpPr/>
          <p:nvPr/>
        </p:nvSpPr>
        <p:spPr>
          <a:xfrm>
            <a:off x="1280160" y="2834640"/>
            <a:ext cx="2011680" cy="2011680"/>
          </a:xfrm>
          <a:prstGeom prst="ellipse">
            <a:avLst/>
          </a:prstGeom>
          <a:solidFill>
            <a:srgbClr val="B4C7E7"/>
          </a:solidFill>
          <a:ln w="9525">
            <a:solidFill>
              <a:srgbClr val="2F528F"/>
            </a:solidFill>
            <a:prstDash val="solid"/>
          </a:ln>
        </p:spPr>
      </p:sp>
      <p:sp>
        <p:nvSpPr>
          <p:cNvPr id="7" name="Normal airway open space"/>
          <p:cNvSpPr/>
          <p:nvPr/>
        </p:nvSpPr>
        <p:spPr>
          <a:xfrm>
            <a:off x="1554480" y="3108960"/>
            <a:ext cx="1463040" cy="1463040"/>
          </a:xfrm>
          <a:prstGeom prst="ellipse">
            <a:avLst/>
          </a:prstGeom>
          <a:solidFill>
            <a:srgbClr val="FFFFFF"/>
          </a:solidFill>
          <a:ln w="9525">
            <a:solidFill>
              <a:srgbClr val="2F528F"/>
            </a:solidFill>
            <a:prstDash val="solid"/>
          </a:ln>
        </p:spPr>
      </p:sp>
      <p:sp>
        <p:nvSpPr>
          <p:cNvPr id="8" name="Asthma airway muscle"/>
          <p:cNvSpPr/>
          <p:nvPr/>
        </p:nvSpPr>
        <p:spPr>
          <a:xfrm>
            <a:off x="4434840" y="2788920"/>
            <a:ext cx="2103120" cy="2103120"/>
          </a:xfrm>
          <a:prstGeom prst="ellipse">
            <a:avLst/>
          </a:prstGeom>
          <a:solidFill>
            <a:srgbClr val="4472C4"/>
          </a:solidFill>
          <a:ln w="12700">
            <a:solidFill>
              <a:srgbClr val="2F528F"/>
            </a:solidFill>
            <a:prstDash val="solid"/>
          </a:ln>
        </p:spPr>
      </p:sp>
      <p:sp>
        <p:nvSpPr>
          <p:cNvPr id="9" name="Asthma airway wall"/>
          <p:cNvSpPr/>
          <p:nvPr/>
        </p:nvSpPr>
        <p:spPr>
          <a:xfrm>
            <a:off x="4572000" y="2926080"/>
            <a:ext cx="1828800" cy="1828800"/>
          </a:xfrm>
          <a:prstGeom prst="ellipse">
            <a:avLst/>
          </a:prstGeom>
          <a:solidFill>
            <a:srgbClr val="B4C7E7"/>
          </a:solidFill>
          <a:ln w="9525">
            <a:solidFill>
              <a:srgbClr val="2F528F"/>
            </a:solidFill>
            <a:prstDash val="solid"/>
          </a:ln>
        </p:spPr>
      </p:sp>
      <p:sp>
        <p:nvSpPr>
          <p:cNvPr id="10" name="Asthma airway open space"/>
          <p:cNvSpPr/>
          <p:nvPr/>
        </p:nvSpPr>
        <p:spPr>
          <a:xfrm>
            <a:off x="5184648" y="3538728"/>
            <a:ext cx="603504" cy="603504"/>
          </a:xfrm>
          <a:prstGeom prst="ellipse">
            <a:avLst/>
          </a:prstGeom>
          <a:solidFill>
            <a:srgbClr val="FFFFFF"/>
          </a:solidFill>
          <a:ln w="9525">
            <a:solidFill>
              <a:srgbClr val="2F528F"/>
            </a:solidFill>
            <a:prstDash val="solid"/>
          </a:ln>
        </p:spPr>
      </p:sp>
      <p:sp>
        <p:nvSpPr>
          <p:cNvPr id="11" name="Asthma airway mucus 1"/>
          <p:cNvSpPr/>
          <p:nvPr/>
        </p:nvSpPr>
        <p:spPr>
          <a:xfrm>
            <a:off x="5289804" y="3671316"/>
            <a:ext cx="155448" cy="155448"/>
          </a:xfrm>
          <a:prstGeom prst="ellipse">
            <a:avLst/>
          </a:prstGeom>
          <a:solidFill>
            <a:srgbClr val="A5A5A5"/>
          </a:solidFill>
          <a:ln w="9525">
            <a:solidFill>
              <a:srgbClr val="7F7F7F"/>
            </a:solidFill>
            <a:prstDash val="solid"/>
          </a:ln>
        </p:spPr>
      </p:sp>
      <p:sp>
        <p:nvSpPr>
          <p:cNvPr id="12" name="Asthma airway mucus 2"/>
          <p:cNvSpPr/>
          <p:nvPr/>
        </p:nvSpPr>
        <p:spPr>
          <a:xfrm>
            <a:off x="5504688" y="3831336"/>
            <a:ext cx="182880" cy="182880"/>
          </a:xfrm>
          <a:prstGeom prst="ellipse">
            <a:avLst/>
          </a:prstGeom>
          <a:solidFill>
            <a:srgbClr val="A5A5A5"/>
          </a:solidFill>
          <a:ln w="9525">
            <a:solidFill>
              <a:srgbClr val="7F7F7F"/>
            </a:solidFill>
            <a:prstDash val="solid"/>
          </a:ln>
        </p:spPr>
      </p:sp>
      <p:sp>
        <p:nvSpPr>
          <p:cNvPr id="13" name="Asthma airway mucus 3"/>
          <p:cNvSpPr/>
          <p:nvPr/>
        </p:nvSpPr>
        <p:spPr>
          <a:xfrm>
            <a:off x="5385816" y="3941064"/>
            <a:ext cx="109728" cy="109728"/>
          </a:xfrm>
          <a:prstGeom prst="ellipse">
            <a:avLst/>
          </a:prstGeom>
          <a:solidFill>
            <a:srgbClr val="A5A5A5"/>
          </a:solidFill>
          <a:ln w="9525">
            <a:solidFill>
              <a:srgbClr val="7F7F7F"/>
            </a:solidFill>
            <a:prstDash val="solid"/>
          </a:ln>
        </p:spPr>
      </p:sp>
      <p:sp>
        <p:nvSpPr>
          <p:cNvPr id="14" name="Text 11"/>
          <p:cNvSpPr txBox="1"/>
          <p:nvPr/>
        </p:nvSpPr>
        <p:spPr>
          <a:xfrm>
            <a:off x="914400" y="5120640"/>
            <a:ext cx="2743200" cy="411480"/>
          </a:xfrm>
          <a:prstGeom prst="rect">
            <a:avLst/>
          </a:prstGeom>
          <a:noFill/>
          <a:ln/>
        </p:spPr>
        <p:txBody>
          <a:bodyPr wrap="square" rtlCol="0" anchor="t"/>
          <a:lstStyle/>
          <a:p>
            <a:pPr algn="ctr" indent="0" marL="0">
              <a:buNone/>
            </a:pPr>
            <a:r>
              <a:rPr lang="en-US" sz="2000" b="1" dirty="0">
                <a:solidFill>
                  <a:srgbClr val="000000"/>
                </a:solidFill>
              </a:rPr>
              <a:t>Normal airway</a:t>
            </a:r>
            <a:endParaRPr lang="en-US" sz="2000" dirty="0"/>
          </a:p>
        </p:txBody>
      </p:sp>
      <p:sp>
        <p:nvSpPr>
          <p:cNvPr id="15" name="Text 12"/>
          <p:cNvSpPr txBox="1"/>
          <p:nvPr/>
        </p:nvSpPr>
        <p:spPr>
          <a:xfrm>
            <a:off x="4023360" y="5120640"/>
            <a:ext cx="2926080" cy="411480"/>
          </a:xfrm>
          <a:prstGeom prst="rect">
            <a:avLst/>
          </a:prstGeom>
          <a:noFill/>
          <a:ln/>
        </p:spPr>
        <p:txBody>
          <a:bodyPr wrap="square" rtlCol="0" anchor="t"/>
          <a:lstStyle/>
          <a:p>
            <a:pPr algn="ctr" indent="0" marL="0">
              <a:buNone/>
            </a:pPr>
            <a:r>
              <a:rPr lang="en-US" sz="2000" b="1" dirty="0">
                <a:solidFill>
                  <a:srgbClr val="000000"/>
                </a:solidFill>
              </a:rPr>
              <a:t>During an asthma attack</a:t>
            </a:r>
            <a:endParaRPr lang="en-US" sz="2000" dirty="0"/>
          </a:p>
        </p:txBody>
      </p:sp>
      <p:sp>
        <p:nvSpPr>
          <p:cNvPr id="16" name="Shape 13"/>
          <p:cNvSpPr/>
          <p:nvPr/>
        </p:nvSpPr>
        <p:spPr>
          <a:xfrm flipV="1">
            <a:off x="5943600" y="2788920"/>
            <a:ext cx="868680" cy="594360"/>
          </a:xfrm>
          <a:prstGeom prst="line">
            <a:avLst/>
          </a:prstGeom>
          <a:noFill/>
          <a:ln w="12700">
            <a:solidFill>
              <a:srgbClr val="000000"/>
            </a:solidFill>
            <a:prstDash val="solid"/>
          </a:ln>
        </p:spPr>
      </p:sp>
      <p:sp>
        <p:nvSpPr>
          <p:cNvPr id="17" name="Shape 14"/>
          <p:cNvSpPr/>
          <p:nvPr/>
        </p:nvSpPr>
        <p:spPr>
          <a:xfrm>
            <a:off x="6492240" y="3840480"/>
            <a:ext cx="320040" cy="914"/>
          </a:xfrm>
          <a:prstGeom prst="line">
            <a:avLst/>
          </a:prstGeom>
          <a:noFill/>
          <a:ln w="12700">
            <a:solidFill>
              <a:srgbClr val="000000"/>
            </a:solidFill>
            <a:prstDash val="solid"/>
          </a:ln>
        </p:spPr>
      </p:sp>
      <p:sp>
        <p:nvSpPr>
          <p:cNvPr id="18" name="Shape 15"/>
          <p:cNvSpPr/>
          <p:nvPr/>
        </p:nvSpPr>
        <p:spPr>
          <a:xfrm>
            <a:off x="5623560" y="3931920"/>
            <a:ext cx="1188720" cy="914400"/>
          </a:xfrm>
          <a:prstGeom prst="line">
            <a:avLst/>
          </a:prstGeom>
          <a:noFill/>
          <a:ln w="12700">
            <a:solidFill>
              <a:srgbClr val="000000"/>
            </a:solidFill>
            <a:prstDash val="solid"/>
          </a:ln>
        </p:spPr>
      </p:sp>
      <p:sp>
        <p:nvSpPr>
          <p:cNvPr id="19" name="Text 16"/>
          <p:cNvSpPr txBox="1"/>
          <p:nvPr/>
        </p:nvSpPr>
        <p:spPr>
          <a:xfrm>
            <a:off x="6839712" y="2606040"/>
            <a:ext cx="365760" cy="365760"/>
          </a:xfrm>
          <a:prstGeom prst="rect">
            <a:avLst/>
          </a:prstGeom>
          <a:noFill/>
          <a:ln/>
        </p:spPr>
        <p:txBody>
          <a:bodyPr wrap="square" lIns="0" tIns="0" rIns="0" bIns="0" rtlCol="0" anchor="t"/>
          <a:lstStyle/>
          <a:p>
            <a:pPr indent="0" marL="0">
              <a:buNone/>
            </a:pPr>
            <a:r>
              <a:rPr lang="en-US" sz="2000" b="1" dirty="0">
                <a:solidFill>
                  <a:srgbClr val="000000"/>
                </a:solidFill>
              </a:rPr>
              <a:t>1</a:t>
            </a:r>
            <a:endParaRPr lang="en-US" sz="2000" dirty="0"/>
          </a:p>
        </p:txBody>
      </p:sp>
      <p:sp>
        <p:nvSpPr>
          <p:cNvPr id="20" name="Text 17"/>
          <p:cNvSpPr txBox="1"/>
          <p:nvPr/>
        </p:nvSpPr>
        <p:spPr>
          <a:xfrm>
            <a:off x="6839712" y="3657600"/>
            <a:ext cx="365760" cy="365760"/>
          </a:xfrm>
          <a:prstGeom prst="rect">
            <a:avLst/>
          </a:prstGeom>
          <a:noFill/>
          <a:ln/>
        </p:spPr>
        <p:txBody>
          <a:bodyPr wrap="square" lIns="0" tIns="0" rIns="0" bIns="0" rtlCol="0" anchor="t"/>
          <a:lstStyle/>
          <a:p>
            <a:pPr indent="0" marL="0">
              <a:buNone/>
            </a:pPr>
            <a:r>
              <a:rPr lang="en-US" sz="2000" b="1" dirty="0">
                <a:solidFill>
                  <a:srgbClr val="000000"/>
                </a:solidFill>
              </a:rPr>
              <a:t>2</a:t>
            </a:r>
            <a:endParaRPr lang="en-US" sz="2000" dirty="0"/>
          </a:p>
        </p:txBody>
      </p:sp>
      <p:sp>
        <p:nvSpPr>
          <p:cNvPr id="21" name="Text 18"/>
          <p:cNvSpPr txBox="1"/>
          <p:nvPr/>
        </p:nvSpPr>
        <p:spPr>
          <a:xfrm>
            <a:off x="6839712" y="4663440"/>
            <a:ext cx="365760" cy="365760"/>
          </a:xfrm>
          <a:prstGeom prst="rect">
            <a:avLst/>
          </a:prstGeom>
          <a:noFill/>
          <a:ln/>
        </p:spPr>
        <p:txBody>
          <a:bodyPr wrap="square" lIns="0" tIns="0" rIns="0" bIns="0" rtlCol="0" anchor="t"/>
          <a:lstStyle/>
          <a:p>
            <a:pPr indent="0" marL="0">
              <a:buNone/>
            </a:pPr>
            <a:r>
              <a:rPr lang="en-US" sz="2000" b="1" dirty="0">
                <a:solidFill>
                  <a:srgbClr val="000000"/>
                </a:solidFill>
              </a:rPr>
              <a:t>3</a:t>
            </a:r>
            <a:endParaRPr lang="en-US" sz="2000" dirty="0"/>
          </a:p>
        </p:txBody>
      </p:sp>
      <p:sp>
        <p:nvSpPr>
          <p:cNvPr id="22" name="Text 19"/>
          <p:cNvSpPr txBox="1"/>
          <p:nvPr/>
        </p:nvSpPr>
        <p:spPr>
          <a:xfrm>
            <a:off x="7498080" y="2514600"/>
            <a:ext cx="3858768" cy="914400"/>
          </a:xfrm>
          <a:prstGeom prst="rect">
            <a:avLst/>
          </a:prstGeom>
          <a:noFill/>
          <a:ln/>
        </p:spPr>
        <p:txBody>
          <a:bodyPr wrap="square" rtlCol="0" anchor="t"/>
          <a:lstStyle/>
          <a:p>
            <a:pPr indent="0" marL="0">
              <a:buNone/>
            </a:pPr>
            <a:r>
              <a:rPr lang="en-US" sz="2200" b="1" dirty="0">
                <a:solidFill>
                  <a:srgbClr val="000000"/>
                </a:solidFill>
              </a:rPr>
              <a:t>1. Swollen wall</a:t>
            </a:r>
            <a:endParaRPr lang="en-US" sz="2000" dirty="0"/>
          </a:p>
          <a:p>
            <a:pPr indent="0" marL="0">
              <a:buNone/>
            </a:pPr>
            <a:r>
              <a:rPr lang="en-US" sz="1800" dirty="0">
                <a:solidFill>
                  <a:srgbClr val="000000"/>
                </a:solidFill>
              </a:rPr>
              <a:t>Inflammation: red and swollen</a:t>
            </a:r>
            <a:endParaRPr lang="en-US" sz="2000" dirty="0"/>
          </a:p>
        </p:txBody>
      </p:sp>
      <p:sp>
        <p:nvSpPr>
          <p:cNvPr id="23" name="Text 20"/>
          <p:cNvSpPr txBox="1"/>
          <p:nvPr/>
        </p:nvSpPr>
        <p:spPr>
          <a:xfrm>
            <a:off x="7498080" y="3538728"/>
            <a:ext cx="3858768" cy="914400"/>
          </a:xfrm>
          <a:prstGeom prst="rect">
            <a:avLst/>
          </a:prstGeom>
          <a:noFill/>
          <a:ln/>
        </p:spPr>
        <p:txBody>
          <a:bodyPr wrap="square" rtlCol="0" anchor="t"/>
          <a:lstStyle/>
          <a:p>
            <a:pPr indent="0" marL="0">
              <a:buNone/>
            </a:pPr>
            <a:r>
              <a:rPr lang="en-US" sz="2200" b="1" dirty="0">
                <a:solidFill>
                  <a:srgbClr val="000000"/>
                </a:solidFill>
              </a:rPr>
              <a:t>2. Tight muscle</a:t>
            </a:r>
            <a:endParaRPr lang="en-US" sz="2000" dirty="0"/>
          </a:p>
          <a:p>
            <a:pPr indent="0" marL="0">
              <a:buNone/>
            </a:pPr>
            <a:r>
              <a:rPr lang="en-US" sz="1800" dirty="0">
                <a:solidFill>
                  <a:srgbClr val="000000"/>
                </a:solidFill>
              </a:rPr>
              <a:t>Bronchospasm: the muscle squeezes</a:t>
            </a:r>
            <a:endParaRPr lang="en-US" sz="2000" dirty="0"/>
          </a:p>
        </p:txBody>
      </p:sp>
      <p:sp>
        <p:nvSpPr>
          <p:cNvPr id="24" name="Text 21"/>
          <p:cNvSpPr txBox="1"/>
          <p:nvPr/>
        </p:nvSpPr>
        <p:spPr>
          <a:xfrm>
            <a:off x="7498080" y="4562856"/>
            <a:ext cx="3858768" cy="914400"/>
          </a:xfrm>
          <a:prstGeom prst="rect">
            <a:avLst/>
          </a:prstGeom>
          <a:noFill/>
          <a:ln/>
        </p:spPr>
        <p:txBody>
          <a:bodyPr wrap="square" rtlCol="0" anchor="t"/>
          <a:lstStyle/>
          <a:p>
            <a:pPr indent="0" marL="0">
              <a:buNone/>
            </a:pPr>
            <a:r>
              <a:rPr lang="en-US" sz="2200" b="1" dirty="0">
                <a:solidFill>
                  <a:srgbClr val="000000"/>
                </a:solidFill>
              </a:rPr>
              <a:t>3. Extra mucus</a:t>
            </a:r>
            <a:endParaRPr lang="en-US" sz="2000" dirty="0"/>
          </a:p>
          <a:p>
            <a:pPr indent="0" marL="0">
              <a:buNone/>
            </a:pPr>
            <a:r>
              <a:rPr lang="en-US" sz="1800" dirty="0">
                <a:solidFill>
                  <a:srgbClr val="000000"/>
                </a:solidFill>
              </a:rPr>
              <a:t>Thick and sticky: it blocks the tube</a:t>
            </a:r>
            <a:endParaRPr lang="en-US" sz="2000" dirty="0"/>
          </a:p>
        </p:txBody>
      </p:sp>
      <p:sp>
        <p:nvSpPr>
          <p:cNvPr id="25" name="Text 22"/>
          <p:cNvSpPr txBox="1"/>
          <p:nvPr/>
        </p:nvSpPr>
        <p:spPr>
          <a:xfrm>
            <a:off x="838505" y="5623560"/>
            <a:ext cx="10515600" cy="457200"/>
          </a:xfrm>
          <a:prstGeom prst="rect">
            <a:avLst/>
          </a:prstGeom>
          <a:noFill/>
          <a:ln/>
        </p:spPr>
        <p:txBody>
          <a:bodyPr wrap="square" rtlCol="0" anchor="t"/>
          <a:lstStyle/>
          <a:p>
            <a:pPr indent="0" marL="0">
              <a:buNone/>
            </a:pPr>
            <a:r>
              <a:rPr lang="en-US" sz="2200" b="1" dirty="0">
                <a:solidFill>
                  <a:srgbClr val="000000"/>
                </a:solidFill>
              </a:rPr>
              <a:t>Good news: </a:t>
            </a:r>
            <a:r>
              <a:rPr lang="en-US" sz="2200" dirty="0">
                <a:solidFill>
                  <a:srgbClr val="000000"/>
                </a:solidFill>
              </a:rPr>
              <a:t>in asthma, the narrowing is usually </a:t>
            </a:r>
            <a:r>
              <a:rPr lang="en-US" sz="2200" b="1" dirty="0">
                <a:solidFill>
                  <a:srgbClr val="000000"/>
                </a:solidFill>
              </a:rPr>
              <a:t>reversible</a:t>
            </a:r>
            <a:r>
              <a:rPr lang="en-US" sz="2200" dirty="0">
                <a:solidFill>
                  <a:srgbClr val="000000"/>
                </a:solidFill>
              </a:rPr>
              <a:t>.</a:t>
            </a:r>
            <a:endParaRPr lang="en-US" sz="2200" dirty="0"/>
          </a:p>
        </p:txBody>
      </p:sp>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ph idx="100" type="title"/>
          </p:nvPr>
        </p:nvSpPr>
        <p:spPr>
          <a:xfrm>
            <a:off x="838505" y="365760"/>
            <a:ext cx="10515600" cy="1325880"/>
          </a:xfrm>
          <a:prstGeom prst="rect">
            <a:avLst/>
          </a:prstGeom>
          <a:noFill/>
          <a:ln/>
        </p:spPr>
        <p:txBody>
          <a:bodyPr wrap="square" rtlCol="0" anchor="ctr"/>
          <a:lstStyle/>
          <a:p>
            <a:pPr algn="l" indent="0" marL="0">
              <a:buNone/>
            </a:pPr>
            <a:r>
              <a:rPr lang="en-US" sz="4400" dirty="0"/>
              <a:t>What Triggers Asthma?</a:t>
            </a:r>
            <a:endParaRPr lang="en-US" sz="4400" dirty="0"/>
          </a:p>
        </p:txBody>
      </p:sp>
      <p:sp>
        <p:nvSpPr>
          <p:cNvPr id="4" name="Text 0"/>
          <p:cNvSpPr/>
          <p:nvPr>
            <p:ph idx="101" type="body"/>
          </p:nvPr>
        </p:nvSpPr>
        <p:spPr>
          <a:xfrm>
            <a:off x="838505" y="1826057"/>
            <a:ext cx="5181905" cy="4351630"/>
          </a:xfrm>
          <a:prstGeom prst="rect">
            <a:avLst/>
          </a:prstGeom>
          <a:noFill/>
          <a:ln/>
        </p:spPr>
        <p:txBody>
          <a:bodyPr wrap="square" rtlCol="0" anchor="t"/>
          <a:lstStyle/>
          <a:p>
            <a:pPr indent="0" marL="0">
              <a:buNone/>
            </a:pPr>
            <a:r>
              <a:rPr lang="en-US" sz="2200" b="1" dirty="0">
                <a:solidFill>
                  <a:srgbClr val="000000"/>
                </a:solidFill>
              </a:rPr>
              <a:t>Trigger</a:t>
            </a:r>
            <a:r>
              <a:rPr lang="en-US" sz="2200" dirty="0">
                <a:solidFill>
                  <a:srgbClr val="000000"/>
                </a:solidFill>
              </a:rPr>
              <a:t> = something that starts the symptoms</a:t>
            </a:r>
            <a:endParaRPr lang="en-US" sz="2400" dirty="0"/>
          </a:p>
          <a:p>
            <a:pPr marL="342900" indent="-342900">
              <a:buSzPct val="100000"/>
              <a:buChar char="•"/>
            </a:pPr>
            <a:r>
              <a:rPr lang="en-US" sz="2200" dirty="0">
                <a:solidFill>
                  <a:srgbClr val="000000"/>
                </a:solidFill>
              </a:rPr>
              <a:t>Allergens: pollen, dust mites, pets, mould</a:t>
            </a:r>
            <a:endParaRPr lang="en-US" sz="2400" dirty="0"/>
          </a:p>
          <a:p>
            <a:pPr marL="342900" indent="-342900">
              <a:buSzPct val="100000"/>
              <a:buChar char="•"/>
            </a:pPr>
            <a:r>
              <a:rPr lang="en-US" sz="2200" dirty="0">
                <a:solidFill>
                  <a:srgbClr val="000000"/>
                </a:solidFill>
              </a:rPr>
              <a:t>Smoke and air pollution</a:t>
            </a:r>
            <a:endParaRPr lang="en-US" sz="2400" dirty="0"/>
          </a:p>
          <a:p>
            <a:pPr marL="342900" indent="-342900">
              <a:buSzPct val="100000"/>
              <a:buChar char="•"/>
            </a:pPr>
            <a:r>
              <a:rPr lang="en-US" sz="2200" dirty="0">
                <a:solidFill>
                  <a:srgbClr val="000000"/>
                </a:solidFill>
              </a:rPr>
              <a:t>Cold air and exercise</a:t>
            </a:r>
            <a:endParaRPr lang="en-US" sz="2400" dirty="0"/>
          </a:p>
          <a:p>
            <a:pPr marL="342900" indent="-342900">
              <a:buSzPct val="100000"/>
              <a:buChar char="•"/>
            </a:pPr>
            <a:r>
              <a:rPr lang="en-US" sz="2200" dirty="0">
                <a:solidFill>
                  <a:srgbClr val="000000"/>
                </a:solidFill>
              </a:rPr>
              <a:t>Colds and flu</a:t>
            </a:r>
            <a:endParaRPr lang="en-US" sz="2400" dirty="0"/>
          </a:p>
          <a:p>
            <a:pPr marL="342900" indent="-342900">
              <a:buSzPct val="100000"/>
              <a:buChar char="•"/>
            </a:pPr>
            <a:r>
              <a:rPr lang="en-US" sz="2200" dirty="0">
                <a:solidFill>
                  <a:srgbClr val="000000"/>
                </a:solidFill>
              </a:rPr>
              <a:t>Stress and strong emotions</a:t>
            </a:r>
            <a:endParaRPr lang="en-US" sz="2400" dirty="0"/>
          </a:p>
          <a:p>
            <a:pPr indent="0" marL="0">
              <a:buNone/>
            </a:pPr>
            <a:r>
              <a:rPr lang="en-US" sz="2200" i="1" dirty="0">
                <a:solidFill>
                  <a:srgbClr val="000000"/>
                </a:solidFill>
              </a:rPr>
              <a:t>Neda’s triggers: exercise and spring pollen</a:t>
            </a:r>
            <a:endParaRPr lang="en-US" sz="2400" dirty="0"/>
          </a:p>
        </p:txBody>
      </p:sp>
      <p:pic>
        <p:nvPicPr>
          <p:cNvPr id="5" name="Picture placeholder 4" descr="PICTURE NEEDED: Common asthma triggers: flowers and pollen, a cat, dust, cigarette smoke, cold air, running. Search: asthma triggers">    </p:cNvPr>
          <p:cNvPicPr>
            <a:picLocks noChangeAspect="1"/>
          </p:cNvPicPr>
          <p:nvPr/>
        </p:nvPicPr>
        <p:blipFill>
          <a:blip r:embed="rId1"/>
          <a:stretch>
            <a:fillRect/>
          </a:stretch>
        </p:blipFill>
        <p:spPr>
          <a:xfrm>
            <a:off x="6172200" y="1826057"/>
            <a:ext cx="5181905" cy="3886200"/>
          </a:xfrm>
          <a:prstGeom prst="rect">
            <a:avLst/>
          </a:prstGeom>
        </p:spPr>
      </p:pic>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ph idx="100" type="title"/>
          </p:nvPr>
        </p:nvSpPr>
        <p:spPr>
          <a:xfrm>
            <a:off x="838505" y="365760"/>
            <a:ext cx="10515600" cy="1325880"/>
          </a:xfrm>
          <a:prstGeom prst="rect">
            <a:avLst/>
          </a:prstGeom>
          <a:noFill/>
          <a:ln/>
        </p:spPr>
        <p:txBody>
          <a:bodyPr wrap="square" rtlCol="0" anchor="ctr"/>
          <a:lstStyle/>
          <a:p>
            <a:pPr algn="l" indent="0" marL="0">
              <a:buNone/>
            </a:pPr>
            <a:r>
              <a:rPr lang="en-US" sz="4400" dirty="0"/>
              <a:t>Symptoms of Asthma</a:t>
            </a:r>
            <a:endParaRPr lang="en-US" sz="4400" dirty="0"/>
          </a:p>
        </p:txBody>
      </p:sp>
      <p:sp>
        <p:nvSpPr>
          <p:cNvPr id="4" name="Wheezing"/>
          <p:cNvSpPr/>
          <p:nvPr/>
        </p:nvSpPr>
        <p:spPr>
          <a:xfrm>
            <a:off x="838505" y="1828800"/>
            <a:ext cx="2606040" cy="1371600"/>
          </a:xfrm>
          <a:prstGeom prst="rect">
            <a:avLst/>
          </a:prstGeom>
          <a:solidFill>
            <a:srgbClr val="4472C4"/>
          </a:solidFill>
          <a:ln w="12700">
            <a:solidFill>
              <a:srgbClr val="2F528F"/>
            </a:solidFill>
          </a:ln>
        </p:spPr>
        <p:txBody>
          <a:bodyPr wrap="square" rtlCol="0" anchor="ctr"/>
          <a:lstStyle/>
          <a:p>
            <a:pPr algn="ctr" indent="0" marL="0">
              <a:buNone/>
            </a:pPr>
            <a:r>
              <a:rPr lang="en-US" sz="2200" b="1" dirty="0">
                <a:solidFill>
                  <a:srgbClr val="FFFFFF"/>
                </a:solidFill>
              </a:rPr>
              <a:t>Wheezing</a:t>
            </a:r>
            <a:endParaRPr lang="en-US" sz="1800" dirty="0"/>
          </a:p>
          <a:p>
            <a:pPr algn="ctr" indent="0" marL="0">
              <a:buNone/>
            </a:pPr>
            <a:r>
              <a:rPr lang="en-US" sz="1600" dirty="0">
                <a:solidFill>
                  <a:srgbClr val="FFFFFF"/>
                </a:solidFill>
              </a:rPr>
              <a:t>a whistling sound</a:t>
            </a:r>
            <a:endParaRPr lang="en-US" sz="1800" dirty="0"/>
          </a:p>
        </p:txBody>
      </p:sp>
      <p:sp>
        <p:nvSpPr>
          <p:cNvPr id="5" name="Coughing"/>
          <p:cNvSpPr/>
          <p:nvPr/>
        </p:nvSpPr>
        <p:spPr>
          <a:xfrm>
            <a:off x="3581705" y="1828800"/>
            <a:ext cx="2606040" cy="1371600"/>
          </a:xfrm>
          <a:prstGeom prst="rect">
            <a:avLst/>
          </a:prstGeom>
          <a:solidFill>
            <a:srgbClr val="4472C4"/>
          </a:solidFill>
          <a:ln w="12700">
            <a:solidFill>
              <a:srgbClr val="2F528F"/>
            </a:solidFill>
          </a:ln>
        </p:spPr>
        <p:txBody>
          <a:bodyPr wrap="square" rtlCol="0" anchor="ctr"/>
          <a:lstStyle/>
          <a:p>
            <a:pPr algn="ctr" indent="0" marL="0">
              <a:buNone/>
            </a:pPr>
            <a:r>
              <a:rPr lang="en-US" sz="2200" b="1" dirty="0">
                <a:solidFill>
                  <a:srgbClr val="FFFFFF"/>
                </a:solidFill>
              </a:rPr>
              <a:t>Coughing</a:t>
            </a:r>
            <a:endParaRPr lang="en-US" sz="1800" dirty="0"/>
          </a:p>
          <a:p>
            <a:pPr algn="ctr" indent="0" marL="0">
              <a:buNone/>
            </a:pPr>
            <a:r>
              <a:rPr lang="en-US" sz="1600" dirty="0">
                <a:solidFill>
                  <a:srgbClr val="FFFFFF"/>
                </a:solidFill>
              </a:rPr>
              <a:t>often at night</a:t>
            </a:r>
            <a:endParaRPr lang="en-US" sz="1800" dirty="0"/>
          </a:p>
        </p:txBody>
      </p:sp>
      <p:sp>
        <p:nvSpPr>
          <p:cNvPr id="6" name="Chest tightness"/>
          <p:cNvSpPr/>
          <p:nvPr/>
        </p:nvSpPr>
        <p:spPr>
          <a:xfrm>
            <a:off x="838505" y="3337560"/>
            <a:ext cx="2606040" cy="1371600"/>
          </a:xfrm>
          <a:prstGeom prst="rect">
            <a:avLst/>
          </a:prstGeom>
          <a:solidFill>
            <a:srgbClr val="4472C4"/>
          </a:solidFill>
          <a:ln w="12700">
            <a:solidFill>
              <a:srgbClr val="2F528F"/>
            </a:solidFill>
          </a:ln>
        </p:spPr>
        <p:txBody>
          <a:bodyPr wrap="square" rtlCol="0" anchor="ctr"/>
          <a:lstStyle/>
          <a:p>
            <a:pPr algn="ctr" indent="0" marL="0">
              <a:buNone/>
            </a:pPr>
            <a:r>
              <a:rPr lang="en-US" sz="2200" b="1" dirty="0">
                <a:solidFill>
                  <a:srgbClr val="FFFFFF"/>
                </a:solidFill>
              </a:rPr>
              <a:t>Chest tightness</a:t>
            </a:r>
            <a:endParaRPr lang="en-US" sz="1800" dirty="0"/>
          </a:p>
          <a:p>
            <a:pPr algn="ctr" indent="0" marL="0">
              <a:buNone/>
            </a:pPr>
            <a:r>
              <a:rPr lang="en-US" sz="1600" dirty="0">
                <a:solidFill>
                  <a:srgbClr val="FFFFFF"/>
                </a:solidFill>
              </a:rPr>
              <a:t>like a tight band</a:t>
            </a:r>
            <a:endParaRPr lang="en-US" sz="1800" dirty="0"/>
          </a:p>
        </p:txBody>
      </p:sp>
      <p:sp>
        <p:nvSpPr>
          <p:cNvPr id="7" name="Shortness of breath"/>
          <p:cNvSpPr/>
          <p:nvPr/>
        </p:nvSpPr>
        <p:spPr>
          <a:xfrm>
            <a:off x="3581705" y="3337560"/>
            <a:ext cx="2606040" cy="1371600"/>
          </a:xfrm>
          <a:prstGeom prst="rect">
            <a:avLst/>
          </a:prstGeom>
          <a:solidFill>
            <a:srgbClr val="4472C4"/>
          </a:solidFill>
          <a:ln w="12700">
            <a:solidFill>
              <a:srgbClr val="2F528F"/>
            </a:solidFill>
          </a:ln>
        </p:spPr>
        <p:txBody>
          <a:bodyPr wrap="square" rtlCol="0" anchor="ctr"/>
          <a:lstStyle/>
          <a:p>
            <a:pPr algn="ctr" indent="0" marL="0">
              <a:buNone/>
            </a:pPr>
            <a:r>
              <a:rPr lang="en-US" sz="2200" b="1" dirty="0">
                <a:solidFill>
                  <a:srgbClr val="FFFFFF"/>
                </a:solidFill>
              </a:rPr>
              <a:t>Shortness of breath</a:t>
            </a:r>
            <a:endParaRPr lang="en-US" sz="1800" dirty="0"/>
          </a:p>
          <a:p>
            <a:pPr algn="ctr" indent="0" marL="0">
              <a:buNone/>
            </a:pPr>
            <a:r>
              <a:rPr lang="en-US" sz="1600" dirty="0">
                <a:solidFill>
                  <a:srgbClr val="FFFFFF"/>
                </a:solidFill>
              </a:rPr>
              <a:t>can’t get enough air</a:t>
            </a:r>
            <a:endParaRPr lang="en-US" sz="1800" dirty="0"/>
          </a:p>
        </p:txBody>
      </p:sp>
      <p:sp>
        <p:nvSpPr>
          <p:cNvPr id="8" name="Text 5"/>
          <p:cNvSpPr txBox="1"/>
          <p:nvPr/>
        </p:nvSpPr>
        <p:spPr>
          <a:xfrm>
            <a:off x="838505" y="4937760"/>
            <a:ext cx="5349240" cy="548640"/>
          </a:xfrm>
          <a:prstGeom prst="rect">
            <a:avLst/>
          </a:prstGeom>
          <a:noFill/>
          <a:ln/>
        </p:spPr>
        <p:txBody>
          <a:bodyPr wrap="square" rtlCol="0" anchor="t"/>
          <a:lstStyle/>
          <a:p>
            <a:pPr indent="0" marL="0">
              <a:buNone/>
            </a:pPr>
            <a:r>
              <a:rPr lang="en-US" sz="2200" dirty="0">
                <a:solidFill>
                  <a:srgbClr val="000000"/>
                </a:solidFill>
              </a:rPr>
              <a:t>Key word: </a:t>
            </a:r>
            <a:r>
              <a:rPr lang="en-US" sz="2200" b="1" dirty="0">
                <a:solidFill>
                  <a:srgbClr val="000000"/>
                </a:solidFill>
              </a:rPr>
              <a:t>variable</a:t>
            </a:r>
            <a:r>
              <a:rPr lang="en-US" sz="2200" dirty="0">
                <a:solidFill>
                  <a:srgbClr val="000000"/>
                </a:solidFill>
              </a:rPr>
              <a:t> – symptoms come and go</a:t>
            </a:r>
            <a:endParaRPr lang="en-US" sz="2200" dirty="0"/>
          </a:p>
        </p:txBody>
      </p:sp>
      <p:sp>
        <p:nvSpPr>
          <p:cNvPr id="9" name="Text 6"/>
          <p:cNvSpPr txBox="1"/>
          <p:nvPr/>
        </p:nvSpPr>
        <p:spPr>
          <a:xfrm>
            <a:off x="6675120" y="1828800"/>
            <a:ext cx="4681728" cy="457200"/>
          </a:xfrm>
          <a:prstGeom prst="rect">
            <a:avLst/>
          </a:prstGeom>
          <a:noFill/>
          <a:ln/>
        </p:spPr>
        <p:txBody>
          <a:bodyPr wrap="square" rtlCol="0" anchor="t"/>
          <a:lstStyle/>
          <a:p>
            <a:pPr indent="0" marL="0">
              <a:buNone/>
            </a:pPr>
            <a:r>
              <a:rPr lang="en-US" sz="2200" b="1" dirty="0">
                <a:solidFill>
                  <a:srgbClr val="000000"/>
                </a:solidFill>
              </a:rPr>
              <a:t>Danger signs of a severe attack</a:t>
            </a:r>
            <a:endParaRPr lang="en-US" sz="2200" dirty="0"/>
          </a:p>
        </p:txBody>
      </p:sp>
      <p:sp>
        <p:nvSpPr>
          <p:cNvPr id="10" name="Text 7"/>
          <p:cNvSpPr txBox="1"/>
          <p:nvPr/>
        </p:nvSpPr>
        <p:spPr>
          <a:xfrm>
            <a:off x="6675120" y="2377440"/>
            <a:ext cx="4681728" cy="1554480"/>
          </a:xfrm>
          <a:prstGeom prst="rect">
            <a:avLst/>
          </a:prstGeom>
          <a:noFill/>
          <a:ln/>
        </p:spPr>
        <p:txBody>
          <a:bodyPr wrap="square" rtlCol="0" anchor="t"/>
          <a:lstStyle/>
          <a:p>
            <a:pPr marL="342900" indent="-342900">
              <a:spcAft>
                <a:spcPts val="600"/>
              </a:spcAft>
              <a:buSzPct val="100000"/>
              <a:buChar char="•"/>
            </a:pPr>
            <a:r>
              <a:rPr lang="en-US" sz="2000" dirty="0">
                <a:solidFill>
                  <a:srgbClr val="000000"/>
                </a:solidFill>
              </a:rPr>
              <a:t>Can’t finish a sentence</a:t>
            </a:r>
            <a:endParaRPr lang="en-US" sz="2000" dirty="0"/>
          </a:p>
          <a:p>
            <a:pPr marL="342900" indent="-342900">
              <a:spcAft>
                <a:spcPts val="600"/>
              </a:spcAft>
              <a:buSzPct val="100000"/>
              <a:buChar char="•"/>
            </a:pPr>
            <a:r>
              <a:rPr lang="en-US" sz="2000" dirty="0">
                <a:solidFill>
                  <a:srgbClr val="000000"/>
                </a:solidFill>
              </a:rPr>
              <a:t>Lips turn blue</a:t>
            </a:r>
            <a:endParaRPr lang="en-US" sz="2000" dirty="0"/>
          </a:p>
          <a:p>
            <a:pPr marL="342900" indent="-342900">
              <a:spcAft>
                <a:spcPts val="600"/>
              </a:spcAft>
              <a:buSzPct val="100000"/>
              <a:buChar char="•"/>
            </a:pPr>
            <a:r>
              <a:rPr lang="en-US" sz="2000" dirty="0">
                <a:solidFill>
                  <a:srgbClr val="000000"/>
                </a:solidFill>
              </a:rPr>
              <a:t>The reliever inhaler doesn’t help</a:t>
            </a:r>
            <a:endParaRPr lang="en-US" sz="2000" dirty="0"/>
          </a:p>
        </p:txBody>
      </p:sp>
      <p:sp>
        <p:nvSpPr>
          <p:cNvPr id="11" name="Text 8"/>
          <p:cNvSpPr txBox="1"/>
          <p:nvPr/>
        </p:nvSpPr>
        <p:spPr>
          <a:xfrm>
            <a:off x="6675120" y="4023360"/>
            <a:ext cx="4681728" cy="914400"/>
          </a:xfrm>
          <a:prstGeom prst="rect">
            <a:avLst/>
          </a:prstGeom>
          <a:noFill/>
          <a:ln/>
        </p:spPr>
        <p:txBody>
          <a:bodyPr wrap="square" rtlCol="0" anchor="t"/>
          <a:lstStyle/>
          <a:p>
            <a:pPr indent="0" marL="0">
              <a:buNone/>
            </a:pPr>
            <a:r>
              <a:rPr lang="en-US" sz="2000" b="1" dirty="0">
                <a:solidFill>
                  <a:srgbClr val="000000"/>
                </a:solidFill>
              </a:rPr>
              <a:t>→ This is an emergency: call for help immediately!</a:t>
            </a:r>
            <a:endParaRPr lang="en-US" sz="2000" dirty="0"/>
          </a:p>
        </p:txBody>
      </p:sp>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ph idx="100" type="title"/>
          </p:nvPr>
        </p:nvSpPr>
        <p:spPr>
          <a:xfrm>
            <a:off x="838505" y="365760"/>
            <a:ext cx="10515600" cy="1325880"/>
          </a:xfrm>
          <a:prstGeom prst="rect">
            <a:avLst/>
          </a:prstGeom>
          <a:noFill/>
          <a:ln/>
        </p:spPr>
        <p:txBody>
          <a:bodyPr wrap="square" rtlCol="0" anchor="ctr"/>
          <a:lstStyle/>
          <a:p>
            <a:pPr algn="l" indent="0" marL="0">
              <a:buNone/>
            </a:pPr>
            <a:r>
              <a:rPr lang="en-US" sz="4400" dirty="0"/>
              <a:t>Back to Mr. Rahimi</a:t>
            </a:r>
            <a:endParaRPr lang="en-US" sz="4400" dirty="0"/>
          </a:p>
        </p:txBody>
      </p:sp>
      <p:sp>
        <p:nvSpPr>
          <p:cNvPr id="4" name="Text 0"/>
          <p:cNvSpPr/>
          <p:nvPr>
            <p:ph idx="101" type="body"/>
          </p:nvPr>
        </p:nvSpPr>
        <p:spPr>
          <a:xfrm>
            <a:off x="838505" y="1826057"/>
            <a:ext cx="5181905" cy="4351630"/>
          </a:xfrm>
          <a:prstGeom prst="rect">
            <a:avLst/>
          </a:prstGeom>
          <a:noFill/>
          <a:ln/>
        </p:spPr>
        <p:txBody>
          <a:bodyPr wrap="square" rtlCol="0" anchor="t"/>
          <a:lstStyle/>
          <a:p>
            <a:pPr marL="342900" indent="-342900">
              <a:buSzPct val="100000"/>
              <a:buChar char="•"/>
            </a:pPr>
            <a:r>
              <a:rPr lang="en-US" sz="2200" dirty="0">
                <a:solidFill>
                  <a:srgbClr val="000000"/>
                </a:solidFill>
              </a:rPr>
              <a:t>66 years old, retired taxi driver</a:t>
            </a:r>
            <a:endParaRPr lang="en-US" sz="2400" dirty="0"/>
          </a:p>
          <a:p>
            <a:pPr marL="342900" indent="-342900">
              <a:buSzPct val="100000"/>
              <a:buChar char="•"/>
            </a:pPr>
            <a:r>
              <a:rPr lang="en-US" sz="2200" dirty="0">
                <a:solidFill>
                  <a:srgbClr val="000000"/>
                </a:solidFill>
              </a:rPr>
              <a:t>Smoked 1 pack a day for 40 years</a:t>
            </a:r>
            <a:endParaRPr lang="en-US" sz="2400" dirty="0"/>
          </a:p>
          <a:p>
            <a:pPr marL="342900" indent="-342900">
              <a:buSzPct val="100000"/>
              <a:buChar char="•"/>
            </a:pPr>
            <a:r>
              <a:rPr lang="en-US" sz="2200" dirty="0">
                <a:solidFill>
                  <a:srgbClr val="000000"/>
                </a:solidFill>
              </a:rPr>
              <a:t>Coughs up phlegm every morning</a:t>
            </a:r>
            <a:endParaRPr lang="en-US" sz="2400" dirty="0"/>
          </a:p>
          <a:p>
            <a:pPr marL="342900" indent="-342900">
              <a:buSzPct val="100000"/>
              <a:buChar char="•"/>
            </a:pPr>
            <a:r>
              <a:rPr lang="en-US" sz="2200" dirty="0">
                <a:solidFill>
                  <a:srgbClr val="000000"/>
                </a:solidFill>
              </a:rPr>
              <a:t>Breathless on stairs, now even on flat ground</a:t>
            </a:r>
            <a:endParaRPr lang="en-US" sz="2400" dirty="0"/>
          </a:p>
          <a:p>
            <a:pPr marL="342900" indent="-342900">
              <a:buSzPct val="100000"/>
              <a:buChar char="•"/>
            </a:pPr>
            <a:r>
              <a:rPr lang="en-US" sz="2200" dirty="0">
                <a:solidFill>
                  <a:srgbClr val="000000"/>
                </a:solidFill>
              </a:rPr>
              <a:t>Slowly getting worse, year after year</a:t>
            </a:r>
            <a:endParaRPr lang="en-US" sz="2400" dirty="0"/>
          </a:p>
          <a:p>
            <a:pPr indent="0" marL="0">
              <a:buNone/>
            </a:pPr>
            <a:r>
              <a:rPr lang="en-US" sz="2200" i="1" dirty="0">
                <a:solidFill>
                  <a:srgbClr val="000000"/>
                </a:solidFill>
              </a:rPr>
              <a:t>What is happening in his lungs?</a:t>
            </a:r>
            <a:endParaRPr lang="en-US" sz="2400" dirty="0"/>
          </a:p>
        </p:txBody>
      </p:sp>
      <p:pic>
        <p:nvPicPr>
          <p:cNvPr id="5" name="Picture placeholder 5" descr="PICTURE NEEDED: The same older man as on slide 2 (Mr. Rahimi), coughing or out of breath. Search: older man coughing">    </p:cNvPr>
          <p:cNvPicPr>
            <a:picLocks noChangeAspect="1"/>
          </p:cNvPicPr>
          <p:nvPr/>
        </p:nvPicPr>
        <p:blipFill>
          <a:blip r:embed="rId1"/>
          <a:stretch>
            <a:fillRect/>
          </a:stretch>
        </p:blipFill>
        <p:spPr>
          <a:xfrm>
            <a:off x="6172200" y="1826057"/>
            <a:ext cx="5181905" cy="3886200"/>
          </a:xfrm>
          <a:prstGeom prst="rect">
            <a:avLst/>
          </a:prstGeom>
        </p:spPr>
      </p:pic>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p:nvPr>
            <p:ph idx="100" type="title"/>
          </p:nvPr>
        </p:nvSpPr>
        <p:spPr>
          <a:xfrm>
            <a:off x="838505" y="365760"/>
            <a:ext cx="10515600" cy="1325880"/>
          </a:xfrm>
          <a:prstGeom prst="rect">
            <a:avLst/>
          </a:prstGeom>
          <a:noFill/>
          <a:ln/>
        </p:spPr>
        <p:txBody>
          <a:bodyPr wrap="square" rtlCol="0" anchor="ctr"/>
          <a:lstStyle/>
          <a:p>
            <a:pPr algn="l" indent="0" marL="0">
              <a:buNone/>
            </a:pPr>
            <a:r>
              <a:rPr lang="en-US" sz="4400" dirty="0"/>
              <a:t>COPD, Letter by Letter</a:t>
            </a:r>
            <a:endParaRPr lang="en-US" sz="4400" dirty="0"/>
          </a:p>
        </p:txBody>
      </p:sp>
      <p:sp>
        <p:nvSpPr>
          <p:cNvPr id="4" name="Letter C"/>
          <p:cNvSpPr/>
          <p:nvPr/>
        </p:nvSpPr>
        <p:spPr>
          <a:xfrm>
            <a:off x="1581455" y="1828800"/>
            <a:ext cx="1143000" cy="1143000"/>
          </a:xfrm>
          <a:prstGeom prst="rect">
            <a:avLst/>
          </a:prstGeom>
          <a:solidFill>
            <a:srgbClr val="4472C4"/>
          </a:solidFill>
          <a:ln w="12700">
            <a:solidFill>
              <a:srgbClr val="2F528F"/>
            </a:solidFill>
          </a:ln>
        </p:spPr>
        <p:txBody>
          <a:bodyPr wrap="square" rtlCol="0" anchor="ctr"/>
          <a:lstStyle/>
          <a:p>
            <a:pPr algn="ctr" indent="0" marL="0">
              <a:buNone/>
            </a:pPr>
            <a:r>
              <a:rPr lang="en-US" sz="4800" b="1" dirty="0">
                <a:solidFill>
                  <a:srgbClr val="FFFFFF"/>
                </a:solidFill>
              </a:rPr>
              <a:t>C</a:t>
            </a:r>
            <a:endParaRPr lang="en-US" sz="1800" dirty="0"/>
          </a:p>
        </p:txBody>
      </p:sp>
      <p:sp>
        <p:nvSpPr>
          <p:cNvPr id="5" name="Text 2"/>
          <p:cNvSpPr txBox="1"/>
          <p:nvPr/>
        </p:nvSpPr>
        <p:spPr>
          <a:xfrm>
            <a:off x="872795" y="3063240"/>
            <a:ext cx="2560320" cy="868680"/>
          </a:xfrm>
          <a:prstGeom prst="rect">
            <a:avLst/>
          </a:prstGeom>
          <a:noFill/>
          <a:ln/>
        </p:spPr>
        <p:txBody>
          <a:bodyPr wrap="square" rtlCol="0" anchor="t"/>
          <a:lstStyle/>
          <a:p>
            <a:pPr algn="ctr" indent="0" marL="0">
              <a:buNone/>
            </a:pPr>
            <a:r>
              <a:rPr lang="en-US" sz="2400" b="1" dirty="0">
                <a:solidFill>
                  <a:srgbClr val="000000"/>
                </a:solidFill>
              </a:rPr>
              <a:t>Chronic</a:t>
            </a:r>
            <a:endParaRPr lang="en-US" sz="2000" dirty="0"/>
          </a:p>
          <a:p>
            <a:pPr algn="ctr" indent="0" marL="0">
              <a:buNone/>
            </a:pPr>
            <a:r>
              <a:rPr lang="en-US" sz="1800" dirty="0">
                <a:solidFill>
                  <a:srgbClr val="000000"/>
                </a:solidFill>
              </a:rPr>
              <a:t>long-lasting</a:t>
            </a:r>
            <a:endParaRPr lang="en-US" sz="2000" dirty="0"/>
          </a:p>
        </p:txBody>
      </p:sp>
      <p:sp>
        <p:nvSpPr>
          <p:cNvPr id="6" name="Letter O"/>
          <p:cNvSpPr/>
          <p:nvPr/>
        </p:nvSpPr>
        <p:spPr>
          <a:xfrm>
            <a:off x="4210355" y="1828800"/>
            <a:ext cx="1143000" cy="1143000"/>
          </a:xfrm>
          <a:prstGeom prst="rect">
            <a:avLst/>
          </a:prstGeom>
          <a:solidFill>
            <a:srgbClr val="4472C4"/>
          </a:solidFill>
          <a:ln w="12700">
            <a:solidFill>
              <a:srgbClr val="2F528F"/>
            </a:solidFill>
          </a:ln>
        </p:spPr>
        <p:txBody>
          <a:bodyPr wrap="square" rtlCol="0" anchor="ctr"/>
          <a:lstStyle/>
          <a:p>
            <a:pPr algn="ctr" indent="0" marL="0">
              <a:buNone/>
            </a:pPr>
            <a:r>
              <a:rPr lang="en-US" sz="4800" b="1" dirty="0">
                <a:solidFill>
                  <a:srgbClr val="FFFFFF"/>
                </a:solidFill>
              </a:rPr>
              <a:t>O</a:t>
            </a:r>
            <a:endParaRPr lang="en-US" sz="1800" dirty="0"/>
          </a:p>
        </p:txBody>
      </p:sp>
      <p:sp>
        <p:nvSpPr>
          <p:cNvPr id="7" name="Text 4"/>
          <p:cNvSpPr txBox="1"/>
          <p:nvPr/>
        </p:nvSpPr>
        <p:spPr>
          <a:xfrm>
            <a:off x="3501695" y="3063240"/>
            <a:ext cx="2560320" cy="868680"/>
          </a:xfrm>
          <a:prstGeom prst="rect">
            <a:avLst/>
          </a:prstGeom>
          <a:noFill/>
          <a:ln/>
        </p:spPr>
        <p:txBody>
          <a:bodyPr wrap="square" rtlCol="0" anchor="t"/>
          <a:lstStyle/>
          <a:p>
            <a:pPr algn="ctr" indent="0" marL="0">
              <a:buNone/>
            </a:pPr>
            <a:r>
              <a:rPr lang="en-US" sz="2400" b="1" dirty="0">
                <a:solidFill>
                  <a:srgbClr val="000000"/>
                </a:solidFill>
              </a:rPr>
              <a:t>Obstructive</a:t>
            </a:r>
            <a:endParaRPr lang="en-US" sz="2000" dirty="0"/>
          </a:p>
          <a:p>
            <a:pPr algn="ctr" indent="0" marL="0">
              <a:buNone/>
            </a:pPr>
            <a:r>
              <a:rPr lang="en-US" sz="1800" dirty="0">
                <a:solidFill>
                  <a:srgbClr val="000000"/>
                </a:solidFill>
              </a:rPr>
              <a:t>blocking the airflow</a:t>
            </a:r>
            <a:endParaRPr lang="en-US" sz="2000" dirty="0"/>
          </a:p>
        </p:txBody>
      </p:sp>
      <p:sp>
        <p:nvSpPr>
          <p:cNvPr id="8" name="Letter P"/>
          <p:cNvSpPr/>
          <p:nvPr/>
        </p:nvSpPr>
        <p:spPr>
          <a:xfrm>
            <a:off x="6839255" y="1828800"/>
            <a:ext cx="1143000" cy="1143000"/>
          </a:xfrm>
          <a:prstGeom prst="rect">
            <a:avLst/>
          </a:prstGeom>
          <a:solidFill>
            <a:srgbClr val="4472C4"/>
          </a:solidFill>
          <a:ln w="12700">
            <a:solidFill>
              <a:srgbClr val="2F528F"/>
            </a:solidFill>
          </a:ln>
        </p:spPr>
        <p:txBody>
          <a:bodyPr wrap="square" rtlCol="0" anchor="ctr"/>
          <a:lstStyle/>
          <a:p>
            <a:pPr algn="ctr" indent="0" marL="0">
              <a:buNone/>
            </a:pPr>
            <a:r>
              <a:rPr lang="en-US" sz="4800" b="1" dirty="0">
                <a:solidFill>
                  <a:srgbClr val="FFFFFF"/>
                </a:solidFill>
              </a:rPr>
              <a:t>P</a:t>
            </a:r>
            <a:endParaRPr lang="en-US" sz="1800" dirty="0"/>
          </a:p>
        </p:txBody>
      </p:sp>
      <p:sp>
        <p:nvSpPr>
          <p:cNvPr id="9" name="Text 6"/>
          <p:cNvSpPr txBox="1"/>
          <p:nvPr/>
        </p:nvSpPr>
        <p:spPr>
          <a:xfrm>
            <a:off x="6130595" y="3063240"/>
            <a:ext cx="2560320" cy="868680"/>
          </a:xfrm>
          <a:prstGeom prst="rect">
            <a:avLst/>
          </a:prstGeom>
          <a:noFill/>
          <a:ln/>
        </p:spPr>
        <p:txBody>
          <a:bodyPr wrap="square" rtlCol="0" anchor="t"/>
          <a:lstStyle/>
          <a:p>
            <a:pPr algn="ctr" indent="0" marL="0">
              <a:buNone/>
            </a:pPr>
            <a:r>
              <a:rPr lang="en-US" sz="2400" b="1" dirty="0">
                <a:solidFill>
                  <a:srgbClr val="000000"/>
                </a:solidFill>
              </a:rPr>
              <a:t>Pulmonary</a:t>
            </a:r>
            <a:endParaRPr lang="en-US" sz="2000" dirty="0"/>
          </a:p>
          <a:p>
            <a:pPr algn="ctr" indent="0" marL="0">
              <a:buNone/>
            </a:pPr>
            <a:r>
              <a:rPr lang="en-US" sz="1800" dirty="0">
                <a:solidFill>
                  <a:srgbClr val="000000"/>
                </a:solidFill>
              </a:rPr>
              <a:t>of the lungs</a:t>
            </a:r>
            <a:endParaRPr lang="en-US" sz="2000" dirty="0"/>
          </a:p>
        </p:txBody>
      </p:sp>
      <p:sp>
        <p:nvSpPr>
          <p:cNvPr id="10" name="Letter D"/>
          <p:cNvSpPr/>
          <p:nvPr/>
        </p:nvSpPr>
        <p:spPr>
          <a:xfrm>
            <a:off x="9468155" y="1828800"/>
            <a:ext cx="1143000" cy="1143000"/>
          </a:xfrm>
          <a:prstGeom prst="rect">
            <a:avLst/>
          </a:prstGeom>
          <a:solidFill>
            <a:srgbClr val="4472C4"/>
          </a:solidFill>
          <a:ln w="12700">
            <a:solidFill>
              <a:srgbClr val="2F528F"/>
            </a:solidFill>
          </a:ln>
        </p:spPr>
        <p:txBody>
          <a:bodyPr wrap="square" rtlCol="0" anchor="ctr"/>
          <a:lstStyle/>
          <a:p>
            <a:pPr algn="ctr" indent="0" marL="0">
              <a:buNone/>
            </a:pPr>
            <a:r>
              <a:rPr lang="en-US" sz="4800" b="1" dirty="0">
                <a:solidFill>
                  <a:srgbClr val="FFFFFF"/>
                </a:solidFill>
              </a:rPr>
              <a:t>D</a:t>
            </a:r>
            <a:endParaRPr lang="en-US" sz="1800" dirty="0"/>
          </a:p>
        </p:txBody>
      </p:sp>
      <p:sp>
        <p:nvSpPr>
          <p:cNvPr id="11" name="Text 8"/>
          <p:cNvSpPr txBox="1"/>
          <p:nvPr/>
        </p:nvSpPr>
        <p:spPr>
          <a:xfrm>
            <a:off x="8759495" y="3063240"/>
            <a:ext cx="2560320" cy="868680"/>
          </a:xfrm>
          <a:prstGeom prst="rect">
            <a:avLst/>
          </a:prstGeom>
          <a:noFill/>
          <a:ln/>
        </p:spPr>
        <p:txBody>
          <a:bodyPr wrap="square" rtlCol="0" anchor="t"/>
          <a:lstStyle/>
          <a:p>
            <a:pPr algn="ctr" indent="0" marL="0">
              <a:buNone/>
            </a:pPr>
            <a:r>
              <a:rPr lang="en-US" sz="2400" b="1" dirty="0">
                <a:solidFill>
                  <a:srgbClr val="000000"/>
                </a:solidFill>
              </a:rPr>
              <a:t>Disease</a:t>
            </a:r>
            <a:endParaRPr lang="en-US" sz="2000" dirty="0"/>
          </a:p>
          <a:p>
            <a:pPr algn="ctr" indent="0" marL="0">
              <a:buNone/>
            </a:pPr>
            <a:r>
              <a:rPr lang="en-US" sz="1800" dirty="0">
                <a:solidFill>
                  <a:srgbClr val="000000"/>
                </a:solidFill>
              </a:rPr>
              <a:t>an illness</a:t>
            </a:r>
            <a:endParaRPr lang="en-US" sz="2000" dirty="0"/>
          </a:p>
        </p:txBody>
      </p:sp>
      <p:sp>
        <p:nvSpPr>
          <p:cNvPr id="12" name="Text 9"/>
          <p:cNvSpPr txBox="1"/>
          <p:nvPr/>
        </p:nvSpPr>
        <p:spPr>
          <a:xfrm>
            <a:off x="838505" y="4023360"/>
            <a:ext cx="10515600" cy="457200"/>
          </a:xfrm>
          <a:prstGeom prst="rect">
            <a:avLst/>
          </a:prstGeom>
          <a:noFill/>
          <a:ln/>
        </p:spPr>
        <p:txBody>
          <a:bodyPr wrap="square" rtlCol="0" anchor="t"/>
          <a:lstStyle/>
          <a:p>
            <a:pPr algn="ctr" indent="0" marL="0">
              <a:buNone/>
            </a:pPr>
            <a:r>
              <a:rPr lang="en-US" sz="2200" i="1" dirty="0">
                <a:solidFill>
                  <a:srgbClr val="000000"/>
                </a:solidFill>
              </a:rPr>
              <a:t>A long-lasting lung disease that blocks the airflow</a:t>
            </a:r>
            <a:endParaRPr lang="en-US" sz="2200" dirty="0"/>
          </a:p>
        </p:txBody>
      </p:sp>
      <p:sp>
        <p:nvSpPr>
          <p:cNvPr id="13" name="Text 10"/>
          <p:cNvSpPr txBox="1"/>
          <p:nvPr/>
        </p:nvSpPr>
        <p:spPr>
          <a:xfrm>
            <a:off x="838505" y="4572000"/>
            <a:ext cx="2011680" cy="457200"/>
          </a:xfrm>
          <a:prstGeom prst="rect">
            <a:avLst/>
          </a:prstGeom>
          <a:noFill/>
          <a:ln/>
        </p:spPr>
        <p:txBody>
          <a:bodyPr wrap="square" rtlCol="0" anchor="t"/>
          <a:lstStyle/>
          <a:p>
            <a:pPr indent="0" marL="0">
              <a:buNone/>
            </a:pPr>
            <a:r>
              <a:rPr lang="en-US" sz="2200" b="1" dirty="0">
                <a:solidFill>
                  <a:srgbClr val="000000"/>
                </a:solidFill>
              </a:rPr>
              <a:t>Key facts</a:t>
            </a:r>
            <a:endParaRPr lang="en-US" sz="2000" dirty="0"/>
          </a:p>
        </p:txBody>
      </p:sp>
      <p:sp>
        <p:nvSpPr>
          <p:cNvPr id="14" name="Text 11"/>
          <p:cNvSpPr txBox="1"/>
          <p:nvPr/>
        </p:nvSpPr>
        <p:spPr>
          <a:xfrm>
            <a:off x="2743200" y="4572000"/>
            <a:ext cx="8595360" cy="1463040"/>
          </a:xfrm>
          <a:prstGeom prst="rect">
            <a:avLst/>
          </a:prstGeom>
          <a:noFill/>
          <a:ln/>
        </p:spPr>
        <p:txBody>
          <a:bodyPr wrap="square" rtlCol="0" anchor="t"/>
          <a:lstStyle/>
          <a:p>
            <a:pPr marL="342900" indent="-342900">
              <a:spcAft>
                <a:spcPts val="600"/>
              </a:spcAft>
              <a:buSzPct val="100000"/>
              <a:buChar char="•"/>
            </a:pPr>
            <a:r>
              <a:rPr lang="en-US" sz="2000" dirty="0">
                <a:solidFill>
                  <a:srgbClr val="000000"/>
                </a:solidFill>
              </a:rPr>
              <a:t>Not fully reversible</a:t>
            </a:r>
            <a:endParaRPr lang="en-US" sz="2000" dirty="0"/>
          </a:p>
          <a:p>
            <a:pPr marL="342900" indent="-342900">
              <a:spcAft>
                <a:spcPts val="600"/>
              </a:spcAft>
              <a:buSzPct val="100000"/>
              <a:buChar char="•"/>
            </a:pPr>
            <a:r>
              <a:rPr lang="en-US" sz="2000" dirty="0">
                <a:solidFill>
                  <a:srgbClr val="000000"/>
                </a:solidFill>
              </a:rPr>
              <a:t>Progressive: slowly gets worse</a:t>
            </a:r>
            <a:endParaRPr lang="en-US" sz="2000" dirty="0"/>
          </a:p>
          <a:p>
            <a:pPr marL="342900" indent="-342900">
              <a:spcAft>
                <a:spcPts val="600"/>
              </a:spcAft>
              <a:buSzPct val="100000"/>
              <a:buChar char="•"/>
            </a:pPr>
            <a:r>
              <a:rPr lang="en-US" sz="2000" dirty="0">
                <a:solidFill>
                  <a:srgbClr val="000000"/>
                </a:solidFill>
              </a:rPr>
              <a:t>Usually starts after age 40</a:t>
            </a:r>
            <a:endParaRPr lang="en-US" sz="2000" dirty="0"/>
          </a:p>
        </p:txBody>
      </p:sp>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ph idx="100" type="title"/>
          </p:nvPr>
        </p:nvSpPr>
        <p:spPr>
          <a:xfrm>
            <a:off x="838505" y="365760"/>
            <a:ext cx="10515600" cy="1325880"/>
          </a:xfrm>
          <a:prstGeom prst="rect">
            <a:avLst/>
          </a:prstGeom>
          <a:noFill/>
          <a:ln/>
        </p:spPr>
        <p:txBody>
          <a:bodyPr wrap="square" rtlCol="0" anchor="ctr"/>
          <a:lstStyle/>
          <a:p>
            <a:pPr algn="l" indent="0" marL="0">
              <a:buNone/>
            </a:pPr>
            <a:r>
              <a:rPr lang="en-US" sz="4400" dirty="0"/>
              <a:t>Two Types of COPD</a:t>
            </a:r>
            <a:endParaRPr lang="en-US" sz="4400" dirty="0"/>
          </a:p>
        </p:txBody>
      </p:sp>
      <p:sp>
        <p:nvSpPr>
          <p:cNvPr id="4" name="Text 1"/>
          <p:cNvSpPr txBox="1"/>
          <p:nvPr/>
        </p:nvSpPr>
        <p:spPr>
          <a:xfrm>
            <a:off x="838505" y="1737360"/>
            <a:ext cx="5029200" cy="457200"/>
          </a:xfrm>
          <a:prstGeom prst="rect">
            <a:avLst/>
          </a:prstGeom>
          <a:noFill/>
          <a:ln/>
        </p:spPr>
        <p:txBody>
          <a:bodyPr wrap="square" rtlCol="0" anchor="t"/>
          <a:lstStyle/>
          <a:p>
            <a:pPr indent="0" marL="0">
              <a:buNone/>
            </a:pPr>
            <a:r>
              <a:rPr lang="en-US" sz="2400" b="1" dirty="0">
                <a:solidFill>
                  <a:srgbClr val="000000"/>
                </a:solidFill>
              </a:rPr>
              <a:t>Chronic bronchitis: the tubes</a:t>
            </a:r>
            <a:endParaRPr lang="en-US" sz="2400" dirty="0"/>
          </a:p>
        </p:txBody>
      </p:sp>
      <p:sp>
        <p:nvSpPr>
          <p:cNvPr id="5" name="Text 2"/>
          <p:cNvSpPr txBox="1"/>
          <p:nvPr/>
        </p:nvSpPr>
        <p:spPr>
          <a:xfrm>
            <a:off x="6324905" y="1737360"/>
            <a:ext cx="5029200" cy="457200"/>
          </a:xfrm>
          <a:prstGeom prst="rect">
            <a:avLst/>
          </a:prstGeom>
          <a:noFill/>
          <a:ln/>
        </p:spPr>
        <p:txBody>
          <a:bodyPr wrap="square" rtlCol="0" anchor="t"/>
          <a:lstStyle/>
          <a:p>
            <a:pPr indent="0" marL="0">
              <a:buNone/>
            </a:pPr>
            <a:r>
              <a:rPr lang="en-US" sz="2400" b="1" dirty="0">
                <a:solidFill>
                  <a:srgbClr val="000000"/>
                </a:solidFill>
              </a:rPr>
              <a:t>Emphysema: the air sacs</a:t>
            </a:r>
            <a:endParaRPr lang="en-US" sz="2400" dirty="0"/>
          </a:p>
        </p:txBody>
      </p:sp>
      <p:sp>
        <p:nvSpPr>
          <p:cNvPr id="6" name="Bronchitis airway muscle"/>
          <p:cNvSpPr/>
          <p:nvPr/>
        </p:nvSpPr>
        <p:spPr>
          <a:xfrm>
            <a:off x="2530145" y="2377440"/>
            <a:ext cx="1645920" cy="1645920"/>
          </a:xfrm>
          <a:prstGeom prst="ellipse">
            <a:avLst/>
          </a:prstGeom>
          <a:solidFill>
            <a:srgbClr val="4472C4"/>
          </a:solidFill>
          <a:ln w="12700">
            <a:solidFill>
              <a:srgbClr val="2F528F"/>
            </a:solidFill>
            <a:prstDash val="solid"/>
          </a:ln>
        </p:spPr>
      </p:sp>
      <p:sp>
        <p:nvSpPr>
          <p:cNvPr id="7" name="Bronchitis airway wall"/>
          <p:cNvSpPr/>
          <p:nvPr/>
        </p:nvSpPr>
        <p:spPr>
          <a:xfrm>
            <a:off x="2644445" y="2491740"/>
            <a:ext cx="1417320" cy="1417320"/>
          </a:xfrm>
          <a:prstGeom prst="ellipse">
            <a:avLst/>
          </a:prstGeom>
          <a:solidFill>
            <a:srgbClr val="B4C7E7"/>
          </a:solidFill>
          <a:ln w="9525">
            <a:solidFill>
              <a:srgbClr val="2F528F"/>
            </a:solidFill>
            <a:prstDash val="solid"/>
          </a:ln>
        </p:spPr>
      </p:sp>
      <p:sp>
        <p:nvSpPr>
          <p:cNvPr id="8" name="Bronchitis airway open space"/>
          <p:cNvSpPr/>
          <p:nvPr/>
        </p:nvSpPr>
        <p:spPr>
          <a:xfrm>
            <a:off x="3033065" y="2880360"/>
            <a:ext cx="640080" cy="640080"/>
          </a:xfrm>
          <a:prstGeom prst="ellipse">
            <a:avLst/>
          </a:prstGeom>
          <a:solidFill>
            <a:srgbClr val="FFFFFF"/>
          </a:solidFill>
          <a:ln w="9525">
            <a:solidFill>
              <a:srgbClr val="2F528F"/>
            </a:solidFill>
            <a:prstDash val="solid"/>
          </a:ln>
        </p:spPr>
      </p:sp>
      <p:sp>
        <p:nvSpPr>
          <p:cNvPr id="9" name="Bronchitis airway mucus 1"/>
          <p:cNvSpPr/>
          <p:nvPr/>
        </p:nvSpPr>
        <p:spPr>
          <a:xfrm>
            <a:off x="3133649" y="3008376"/>
            <a:ext cx="164592" cy="164592"/>
          </a:xfrm>
          <a:prstGeom prst="ellipse">
            <a:avLst/>
          </a:prstGeom>
          <a:solidFill>
            <a:srgbClr val="A5A5A5"/>
          </a:solidFill>
          <a:ln w="9525">
            <a:solidFill>
              <a:srgbClr val="7F7F7F"/>
            </a:solidFill>
            <a:prstDash val="solid"/>
          </a:ln>
        </p:spPr>
      </p:sp>
      <p:sp>
        <p:nvSpPr>
          <p:cNvPr id="10" name="Bronchitis airway mucus 2"/>
          <p:cNvSpPr/>
          <p:nvPr/>
        </p:nvSpPr>
        <p:spPr>
          <a:xfrm>
            <a:off x="3407969" y="3072384"/>
            <a:ext cx="146304" cy="146304"/>
          </a:xfrm>
          <a:prstGeom prst="ellipse">
            <a:avLst/>
          </a:prstGeom>
          <a:solidFill>
            <a:srgbClr val="A5A5A5"/>
          </a:solidFill>
          <a:ln w="9525">
            <a:solidFill>
              <a:srgbClr val="7F7F7F"/>
            </a:solidFill>
            <a:prstDash val="solid"/>
          </a:ln>
        </p:spPr>
      </p:sp>
      <p:sp>
        <p:nvSpPr>
          <p:cNvPr id="11" name="Bronchitis airway mucus 3"/>
          <p:cNvSpPr/>
          <p:nvPr/>
        </p:nvSpPr>
        <p:spPr>
          <a:xfrm>
            <a:off x="3279953" y="3246120"/>
            <a:ext cx="182880" cy="182880"/>
          </a:xfrm>
          <a:prstGeom prst="ellipse">
            <a:avLst/>
          </a:prstGeom>
          <a:solidFill>
            <a:srgbClr val="A5A5A5"/>
          </a:solidFill>
          <a:ln w="9525">
            <a:solidFill>
              <a:srgbClr val="7F7F7F"/>
            </a:solidFill>
            <a:prstDash val="solid"/>
          </a:ln>
        </p:spPr>
      </p:sp>
      <p:sp>
        <p:nvSpPr>
          <p:cNvPr id="12" name="Bronchitis airway mucus 4"/>
          <p:cNvSpPr/>
          <p:nvPr/>
        </p:nvSpPr>
        <p:spPr>
          <a:xfrm>
            <a:off x="3115361" y="3236976"/>
            <a:ext cx="109728" cy="109728"/>
          </a:xfrm>
          <a:prstGeom prst="ellipse">
            <a:avLst/>
          </a:prstGeom>
          <a:solidFill>
            <a:srgbClr val="A5A5A5"/>
          </a:solidFill>
          <a:ln w="9525">
            <a:solidFill>
              <a:srgbClr val="7F7F7F"/>
            </a:solidFill>
            <a:prstDash val="solid"/>
          </a:ln>
        </p:spPr>
      </p:sp>
      <p:sp>
        <p:nvSpPr>
          <p:cNvPr id="13" name="Bronchitis airway mucus 5"/>
          <p:cNvSpPr/>
          <p:nvPr/>
        </p:nvSpPr>
        <p:spPr>
          <a:xfrm>
            <a:off x="3485693" y="3305556"/>
            <a:ext cx="100584" cy="100584"/>
          </a:xfrm>
          <a:prstGeom prst="ellipse">
            <a:avLst/>
          </a:prstGeom>
          <a:solidFill>
            <a:srgbClr val="A5A5A5"/>
          </a:solidFill>
          <a:ln w="9525">
            <a:solidFill>
              <a:srgbClr val="7F7F7F"/>
            </a:solidFill>
            <a:prstDash val="solid"/>
          </a:ln>
        </p:spPr>
      </p:sp>
      <p:sp>
        <p:nvSpPr>
          <p:cNvPr id="14" name="Text 11"/>
          <p:cNvSpPr txBox="1"/>
          <p:nvPr/>
        </p:nvSpPr>
        <p:spPr>
          <a:xfrm>
            <a:off x="838505" y="4069080"/>
            <a:ext cx="5029200" cy="365760"/>
          </a:xfrm>
          <a:prstGeom prst="rect">
            <a:avLst/>
          </a:prstGeom>
          <a:noFill/>
          <a:ln/>
        </p:spPr>
        <p:txBody>
          <a:bodyPr wrap="square" rtlCol="0" anchor="t"/>
          <a:lstStyle/>
          <a:p>
            <a:pPr algn="ctr" indent="0" marL="0">
              <a:buNone/>
            </a:pPr>
            <a:r>
              <a:rPr lang="en-US" sz="1600" i="1" dirty="0">
                <a:solidFill>
                  <a:srgbClr val="000000"/>
                </a:solidFill>
              </a:rPr>
              <a:t>Swollen wall, lots of mucus</a:t>
            </a:r>
            <a:endParaRPr lang="en-US" sz="1600" dirty="0"/>
          </a:p>
        </p:txBody>
      </p:sp>
      <p:sp>
        <p:nvSpPr>
          <p:cNvPr id="15" name="Healthy bronchiole"/>
          <p:cNvSpPr/>
          <p:nvPr/>
        </p:nvSpPr>
        <p:spPr>
          <a:xfrm>
            <a:off x="7589520" y="2331720"/>
            <a:ext cx="91440" cy="457200"/>
          </a:xfrm>
          <a:prstGeom prst="rect">
            <a:avLst/>
          </a:prstGeom>
          <a:solidFill>
            <a:srgbClr val="4472C4"/>
          </a:solidFill>
          <a:ln w="9525">
            <a:solidFill>
              <a:srgbClr val="2F528F"/>
            </a:solidFill>
            <a:prstDash val="solid"/>
          </a:ln>
        </p:spPr>
      </p:sp>
      <p:sp>
        <p:nvSpPr>
          <p:cNvPr id="16" name="Healthy alveolus 1"/>
          <p:cNvSpPr/>
          <p:nvPr/>
        </p:nvSpPr>
        <p:spPr>
          <a:xfrm>
            <a:off x="7470648" y="2743200"/>
            <a:ext cx="329184" cy="329184"/>
          </a:xfrm>
          <a:prstGeom prst="ellipse">
            <a:avLst/>
          </a:prstGeom>
          <a:solidFill>
            <a:srgbClr val="B4C7E7"/>
          </a:solidFill>
          <a:ln w="19050">
            <a:solidFill>
              <a:srgbClr val="4472C4"/>
            </a:solidFill>
            <a:prstDash val="solid"/>
          </a:ln>
        </p:spPr>
      </p:sp>
      <p:sp>
        <p:nvSpPr>
          <p:cNvPr id="17" name="Healthy alveolus 2"/>
          <p:cNvSpPr/>
          <p:nvPr/>
        </p:nvSpPr>
        <p:spPr>
          <a:xfrm>
            <a:off x="7178040" y="2926080"/>
            <a:ext cx="329184" cy="329184"/>
          </a:xfrm>
          <a:prstGeom prst="ellipse">
            <a:avLst/>
          </a:prstGeom>
          <a:solidFill>
            <a:srgbClr val="B4C7E7"/>
          </a:solidFill>
          <a:ln w="19050">
            <a:solidFill>
              <a:srgbClr val="4472C4"/>
            </a:solidFill>
            <a:prstDash val="solid"/>
          </a:ln>
        </p:spPr>
      </p:sp>
      <p:sp>
        <p:nvSpPr>
          <p:cNvPr id="18" name="Healthy alveolus 3"/>
          <p:cNvSpPr/>
          <p:nvPr/>
        </p:nvSpPr>
        <p:spPr>
          <a:xfrm>
            <a:off x="7763256" y="2926080"/>
            <a:ext cx="329184" cy="329184"/>
          </a:xfrm>
          <a:prstGeom prst="ellipse">
            <a:avLst/>
          </a:prstGeom>
          <a:solidFill>
            <a:srgbClr val="B4C7E7"/>
          </a:solidFill>
          <a:ln w="19050">
            <a:solidFill>
              <a:srgbClr val="4472C4"/>
            </a:solidFill>
            <a:prstDash val="solid"/>
          </a:ln>
        </p:spPr>
      </p:sp>
      <p:sp>
        <p:nvSpPr>
          <p:cNvPr id="19" name="Healthy alveolus 4"/>
          <p:cNvSpPr/>
          <p:nvPr/>
        </p:nvSpPr>
        <p:spPr>
          <a:xfrm>
            <a:off x="7470648" y="3081528"/>
            <a:ext cx="329184" cy="329184"/>
          </a:xfrm>
          <a:prstGeom prst="ellipse">
            <a:avLst/>
          </a:prstGeom>
          <a:solidFill>
            <a:srgbClr val="B4C7E7"/>
          </a:solidFill>
          <a:ln w="19050">
            <a:solidFill>
              <a:srgbClr val="4472C4"/>
            </a:solidFill>
            <a:prstDash val="solid"/>
          </a:ln>
        </p:spPr>
      </p:sp>
      <p:sp>
        <p:nvSpPr>
          <p:cNvPr id="20" name="Healthy alveolus 5"/>
          <p:cNvSpPr/>
          <p:nvPr/>
        </p:nvSpPr>
        <p:spPr>
          <a:xfrm>
            <a:off x="7141464" y="3246120"/>
            <a:ext cx="329184" cy="329184"/>
          </a:xfrm>
          <a:prstGeom prst="ellipse">
            <a:avLst/>
          </a:prstGeom>
          <a:solidFill>
            <a:srgbClr val="B4C7E7"/>
          </a:solidFill>
          <a:ln w="19050">
            <a:solidFill>
              <a:srgbClr val="4472C4"/>
            </a:solidFill>
            <a:prstDash val="solid"/>
          </a:ln>
        </p:spPr>
      </p:sp>
      <p:sp>
        <p:nvSpPr>
          <p:cNvPr id="21" name="Healthy alveolus 6"/>
          <p:cNvSpPr/>
          <p:nvPr/>
        </p:nvSpPr>
        <p:spPr>
          <a:xfrm>
            <a:off x="7799832" y="3246120"/>
            <a:ext cx="329184" cy="329184"/>
          </a:xfrm>
          <a:prstGeom prst="ellipse">
            <a:avLst/>
          </a:prstGeom>
          <a:solidFill>
            <a:srgbClr val="B4C7E7"/>
          </a:solidFill>
          <a:ln w="19050">
            <a:solidFill>
              <a:srgbClr val="4472C4"/>
            </a:solidFill>
            <a:prstDash val="solid"/>
          </a:ln>
        </p:spPr>
      </p:sp>
      <p:sp>
        <p:nvSpPr>
          <p:cNvPr id="22" name="Healthy alveolus 7"/>
          <p:cNvSpPr/>
          <p:nvPr/>
        </p:nvSpPr>
        <p:spPr>
          <a:xfrm>
            <a:off x="7306056" y="3429000"/>
            <a:ext cx="329184" cy="329184"/>
          </a:xfrm>
          <a:prstGeom prst="ellipse">
            <a:avLst/>
          </a:prstGeom>
          <a:solidFill>
            <a:srgbClr val="B4C7E7"/>
          </a:solidFill>
          <a:ln w="19050">
            <a:solidFill>
              <a:srgbClr val="4472C4"/>
            </a:solidFill>
            <a:prstDash val="solid"/>
          </a:ln>
        </p:spPr>
      </p:sp>
      <p:sp>
        <p:nvSpPr>
          <p:cNvPr id="23" name="Healthy alveolus 8"/>
          <p:cNvSpPr/>
          <p:nvPr/>
        </p:nvSpPr>
        <p:spPr>
          <a:xfrm>
            <a:off x="7635240" y="3429000"/>
            <a:ext cx="329184" cy="329184"/>
          </a:xfrm>
          <a:prstGeom prst="ellipse">
            <a:avLst/>
          </a:prstGeom>
          <a:solidFill>
            <a:srgbClr val="B4C7E7"/>
          </a:solidFill>
          <a:ln w="19050">
            <a:solidFill>
              <a:srgbClr val="4472C4"/>
            </a:solidFill>
            <a:prstDash val="solid"/>
          </a:ln>
        </p:spPr>
      </p:sp>
      <p:sp>
        <p:nvSpPr>
          <p:cNvPr id="24" name="Healthy alveolus 9"/>
          <p:cNvSpPr/>
          <p:nvPr/>
        </p:nvSpPr>
        <p:spPr>
          <a:xfrm>
            <a:off x="7470648" y="3630168"/>
            <a:ext cx="329184" cy="329184"/>
          </a:xfrm>
          <a:prstGeom prst="ellipse">
            <a:avLst/>
          </a:prstGeom>
          <a:solidFill>
            <a:srgbClr val="B4C7E7"/>
          </a:solidFill>
          <a:ln w="19050">
            <a:solidFill>
              <a:srgbClr val="4472C4"/>
            </a:solidFill>
            <a:prstDash val="solid"/>
          </a:ln>
        </p:spPr>
      </p:sp>
      <p:sp>
        <p:nvSpPr>
          <p:cNvPr id="25" name="Healthy alveolus 10"/>
          <p:cNvSpPr/>
          <p:nvPr/>
        </p:nvSpPr>
        <p:spPr>
          <a:xfrm>
            <a:off x="7104888" y="3584448"/>
            <a:ext cx="329184" cy="329184"/>
          </a:xfrm>
          <a:prstGeom prst="ellipse">
            <a:avLst/>
          </a:prstGeom>
          <a:solidFill>
            <a:srgbClr val="B4C7E7"/>
          </a:solidFill>
          <a:ln w="19050">
            <a:solidFill>
              <a:srgbClr val="4472C4"/>
            </a:solidFill>
            <a:prstDash val="solid"/>
          </a:ln>
        </p:spPr>
      </p:sp>
      <p:sp>
        <p:nvSpPr>
          <p:cNvPr id="26" name="Healthy alveolus 11"/>
          <p:cNvSpPr/>
          <p:nvPr/>
        </p:nvSpPr>
        <p:spPr>
          <a:xfrm>
            <a:off x="7836408" y="3584448"/>
            <a:ext cx="329184" cy="329184"/>
          </a:xfrm>
          <a:prstGeom prst="ellipse">
            <a:avLst/>
          </a:prstGeom>
          <a:solidFill>
            <a:srgbClr val="B4C7E7"/>
          </a:solidFill>
          <a:ln w="19050">
            <a:solidFill>
              <a:srgbClr val="4472C4"/>
            </a:solidFill>
            <a:prstDash val="solid"/>
          </a:ln>
        </p:spPr>
      </p:sp>
      <p:sp>
        <p:nvSpPr>
          <p:cNvPr id="27" name="Damaged bronchiole"/>
          <p:cNvSpPr/>
          <p:nvPr/>
        </p:nvSpPr>
        <p:spPr>
          <a:xfrm>
            <a:off x="10012680" y="2331720"/>
            <a:ext cx="91440" cy="457200"/>
          </a:xfrm>
          <a:prstGeom prst="rect">
            <a:avLst/>
          </a:prstGeom>
          <a:solidFill>
            <a:srgbClr val="4472C4"/>
          </a:solidFill>
          <a:ln w="9525">
            <a:solidFill>
              <a:srgbClr val="2F528F"/>
            </a:solidFill>
            <a:prstDash val="solid"/>
          </a:ln>
        </p:spPr>
      </p:sp>
      <p:sp>
        <p:nvSpPr>
          <p:cNvPr id="28" name="Damaged air sac 1"/>
          <p:cNvSpPr/>
          <p:nvPr/>
        </p:nvSpPr>
        <p:spPr>
          <a:xfrm>
            <a:off x="9669780" y="2793492"/>
            <a:ext cx="777240" cy="777240"/>
          </a:xfrm>
          <a:prstGeom prst="ellipse">
            <a:avLst/>
          </a:prstGeom>
          <a:solidFill>
            <a:srgbClr val="B4C7E7"/>
          </a:solidFill>
          <a:ln w="19050">
            <a:solidFill>
              <a:srgbClr val="4472C4"/>
            </a:solidFill>
            <a:prstDash val="solid"/>
          </a:ln>
        </p:spPr>
      </p:sp>
      <p:sp>
        <p:nvSpPr>
          <p:cNvPr id="29" name="Damaged air sac 2"/>
          <p:cNvSpPr/>
          <p:nvPr/>
        </p:nvSpPr>
        <p:spPr>
          <a:xfrm>
            <a:off x="9354312" y="3355848"/>
            <a:ext cx="640080" cy="640080"/>
          </a:xfrm>
          <a:prstGeom prst="ellipse">
            <a:avLst/>
          </a:prstGeom>
          <a:solidFill>
            <a:srgbClr val="B4C7E7"/>
          </a:solidFill>
          <a:ln w="19050">
            <a:solidFill>
              <a:srgbClr val="4472C4"/>
            </a:solidFill>
            <a:prstDash val="solid"/>
          </a:ln>
        </p:spPr>
      </p:sp>
      <p:sp>
        <p:nvSpPr>
          <p:cNvPr id="30" name="Damaged air sac 3"/>
          <p:cNvSpPr/>
          <p:nvPr/>
        </p:nvSpPr>
        <p:spPr>
          <a:xfrm>
            <a:off x="10140696" y="3419856"/>
            <a:ext cx="566928" cy="566928"/>
          </a:xfrm>
          <a:prstGeom prst="ellipse">
            <a:avLst/>
          </a:prstGeom>
          <a:solidFill>
            <a:srgbClr val="B4C7E7"/>
          </a:solidFill>
          <a:ln w="19050">
            <a:solidFill>
              <a:srgbClr val="4472C4"/>
            </a:solidFill>
            <a:prstDash val="solid"/>
          </a:ln>
        </p:spPr>
      </p:sp>
      <p:sp>
        <p:nvSpPr>
          <p:cNvPr id="31" name="Text 28"/>
          <p:cNvSpPr txBox="1"/>
          <p:nvPr/>
        </p:nvSpPr>
        <p:spPr>
          <a:xfrm>
            <a:off x="6355080" y="4069080"/>
            <a:ext cx="2560320" cy="365760"/>
          </a:xfrm>
          <a:prstGeom prst="rect">
            <a:avLst/>
          </a:prstGeom>
          <a:noFill/>
          <a:ln/>
        </p:spPr>
        <p:txBody>
          <a:bodyPr wrap="square" rtlCol="0" anchor="t"/>
          <a:lstStyle/>
          <a:p>
            <a:pPr algn="ctr" indent="0" marL="0">
              <a:buNone/>
            </a:pPr>
            <a:r>
              <a:rPr lang="en-US" sz="1600" i="1" dirty="0">
                <a:solidFill>
                  <a:srgbClr val="000000"/>
                </a:solidFill>
              </a:rPr>
              <a:t>Healthy: many small sacs</a:t>
            </a:r>
            <a:endParaRPr lang="en-US" sz="1600" dirty="0"/>
          </a:p>
        </p:txBody>
      </p:sp>
      <p:sp>
        <p:nvSpPr>
          <p:cNvPr id="32" name="Text 29"/>
          <p:cNvSpPr txBox="1"/>
          <p:nvPr/>
        </p:nvSpPr>
        <p:spPr>
          <a:xfrm>
            <a:off x="8778240" y="4069080"/>
            <a:ext cx="2560320" cy="365760"/>
          </a:xfrm>
          <a:prstGeom prst="rect">
            <a:avLst/>
          </a:prstGeom>
          <a:noFill/>
          <a:ln/>
        </p:spPr>
        <p:txBody>
          <a:bodyPr wrap="square" rtlCol="0" anchor="t"/>
          <a:lstStyle/>
          <a:p>
            <a:pPr algn="ctr" indent="0" marL="0">
              <a:buNone/>
            </a:pPr>
            <a:r>
              <a:rPr lang="en-US" sz="1600" i="1" dirty="0">
                <a:solidFill>
                  <a:srgbClr val="000000"/>
                </a:solidFill>
              </a:rPr>
              <a:t>Emphysema: few big sacs</a:t>
            </a:r>
            <a:endParaRPr lang="en-US" sz="1600" dirty="0"/>
          </a:p>
        </p:txBody>
      </p:sp>
      <p:sp>
        <p:nvSpPr>
          <p:cNvPr id="33" name="Text 30"/>
          <p:cNvSpPr txBox="1"/>
          <p:nvPr/>
        </p:nvSpPr>
        <p:spPr>
          <a:xfrm>
            <a:off x="838505" y="4526280"/>
            <a:ext cx="5029200" cy="1097280"/>
          </a:xfrm>
          <a:prstGeom prst="rect">
            <a:avLst/>
          </a:prstGeom>
          <a:noFill/>
          <a:ln/>
        </p:spPr>
        <p:txBody>
          <a:bodyPr wrap="square" rtlCol="0" anchor="t"/>
          <a:lstStyle/>
          <a:p>
            <a:pPr marL="342900" indent="-342900">
              <a:spcAft>
                <a:spcPts val="600"/>
              </a:spcAft>
              <a:buSzPct val="100000"/>
              <a:buChar char="•"/>
            </a:pPr>
            <a:r>
              <a:rPr lang="en-US" sz="2000" dirty="0">
                <a:solidFill>
                  <a:srgbClr val="000000"/>
                </a:solidFill>
              </a:rPr>
              <a:t>Swollen bronchi make too much mucus</a:t>
            </a:r>
            <a:endParaRPr lang="en-US" sz="2000" dirty="0"/>
          </a:p>
          <a:p>
            <a:pPr marL="342900" indent="-342900">
              <a:spcAft>
                <a:spcPts val="600"/>
              </a:spcAft>
              <a:buSzPct val="100000"/>
              <a:buChar char="•"/>
            </a:pPr>
            <a:r>
              <a:rPr lang="en-US" sz="2000" dirty="0">
                <a:solidFill>
                  <a:srgbClr val="000000"/>
                </a:solidFill>
              </a:rPr>
              <a:t>Cough with phlegm for months</a:t>
            </a:r>
            <a:endParaRPr lang="en-US" sz="2000" dirty="0"/>
          </a:p>
        </p:txBody>
      </p:sp>
      <p:sp>
        <p:nvSpPr>
          <p:cNvPr id="34" name="Text 31"/>
          <p:cNvSpPr txBox="1"/>
          <p:nvPr/>
        </p:nvSpPr>
        <p:spPr>
          <a:xfrm>
            <a:off x="6324905" y="4526280"/>
            <a:ext cx="5029200" cy="1097280"/>
          </a:xfrm>
          <a:prstGeom prst="rect">
            <a:avLst/>
          </a:prstGeom>
          <a:noFill/>
          <a:ln/>
        </p:spPr>
        <p:txBody>
          <a:bodyPr wrap="square" rtlCol="0" anchor="t"/>
          <a:lstStyle/>
          <a:p>
            <a:pPr marL="342900" indent="-342900">
              <a:spcAft>
                <a:spcPts val="600"/>
              </a:spcAft>
              <a:buSzPct val="100000"/>
              <a:buChar char="•"/>
            </a:pPr>
            <a:r>
              <a:rPr lang="en-US" sz="2000" dirty="0">
                <a:solidFill>
                  <a:srgbClr val="000000"/>
                </a:solidFill>
              </a:rPr>
              <a:t>The walls of the air sacs break down</a:t>
            </a:r>
            <a:endParaRPr lang="en-US" sz="2000" dirty="0"/>
          </a:p>
          <a:p>
            <a:pPr marL="342900" indent="-342900">
              <a:spcAft>
                <a:spcPts val="600"/>
              </a:spcAft>
              <a:buSzPct val="100000"/>
              <a:buChar char="•"/>
            </a:pPr>
            <a:r>
              <a:rPr lang="en-US" sz="2000" dirty="0">
                <a:solidFill>
                  <a:srgbClr val="000000"/>
                </a:solidFill>
              </a:rPr>
              <a:t>The lungs lose their stretch: air is trapped</a:t>
            </a:r>
            <a:endParaRPr lang="en-US" sz="2000" dirty="0"/>
          </a:p>
        </p:txBody>
      </p:sp>
      <p:sp>
        <p:nvSpPr>
          <p:cNvPr id="35" name="Text 32"/>
          <p:cNvSpPr txBox="1"/>
          <p:nvPr/>
        </p:nvSpPr>
        <p:spPr>
          <a:xfrm>
            <a:off x="838505" y="5715000"/>
            <a:ext cx="10515600" cy="411480"/>
          </a:xfrm>
          <a:prstGeom prst="rect">
            <a:avLst/>
          </a:prstGeom>
          <a:noFill/>
          <a:ln/>
        </p:spPr>
        <p:txBody>
          <a:bodyPr wrap="square" rtlCol="0" anchor="t"/>
          <a:lstStyle/>
          <a:p>
            <a:pPr algn="ctr" indent="0" marL="0">
              <a:buNone/>
            </a:pPr>
            <a:r>
              <a:rPr lang="en-US" sz="2000" i="1" dirty="0">
                <a:solidFill>
                  <a:srgbClr val="000000"/>
                </a:solidFill>
              </a:rPr>
              <a:t>Most patients have a mix of both.</a:t>
            </a:r>
            <a:endParaRPr lang="en-US" sz="2000" dirty="0"/>
          </a:p>
        </p:txBody>
      </p:sp>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ph idx="100" type="title"/>
          </p:nvPr>
        </p:nvSpPr>
        <p:spPr>
          <a:xfrm>
            <a:off x="838505" y="365760"/>
            <a:ext cx="10515600" cy="1325880"/>
          </a:xfrm>
          <a:prstGeom prst="rect">
            <a:avLst/>
          </a:prstGeom>
          <a:noFill/>
          <a:ln/>
        </p:spPr>
        <p:txBody>
          <a:bodyPr wrap="square" rtlCol="0" anchor="ctr"/>
          <a:lstStyle/>
          <a:p>
            <a:pPr algn="l" indent="0" marL="0">
              <a:buNone/>
            </a:pPr>
            <a:r>
              <a:rPr lang="en-US" sz="4400" dirty="0"/>
              <a:t>What Damages the Lungs?</a:t>
            </a:r>
            <a:endParaRPr lang="en-US" sz="4400" dirty="0"/>
          </a:p>
        </p:txBody>
      </p:sp>
      <p:sp>
        <p:nvSpPr>
          <p:cNvPr id="4" name="Text 0"/>
          <p:cNvSpPr/>
          <p:nvPr>
            <p:ph idx="101" type="body"/>
          </p:nvPr>
        </p:nvSpPr>
        <p:spPr>
          <a:xfrm>
            <a:off x="838505" y="1826057"/>
            <a:ext cx="5181905" cy="4351630"/>
          </a:xfrm>
          <a:prstGeom prst="rect">
            <a:avLst/>
          </a:prstGeom>
          <a:noFill/>
          <a:ln/>
        </p:spPr>
        <p:txBody>
          <a:bodyPr wrap="square" rtlCol="0" anchor="t"/>
          <a:lstStyle/>
          <a:p>
            <a:pPr marL="342900" indent="-342900">
              <a:buSzPct val="100000"/>
              <a:buChar char="•"/>
            </a:pPr>
            <a:r>
              <a:rPr lang="en-US" sz="2200" b="1" dirty="0">
                <a:solidFill>
                  <a:srgbClr val="000000"/>
                </a:solidFill>
              </a:rPr>
              <a:t>Tobacco smoke: </a:t>
            </a:r>
            <a:r>
              <a:rPr lang="en-US" sz="2200" dirty="0">
                <a:solidFill>
                  <a:srgbClr val="000000"/>
                </a:solidFill>
              </a:rPr>
              <a:t>cigarettes, water pipe (hookah), second-hand smoke</a:t>
            </a:r>
            <a:endParaRPr lang="en-US" sz="2400" dirty="0"/>
          </a:p>
          <a:p>
            <a:pPr marL="342900" indent="-342900">
              <a:buSzPct val="100000"/>
              <a:buChar char="•"/>
            </a:pPr>
            <a:r>
              <a:rPr lang="en-US" sz="2200" b="1" dirty="0">
                <a:solidFill>
                  <a:srgbClr val="000000"/>
                </a:solidFill>
              </a:rPr>
              <a:t>Smoke at home: </a:t>
            </a:r>
            <a:r>
              <a:rPr lang="en-US" sz="2200" dirty="0">
                <a:solidFill>
                  <a:srgbClr val="000000"/>
                </a:solidFill>
              </a:rPr>
              <a:t>cooking and heating with wood or coal</a:t>
            </a:r>
            <a:endParaRPr lang="en-US" sz="2400" dirty="0"/>
          </a:p>
          <a:p>
            <a:pPr marL="342900" indent="-342900">
              <a:buSzPct val="100000"/>
              <a:buChar char="•"/>
            </a:pPr>
            <a:r>
              <a:rPr lang="en-US" sz="2200" b="1" dirty="0">
                <a:solidFill>
                  <a:srgbClr val="000000"/>
                </a:solidFill>
              </a:rPr>
              <a:t>Polluted air, </a:t>
            </a:r>
            <a:r>
              <a:rPr lang="en-US" sz="2200" dirty="0">
                <a:solidFill>
                  <a:srgbClr val="000000"/>
                </a:solidFill>
              </a:rPr>
              <a:t>dust and chemicals at work</a:t>
            </a:r>
            <a:endParaRPr lang="en-US" sz="2400" dirty="0"/>
          </a:p>
          <a:p>
            <a:pPr marL="342900" indent="-342900">
              <a:buSzPct val="100000"/>
              <a:buChar char="•"/>
            </a:pPr>
            <a:r>
              <a:rPr lang="en-US" sz="2200" b="1" dirty="0">
                <a:solidFill>
                  <a:srgbClr val="000000"/>
                </a:solidFill>
              </a:rPr>
              <a:t>Rare: </a:t>
            </a:r>
            <a:r>
              <a:rPr lang="en-US" sz="2200" dirty="0">
                <a:solidFill>
                  <a:srgbClr val="000000"/>
                </a:solidFill>
              </a:rPr>
              <a:t>a genetic condition (alpha-1 antitrypsin deficiency)</a:t>
            </a:r>
            <a:endParaRPr lang="en-US" sz="2400" dirty="0"/>
          </a:p>
        </p:txBody>
      </p:sp>
      <p:pic>
        <p:nvPicPr>
          <p:cNvPr id="5" name="Picture placeholder 6" descr="PICTURE NEEDED: Smoke from cooking over an open wood fire inside a home (household air pollution), or a person smoking. Search: household air pollution cooking smoke">    </p:cNvPr>
          <p:cNvPicPr>
            <a:picLocks noChangeAspect="1"/>
          </p:cNvPicPr>
          <p:nvPr/>
        </p:nvPicPr>
        <p:blipFill>
          <a:blip r:embed="rId1"/>
          <a:stretch>
            <a:fillRect/>
          </a:stretch>
        </p:blipFill>
        <p:spPr>
          <a:xfrm>
            <a:off x="6172200" y="1826057"/>
            <a:ext cx="5181905" cy="2834640"/>
          </a:xfrm>
          <a:prstGeom prst="rect">
            <a:avLst/>
          </a:prstGeom>
        </p:spPr>
      </p:pic>
      <p:sp>
        <p:nvSpPr>
          <p:cNvPr id="6" name="Text 2"/>
          <p:cNvSpPr txBox="1"/>
          <p:nvPr/>
        </p:nvSpPr>
        <p:spPr>
          <a:xfrm>
            <a:off x="6172200" y="4800600"/>
            <a:ext cx="1737360" cy="777240"/>
          </a:xfrm>
          <a:prstGeom prst="rect">
            <a:avLst/>
          </a:prstGeom>
          <a:noFill/>
          <a:ln/>
        </p:spPr>
        <p:txBody>
          <a:bodyPr wrap="square" lIns="0" tIns="0" rIns="0" bIns="0" rtlCol="0" anchor="ctr"/>
          <a:lstStyle/>
          <a:p>
            <a:pPr indent="0" marL="0">
              <a:buNone/>
            </a:pPr>
            <a:r>
              <a:rPr lang="en-US" sz="4400" b="1" dirty="0">
                <a:solidFill>
                  <a:srgbClr val="000000"/>
                </a:solidFill>
              </a:rPr>
              <a:t>70%+</a:t>
            </a:r>
            <a:endParaRPr lang="en-US" sz="4400" dirty="0"/>
          </a:p>
        </p:txBody>
      </p:sp>
      <p:sp>
        <p:nvSpPr>
          <p:cNvPr id="7" name="Text 3"/>
          <p:cNvSpPr txBox="1"/>
          <p:nvPr/>
        </p:nvSpPr>
        <p:spPr>
          <a:xfrm>
            <a:off x="7955280" y="4800600"/>
            <a:ext cx="3401568" cy="777240"/>
          </a:xfrm>
          <a:prstGeom prst="rect">
            <a:avLst/>
          </a:prstGeom>
          <a:noFill/>
          <a:ln/>
        </p:spPr>
        <p:txBody>
          <a:bodyPr wrap="square" rtlCol="0" anchor="ctr"/>
          <a:lstStyle/>
          <a:p>
            <a:pPr indent="0" marL="0">
              <a:buNone/>
            </a:pPr>
            <a:r>
              <a:rPr lang="en-US" sz="1600" dirty="0">
                <a:solidFill>
                  <a:srgbClr val="000000"/>
                </a:solidFill>
              </a:rPr>
              <a:t>of COPD cases in high-income countries are caused by smoking (WHO)</a:t>
            </a:r>
            <a:endParaRPr lang="en-US" sz="1600" dirty="0"/>
          </a:p>
        </p:txBody>
      </p:sp>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p:nvPr>
            <p:ph idx="100" type="title"/>
          </p:nvPr>
        </p:nvSpPr>
        <p:spPr>
          <a:xfrm>
            <a:off x="838505" y="365760"/>
            <a:ext cx="10515600" cy="1325880"/>
          </a:xfrm>
          <a:prstGeom prst="rect">
            <a:avLst/>
          </a:prstGeom>
          <a:noFill/>
          <a:ln/>
        </p:spPr>
        <p:txBody>
          <a:bodyPr wrap="square" rtlCol="0" anchor="ctr"/>
          <a:lstStyle/>
          <a:p>
            <a:pPr algn="l" indent="0" marL="0">
              <a:buNone/>
            </a:pPr>
            <a:r>
              <a:rPr lang="en-US" sz="4400" dirty="0"/>
              <a:t>How COPD Feels Over the Years</a:t>
            </a:r>
            <a:endParaRPr lang="en-US" sz="4400" dirty="0"/>
          </a:p>
        </p:txBody>
      </p:sp>
      <p:sp>
        <p:nvSpPr>
          <p:cNvPr id="4" name="Text 1"/>
          <p:cNvSpPr txBox="1"/>
          <p:nvPr/>
        </p:nvSpPr>
        <p:spPr>
          <a:xfrm>
            <a:off x="838505" y="1828800"/>
            <a:ext cx="4480560" cy="457200"/>
          </a:xfrm>
          <a:prstGeom prst="rect">
            <a:avLst/>
          </a:prstGeom>
          <a:noFill/>
          <a:ln/>
        </p:spPr>
        <p:txBody>
          <a:bodyPr wrap="square" rtlCol="0" anchor="t"/>
          <a:lstStyle/>
          <a:p>
            <a:pPr indent="0" marL="0">
              <a:buNone/>
            </a:pPr>
            <a:r>
              <a:rPr lang="en-US" sz="2200" b="1" dirty="0">
                <a:solidFill>
                  <a:srgbClr val="000000"/>
                </a:solidFill>
              </a:rPr>
              <a:t>Main symptoms</a:t>
            </a:r>
            <a:endParaRPr lang="en-US" sz="2000" dirty="0"/>
          </a:p>
        </p:txBody>
      </p:sp>
      <p:sp>
        <p:nvSpPr>
          <p:cNvPr id="5" name="Text 2"/>
          <p:cNvSpPr txBox="1"/>
          <p:nvPr/>
        </p:nvSpPr>
        <p:spPr>
          <a:xfrm>
            <a:off x="838505" y="2377440"/>
            <a:ext cx="4480560" cy="2377440"/>
          </a:xfrm>
          <a:prstGeom prst="rect">
            <a:avLst/>
          </a:prstGeom>
          <a:noFill/>
          <a:ln/>
        </p:spPr>
        <p:txBody>
          <a:bodyPr wrap="square" rtlCol="0" anchor="t"/>
          <a:lstStyle/>
          <a:p>
            <a:pPr marL="342900" indent="-342900">
              <a:spcAft>
                <a:spcPts val="600"/>
              </a:spcAft>
              <a:buSzPct val="100000"/>
              <a:buChar char="•"/>
            </a:pPr>
            <a:r>
              <a:rPr lang="en-US" sz="2200" dirty="0">
                <a:solidFill>
                  <a:srgbClr val="000000"/>
                </a:solidFill>
              </a:rPr>
              <a:t>Shortness of breath (dyspnea)</a:t>
            </a:r>
            <a:endParaRPr lang="en-US" sz="2000" dirty="0"/>
          </a:p>
          <a:p>
            <a:pPr marL="342900" indent="-342900">
              <a:spcAft>
                <a:spcPts val="600"/>
              </a:spcAft>
              <a:buSzPct val="100000"/>
              <a:buChar char="•"/>
            </a:pPr>
            <a:r>
              <a:rPr lang="en-US" sz="2200" dirty="0">
                <a:solidFill>
                  <a:srgbClr val="000000"/>
                </a:solidFill>
              </a:rPr>
              <a:t>Chronic cough</a:t>
            </a:r>
            <a:endParaRPr lang="en-US" sz="2000" dirty="0"/>
          </a:p>
          <a:p>
            <a:pPr marL="342900" indent="-342900">
              <a:spcAft>
                <a:spcPts val="600"/>
              </a:spcAft>
              <a:buSzPct val="100000"/>
              <a:buChar char="•"/>
            </a:pPr>
            <a:r>
              <a:rPr lang="en-US" sz="2200" dirty="0">
                <a:solidFill>
                  <a:srgbClr val="000000"/>
                </a:solidFill>
              </a:rPr>
              <a:t>Sputum (phlegm)</a:t>
            </a:r>
            <a:endParaRPr lang="en-US" sz="2000" dirty="0"/>
          </a:p>
          <a:p>
            <a:pPr marL="342900" indent="-342900">
              <a:spcAft>
                <a:spcPts val="600"/>
              </a:spcAft>
              <a:buSzPct val="100000"/>
              <a:buChar char="•"/>
            </a:pPr>
            <a:r>
              <a:rPr lang="en-US" sz="2200" dirty="0">
                <a:solidFill>
                  <a:srgbClr val="000000"/>
                </a:solidFill>
              </a:rPr>
              <a:t>Tiredness</a:t>
            </a:r>
            <a:endParaRPr lang="en-US" sz="2000" dirty="0"/>
          </a:p>
        </p:txBody>
      </p:sp>
      <p:sp>
        <p:nvSpPr>
          <p:cNvPr id="6" name="Text 3"/>
          <p:cNvSpPr txBox="1"/>
          <p:nvPr/>
        </p:nvSpPr>
        <p:spPr>
          <a:xfrm>
            <a:off x="5577840" y="1783080"/>
            <a:ext cx="5760720" cy="411480"/>
          </a:xfrm>
          <a:prstGeom prst="rect">
            <a:avLst/>
          </a:prstGeom>
          <a:noFill/>
          <a:ln/>
        </p:spPr>
        <p:txBody>
          <a:bodyPr wrap="square" rtlCol="0" anchor="t"/>
          <a:lstStyle/>
          <a:p>
            <a:pPr indent="0" marL="0">
              <a:buNone/>
            </a:pPr>
            <a:r>
              <a:rPr lang="en-US" sz="2000" b="1" dirty="0">
                <a:solidFill>
                  <a:srgbClr val="000000"/>
                </a:solidFill>
              </a:rPr>
              <a:t>Breathless when…</a:t>
            </a:r>
            <a:endParaRPr lang="en-US" sz="2000" dirty="0"/>
          </a:p>
        </p:txBody>
      </p:sp>
      <p:sp>
        <p:nvSpPr>
          <p:cNvPr id="7" name="Stage Early"/>
          <p:cNvSpPr/>
          <p:nvPr/>
        </p:nvSpPr>
        <p:spPr>
          <a:xfrm>
            <a:off x="5577840" y="4251960"/>
            <a:ext cx="1828800" cy="1234440"/>
          </a:xfrm>
          <a:prstGeom prst="rect">
            <a:avLst/>
          </a:prstGeom>
          <a:solidFill>
            <a:srgbClr val="4472C4"/>
          </a:solidFill>
          <a:ln w="12700">
            <a:solidFill>
              <a:srgbClr val="2F528F"/>
            </a:solidFill>
          </a:ln>
        </p:spPr>
        <p:txBody>
          <a:bodyPr wrap="square" rtlCol="0" anchor="t"/>
          <a:lstStyle/>
          <a:p>
            <a:pPr algn="ctr" indent="0" marL="0">
              <a:buNone/>
            </a:pPr>
            <a:r>
              <a:rPr lang="en-US" sz="2000" b="1" dirty="0">
                <a:solidFill>
                  <a:srgbClr val="FFFFFF"/>
                </a:solidFill>
              </a:rPr>
              <a:t>Early</a:t>
            </a:r>
            <a:endParaRPr lang="en-US" sz="1800" dirty="0"/>
          </a:p>
          <a:p>
            <a:pPr algn="ctr" indent="0" marL="0">
              <a:buNone/>
            </a:pPr>
            <a:r>
              <a:rPr lang="en-US" sz="1600" dirty="0">
                <a:solidFill>
                  <a:srgbClr val="FFFFFF"/>
                </a:solidFill>
              </a:rPr>
              <a:t>climbing stairs and hills</a:t>
            </a:r>
            <a:endParaRPr lang="en-US" sz="1800" dirty="0"/>
          </a:p>
        </p:txBody>
      </p:sp>
      <p:sp>
        <p:nvSpPr>
          <p:cNvPr id="8" name="Stage Later"/>
          <p:cNvSpPr/>
          <p:nvPr/>
        </p:nvSpPr>
        <p:spPr>
          <a:xfrm>
            <a:off x="7498080" y="3200400"/>
            <a:ext cx="1828800" cy="2286000"/>
          </a:xfrm>
          <a:prstGeom prst="rect">
            <a:avLst/>
          </a:prstGeom>
          <a:solidFill>
            <a:srgbClr val="4472C4"/>
          </a:solidFill>
          <a:ln w="12700">
            <a:solidFill>
              <a:srgbClr val="2F528F"/>
            </a:solidFill>
          </a:ln>
        </p:spPr>
        <p:txBody>
          <a:bodyPr wrap="square" rtlCol="0" anchor="t"/>
          <a:lstStyle/>
          <a:p>
            <a:pPr algn="ctr" indent="0" marL="0">
              <a:buNone/>
            </a:pPr>
            <a:r>
              <a:rPr lang="en-US" sz="2000" b="1" dirty="0">
                <a:solidFill>
                  <a:srgbClr val="FFFFFF"/>
                </a:solidFill>
              </a:rPr>
              <a:t>Later</a:t>
            </a:r>
            <a:endParaRPr lang="en-US" sz="1800" dirty="0"/>
          </a:p>
          <a:p>
            <a:pPr algn="ctr" indent="0" marL="0">
              <a:buNone/>
            </a:pPr>
            <a:r>
              <a:rPr lang="en-US" sz="1600" dirty="0">
                <a:solidFill>
                  <a:srgbClr val="FFFFFF"/>
                </a:solidFill>
              </a:rPr>
              <a:t>walking on flat ground</a:t>
            </a:r>
            <a:endParaRPr lang="en-US" sz="1800" dirty="0"/>
          </a:p>
        </p:txBody>
      </p:sp>
      <p:sp>
        <p:nvSpPr>
          <p:cNvPr id="9" name="Stage Severe"/>
          <p:cNvSpPr/>
          <p:nvPr/>
        </p:nvSpPr>
        <p:spPr>
          <a:xfrm>
            <a:off x="9418320" y="2148840"/>
            <a:ext cx="1828800" cy="3337560"/>
          </a:xfrm>
          <a:prstGeom prst="rect">
            <a:avLst/>
          </a:prstGeom>
          <a:solidFill>
            <a:srgbClr val="4472C4"/>
          </a:solidFill>
          <a:ln w="12700">
            <a:solidFill>
              <a:srgbClr val="2F528F"/>
            </a:solidFill>
          </a:ln>
        </p:spPr>
        <p:txBody>
          <a:bodyPr wrap="square" rtlCol="0" anchor="t"/>
          <a:lstStyle/>
          <a:p>
            <a:pPr algn="ctr" indent="0" marL="0">
              <a:buNone/>
            </a:pPr>
            <a:r>
              <a:rPr lang="en-US" sz="2000" b="1" dirty="0">
                <a:solidFill>
                  <a:srgbClr val="FFFFFF"/>
                </a:solidFill>
              </a:rPr>
              <a:t>Severe</a:t>
            </a:r>
            <a:endParaRPr lang="en-US" sz="1800" dirty="0"/>
          </a:p>
          <a:p>
            <a:pPr algn="ctr" indent="0" marL="0">
              <a:buNone/>
            </a:pPr>
            <a:r>
              <a:rPr lang="en-US" sz="1600" dirty="0">
                <a:solidFill>
                  <a:srgbClr val="FFFFFF"/>
                </a:solidFill>
              </a:rPr>
              <a:t>getting dressed</a:t>
            </a:r>
            <a:endParaRPr lang="en-US" sz="1800" dirty="0"/>
          </a:p>
        </p:txBody>
      </p:sp>
      <p:sp>
        <p:nvSpPr>
          <p:cNvPr id="10" name="Text 7"/>
          <p:cNvSpPr txBox="1"/>
          <p:nvPr/>
        </p:nvSpPr>
        <p:spPr>
          <a:xfrm>
            <a:off x="838505" y="4754880"/>
            <a:ext cx="4389120" cy="914400"/>
          </a:xfrm>
          <a:prstGeom prst="rect">
            <a:avLst/>
          </a:prstGeom>
          <a:noFill/>
          <a:ln/>
        </p:spPr>
        <p:txBody>
          <a:bodyPr wrap="square" rtlCol="0" anchor="t"/>
          <a:lstStyle/>
          <a:p>
            <a:pPr indent="0" marL="0">
              <a:buNone/>
            </a:pPr>
            <a:r>
              <a:rPr lang="en-US" sz="2000" i="1" dirty="0">
                <a:solidFill>
                  <a:srgbClr val="000000"/>
                </a:solidFill>
              </a:rPr>
              <a:t>Many patients think it is just “getting old”, so they see a doctor late.</a:t>
            </a:r>
            <a:endParaRPr lang="en-US" sz="2000" dirty="0"/>
          </a:p>
        </p:txBody>
      </p:sp>
      <p:sp>
        <p:nvSpPr>
          <p:cNvPr id="11" name="Time arrow"/>
          <p:cNvSpPr/>
          <p:nvPr/>
        </p:nvSpPr>
        <p:spPr>
          <a:xfrm>
            <a:off x="5577840" y="5577840"/>
            <a:ext cx="5669280" cy="411480"/>
          </a:xfrm>
          <a:prstGeom prst="rightArrow">
            <a:avLst/>
          </a:prstGeom>
          <a:solidFill>
            <a:srgbClr val="4472C4"/>
          </a:solidFill>
          <a:ln w="12700">
            <a:solidFill>
              <a:srgbClr val="2F528F"/>
            </a:solidFill>
          </a:ln>
        </p:spPr>
        <p:txBody>
          <a:bodyPr wrap="square" rtlCol="0" anchor="ctr"/>
          <a:lstStyle/>
          <a:p>
            <a:pPr algn="ctr" indent="0" marL="0">
              <a:buNone/>
            </a:pPr>
            <a:r>
              <a:rPr lang="en-US" sz="1400" dirty="0">
                <a:solidFill>
                  <a:srgbClr val="FFFFFF"/>
                </a:solidFill>
              </a:rPr>
              <a:t>Over the years</a:t>
            </a:r>
            <a:endParaRPr lang="en-US" sz="1800" dirty="0"/>
          </a:p>
        </p:txBody>
      </p:sp>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p:nvPr>
            <p:ph idx="100" type="title"/>
          </p:nvPr>
        </p:nvSpPr>
        <p:spPr>
          <a:xfrm>
            <a:off x="838505" y="365760"/>
            <a:ext cx="10515600" cy="1325880"/>
          </a:xfrm>
          <a:prstGeom prst="rect">
            <a:avLst/>
          </a:prstGeom>
          <a:noFill/>
          <a:ln/>
        </p:spPr>
        <p:txBody>
          <a:bodyPr wrap="square" rtlCol="0" anchor="ctr"/>
          <a:lstStyle/>
          <a:p>
            <a:pPr algn="l" indent="0" marL="0">
              <a:buNone/>
            </a:pPr>
            <a:r>
              <a:rPr lang="en-US" sz="4400" dirty="0"/>
              <a:t>Flare-Ups: When COPD Gets Worse</a:t>
            </a:r>
            <a:endParaRPr lang="en-US" sz="4400" dirty="0"/>
          </a:p>
        </p:txBody>
      </p:sp>
      <p:sp>
        <p:nvSpPr>
          <p:cNvPr id="4" name="Text 0"/>
          <p:cNvSpPr/>
          <p:nvPr>
            <p:ph idx="101" type="body"/>
          </p:nvPr>
        </p:nvSpPr>
        <p:spPr>
          <a:xfrm>
            <a:off x="838505" y="1826057"/>
            <a:ext cx="5181905" cy="4351630"/>
          </a:xfrm>
          <a:prstGeom prst="rect">
            <a:avLst/>
          </a:prstGeom>
          <a:noFill/>
          <a:ln/>
        </p:spPr>
        <p:txBody>
          <a:bodyPr wrap="square" rtlCol="0" anchor="t"/>
          <a:lstStyle/>
          <a:p>
            <a:pPr indent="0" marL="0">
              <a:buNone/>
            </a:pPr>
            <a:r>
              <a:rPr lang="en-US" sz="2200" b="1" dirty="0">
                <a:solidFill>
                  <a:srgbClr val="000000"/>
                </a:solidFill>
              </a:rPr>
              <a:t>Flare-up = exacerbation</a:t>
            </a:r>
            <a:endParaRPr lang="en-US" sz="2400" dirty="0"/>
          </a:p>
          <a:p>
            <a:pPr marL="342900" indent="-342900">
              <a:buSzPct val="100000"/>
              <a:buChar char="•"/>
            </a:pPr>
            <a:r>
              <a:rPr lang="en-US" sz="2200" dirty="0">
                <a:solidFill>
                  <a:srgbClr val="000000"/>
                </a:solidFill>
              </a:rPr>
              <a:t>Symptoms suddenly get worse for days</a:t>
            </a:r>
            <a:endParaRPr lang="en-US" sz="2400" dirty="0"/>
          </a:p>
          <a:p>
            <a:pPr marL="342900" indent="-342900">
              <a:buSzPct val="100000"/>
              <a:buChar char="•"/>
            </a:pPr>
            <a:r>
              <a:rPr lang="en-US" sz="2200" dirty="0">
                <a:solidFill>
                  <a:srgbClr val="000000"/>
                </a:solidFill>
              </a:rPr>
              <a:t>More breathless than usual</a:t>
            </a:r>
            <a:endParaRPr lang="en-US" sz="2400" dirty="0"/>
          </a:p>
          <a:p>
            <a:pPr marL="342900" indent="-342900">
              <a:buSzPct val="100000"/>
              <a:buChar char="•"/>
            </a:pPr>
            <a:r>
              <a:rPr lang="en-US" sz="2200" dirty="0">
                <a:solidFill>
                  <a:srgbClr val="000000"/>
                </a:solidFill>
              </a:rPr>
              <a:t>More cough and sputum (may turn yellow or green)</a:t>
            </a:r>
            <a:endParaRPr lang="en-US" sz="2400" dirty="0"/>
          </a:p>
          <a:p>
            <a:pPr marL="342900" indent="-342900">
              <a:buSzPct val="100000"/>
              <a:buChar char="•"/>
            </a:pPr>
            <a:r>
              <a:rPr lang="en-US" sz="2200" dirty="0">
                <a:solidFill>
                  <a:srgbClr val="000000"/>
                </a:solidFill>
              </a:rPr>
              <a:t>Main causes: chest infections, air pollution</a:t>
            </a:r>
            <a:endParaRPr lang="en-US" sz="2400" dirty="0"/>
          </a:p>
          <a:p>
            <a:pPr marL="342900" indent="-342900">
              <a:buSzPct val="100000"/>
              <a:buChar char="•"/>
            </a:pPr>
            <a:r>
              <a:rPr lang="en-US" sz="2200" dirty="0">
                <a:solidFill>
                  <a:srgbClr val="000000"/>
                </a:solidFill>
              </a:rPr>
              <a:t>Serious flare-ups need hospital care</a:t>
            </a:r>
            <a:endParaRPr lang="en-US" sz="2400" dirty="0"/>
          </a:p>
        </p:txBody>
      </p:sp>
      <p:pic>
        <p:nvPicPr>
          <p:cNvPr id="5" name="Picture placeholder 7" descr="PICTURE NEEDED: Older patient in a hospital bed with an oxygen mask or nasal oxygen tubes. Search: COPD patient oxygen hospital">    </p:cNvPr>
          <p:cNvPicPr>
            <a:picLocks noChangeAspect="1"/>
          </p:cNvPicPr>
          <p:nvPr/>
        </p:nvPicPr>
        <p:blipFill>
          <a:blip r:embed="rId1"/>
          <a:stretch>
            <a:fillRect/>
          </a:stretch>
        </p:blipFill>
        <p:spPr>
          <a:xfrm>
            <a:off x="6172200" y="1826057"/>
            <a:ext cx="5181905" cy="3886200"/>
          </a:xfrm>
          <a:prstGeom prst="rect">
            <a:avLst/>
          </a:prstGeom>
        </p:spPr>
      </p:pic>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p:nvPr>
            <p:ph idx="100" type="title"/>
          </p:nvPr>
        </p:nvSpPr>
        <p:spPr>
          <a:xfrm>
            <a:off x="838505" y="365760"/>
            <a:ext cx="10515600" cy="1325880"/>
          </a:xfrm>
          <a:prstGeom prst="rect">
            <a:avLst/>
          </a:prstGeom>
          <a:noFill/>
          <a:ln/>
        </p:spPr>
        <p:txBody>
          <a:bodyPr wrap="square" rtlCol="0" anchor="ctr"/>
          <a:lstStyle/>
          <a:p>
            <a:pPr algn="l" indent="0" marL="0">
              <a:buNone/>
            </a:pPr>
            <a:r>
              <a:rPr lang="en-US" sz="4400" dirty="0"/>
              <a:t>Why Should We Care?</a:t>
            </a:r>
            <a:endParaRPr lang="en-US" sz="4400" dirty="0"/>
          </a:p>
        </p:txBody>
      </p:sp>
      <p:sp>
        <p:nvSpPr>
          <p:cNvPr id="4" name="Number 1"/>
          <p:cNvSpPr/>
          <p:nvPr/>
        </p:nvSpPr>
        <p:spPr>
          <a:xfrm>
            <a:off x="838505" y="1920240"/>
            <a:ext cx="3291840" cy="1371600"/>
          </a:xfrm>
          <a:prstGeom prst="rect">
            <a:avLst/>
          </a:prstGeom>
          <a:solidFill>
            <a:srgbClr val="4472C4"/>
          </a:solidFill>
          <a:ln w="12700">
            <a:solidFill>
              <a:srgbClr val="2F528F"/>
            </a:solidFill>
          </a:ln>
        </p:spPr>
        <p:txBody>
          <a:bodyPr wrap="square" rtlCol="0" anchor="ctr"/>
          <a:lstStyle/>
          <a:p>
            <a:pPr algn="ctr" indent="0" marL="0">
              <a:buNone/>
            </a:pPr>
            <a:r>
              <a:rPr lang="en-US" sz="4000" b="1" dirty="0">
                <a:solidFill>
                  <a:srgbClr val="FFFFFF"/>
                </a:solidFill>
              </a:rPr>
              <a:t>262 million</a:t>
            </a:r>
            <a:endParaRPr lang="en-US" sz="1800" dirty="0"/>
          </a:p>
        </p:txBody>
      </p:sp>
      <p:sp>
        <p:nvSpPr>
          <p:cNvPr id="5" name="Text 2"/>
          <p:cNvSpPr txBox="1"/>
          <p:nvPr/>
        </p:nvSpPr>
        <p:spPr>
          <a:xfrm>
            <a:off x="838505" y="3383280"/>
            <a:ext cx="3291840" cy="457200"/>
          </a:xfrm>
          <a:prstGeom prst="rect">
            <a:avLst/>
          </a:prstGeom>
          <a:noFill/>
          <a:ln/>
        </p:spPr>
        <p:txBody>
          <a:bodyPr wrap="square" rtlCol="0" anchor="t"/>
          <a:lstStyle/>
          <a:p>
            <a:pPr algn="ctr" indent="0" marL="0">
              <a:buNone/>
            </a:pPr>
            <a:r>
              <a:rPr lang="en-US" sz="2000" dirty="0">
                <a:solidFill>
                  <a:srgbClr val="000000"/>
                </a:solidFill>
              </a:rPr>
              <a:t>people with asthma (2019)</a:t>
            </a:r>
            <a:endParaRPr lang="en-US" sz="2000" dirty="0"/>
          </a:p>
        </p:txBody>
      </p:sp>
      <p:sp>
        <p:nvSpPr>
          <p:cNvPr id="6" name="Number 2"/>
          <p:cNvSpPr/>
          <p:nvPr/>
        </p:nvSpPr>
        <p:spPr>
          <a:xfrm>
            <a:off x="4450385" y="1920240"/>
            <a:ext cx="3291840" cy="1371600"/>
          </a:xfrm>
          <a:prstGeom prst="rect">
            <a:avLst/>
          </a:prstGeom>
          <a:solidFill>
            <a:srgbClr val="4472C4"/>
          </a:solidFill>
          <a:ln w="12700">
            <a:solidFill>
              <a:srgbClr val="2F528F"/>
            </a:solidFill>
          </a:ln>
        </p:spPr>
        <p:txBody>
          <a:bodyPr wrap="square" rtlCol="0" anchor="ctr"/>
          <a:lstStyle/>
          <a:p>
            <a:pPr algn="ctr" indent="0" marL="0">
              <a:buNone/>
            </a:pPr>
            <a:r>
              <a:rPr lang="en-US" sz="4000" b="1" dirty="0">
                <a:solidFill>
                  <a:srgbClr val="FFFFFF"/>
                </a:solidFill>
              </a:rPr>
              <a:t>455,000</a:t>
            </a:r>
            <a:endParaRPr lang="en-US" sz="1800" dirty="0"/>
          </a:p>
        </p:txBody>
      </p:sp>
      <p:sp>
        <p:nvSpPr>
          <p:cNvPr id="7" name="Text 4"/>
          <p:cNvSpPr txBox="1"/>
          <p:nvPr/>
        </p:nvSpPr>
        <p:spPr>
          <a:xfrm>
            <a:off x="4450385" y="3383280"/>
            <a:ext cx="3291840" cy="457200"/>
          </a:xfrm>
          <a:prstGeom prst="rect">
            <a:avLst/>
          </a:prstGeom>
          <a:noFill/>
          <a:ln/>
        </p:spPr>
        <p:txBody>
          <a:bodyPr wrap="square" rtlCol="0" anchor="t"/>
          <a:lstStyle/>
          <a:p>
            <a:pPr algn="ctr" indent="0" marL="0">
              <a:buNone/>
            </a:pPr>
            <a:r>
              <a:rPr lang="en-US" sz="2000" dirty="0">
                <a:solidFill>
                  <a:srgbClr val="000000"/>
                </a:solidFill>
              </a:rPr>
              <a:t>deaths from asthma (2019)</a:t>
            </a:r>
            <a:endParaRPr lang="en-US" sz="2000" dirty="0"/>
          </a:p>
        </p:txBody>
      </p:sp>
      <p:sp>
        <p:nvSpPr>
          <p:cNvPr id="8" name="Number 3"/>
          <p:cNvSpPr/>
          <p:nvPr/>
        </p:nvSpPr>
        <p:spPr>
          <a:xfrm>
            <a:off x="8062265" y="1920240"/>
            <a:ext cx="3291840" cy="1371600"/>
          </a:xfrm>
          <a:prstGeom prst="rect">
            <a:avLst/>
          </a:prstGeom>
          <a:solidFill>
            <a:srgbClr val="4472C4"/>
          </a:solidFill>
          <a:ln w="12700">
            <a:solidFill>
              <a:srgbClr val="2F528F"/>
            </a:solidFill>
          </a:ln>
        </p:spPr>
        <p:txBody>
          <a:bodyPr wrap="square" rtlCol="0" anchor="ctr"/>
          <a:lstStyle/>
          <a:p>
            <a:pPr algn="ctr" indent="0" marL="0">
              <a:buNone/>
            </a:pPr>
            <a:r>
              <a:rPr lang="en-US" sz="4000" b="1" dirty="0">
                <a:solidFill>
                  <a:srgbClr val="FFFFFF"/>
                </a:solidFill>
              </a:rPr>
              <a:t>3.4 million</a:t>
            </a:r>
            <a:endParaRPr lang="en-US" sz="1800" dirty="0"/>
          </a:p>
        </p:txBody>
      </p:sp>
      <p:sp>
        <p:nvSpPr>
          <p:cNvPr id="9" name="Text 6"/>
          <p:cNvSpPr txBox="1"/>
          <p:nvPr/>
        </p:nvSpPr>
        <p:spPr>
          <a:xfrm>
            <a:off x="8062265" y="3383280"/>
            <a:ext cx="3291840" cy="457200"/>
          </a:xfrm>
          <a:prstGeom prst="rect">
            <a:avLst/>
          </a:prstGeom>
          <a:noFill/>
          <a:ln/>
        </p:spPr>
        <p:txBody>
          <a:bodyPr wrap="square" rtlCol="0" anchor="t"/>
          <a:lstStyle/>
          <a:p>
            <a:pPr algn="ctr" indent="0" marL="0">
              <a:buNone/>
            </a:pPr>
            <a:r>
              <a:rPr lang="en-US" sz="2000" dirty="0">
                <a:solidFill>
                  <a:srgbClr val="000000"/>
                </a:solidFill>
              </a:rPr>
              <a:t>deaths from COPD (2023)</a:t>
            </a:r>
            <a:endParaRPr lang="en-US" sz="2000" dirty="0"/>
          </a:p>
        </p:txBody>
      </p:sp>
      <p:sp>
        <p:nvSpPr>
          <p:cNvPr id="10" name="Text 7"/>
          <p:cNvSpPr txBox="1"/>
          <p:nvPr/>
        </p:nvSpPr>
        <p:spPr>
          <a:xfrm>
            <a:off x="838505" y="4206240"/>
            <a:ext cx="10515600" cy="548640"/>
          </a:xfrm>
          <a:prstGeom prst="rect">
            <a:avLst/>
          </a:prstGeom>
          <a:noFill/>
          <a:ln/>
        </p:spPr>
        <p:txBody>
          <a:bodyPr wrap="square" rtlCol="0" anchor="t"/>
          <a:lstStyle/>
          <a:p>
            <a:pPr algn="ctr" indent="0" marL="0">
              <a:buNone/>
            </a:pPr>
            <a:r>
              <a:rPr lang="en-US" sz="2600" b="1" dirty="0">
                <a:solidFill>
                  <a:srgbClr val="000000"/>
                </a:solidFill>
              </a:rPr>
              <a:t>COPD is the 3rd leading cause of death in the world.</a:t>
            </a:r>
            <a:endParaRPr lang="en-US" sz="2600" dirty="0"/>
          </a:p>
        </p:txBody>
      </p:sp>
      <p:sp>
        <p:nvSpPr>
          <p:cNvPr id="11" name="Text 8"/>
          <p:cNvSpPr txBox="1"/>
          <p:nvPr/>
        </p:nvSpPr>
        <p:spPr>
          <a:xfrm>
            <a:off x="838505" y="4800600"/>
            <a:ext cx="10515600" cy="457200"/>
          </a:xfrm>
          <a:prstGeom prst="rect">
            <a:avLst/>
          </a:prstGeom>
          <a:noFill/>
          <a:ln/>
        </p:spPr>
        <p:txBody>
          <a:bodyPr wrap="square" rtlCol="0" anchor="t"/>
          <a:lstStyle/>
          <a:p>
            <a:pPr algn="ctr" indent="0" marL="0">
              <a:buNone/>
            </a:pPr>
            <a:r>
              <a:rPr lang="en-US" sz="2200" dirty="0">
                <a:solidFill>
                  <a:srgbClr val="000000"/>
                </a:solidFill>
              </a:rPr>
              <a:t>Asthma is the most common chronic disease in children.</a:t>
            </a:r>
            <a:endParaRPr lang="en-US" sz="2200" dirty="0"/>
          </a:p>
        </p:txBody>
      </p:sp>
      <p:sp>
        <p:nvSpPr>
          <p:cNvPr id="12" name="Text 9"/>
          <p:cNvSpPr txBox="1"/>
          <p:nvPr/>
        </p:nvSpPr>
        <p:spPr>
          <a:xfrm>
            <a:off x="838505" y="5760720"/>
            <a:ext cx="10515600" cy="365760"/>
          </a:xfrm>
          <a:prstGeom prst="rect">
            <a:avLst/>
          </a:prstGeom>
          <a:noFill/>
          <a:ln/>
        </p:spPr>
        <p:txBody>
          <a:bodyPr wrap="square" rtlCol="0" anchor="t"/>
          <a:lstStyle/>
          <a:p>
            <a:pPr algn="ctr" indent="0" marL="0">
              <a:buNone/>
            </a:pPr>
            <a:r>
              <a:rPr lang="en-US" sz="1200" dirty="0">
                <a:solidFill>
                  <a:srgbClr val="595959"/>
                </a:solidFill>
              </a:rPr>
              <a:t>Source: World Health Organization (WHO) fact sheets: Asthma (2024) and COPD (2026)</a:t>
            </a:r>
            <a:endParaRPr lang="en-US" sz="1200" dirty="0"/>
          </a:p>
        </p:txBody>
      </p:sp>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p:nvPr>
            <p:ph idx="100" type="title"/>
          </p:nvPr>
        </p:nvSpPr>
        <p:spPr>
          <a:xfrm>
            <a:off x="838505" y="365760"/>
            <a:ext cx="10515600" cy="1325880"/>
          </a:xfrm>
          <a:prstGeom prst="rect">
            <a:avLst/>
          </a:prstGeom>
          <a:noFill/>
          <a:ln/>
        </p:spPr>
        <p:txBody>
          <a:bodyPr wrap="square" rtlCol="0" anchor="ctr"/>
          <a:lstStyle/>
          <a:p>
            <a:pPr algn="l" indent="0" marL="0">
              <a:buNone/>
            </a:pPr>
            <a:r>
              <a:rPr lang="en-US" sz="4400" dirty="0"/>
              <a:t>Patient Words, Doctor Words</a:t>
            </a:r>
            <a:endParaRPr lang="en-US" sz="4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38505" y="1828800"/>
          <a:ext cx="10515600" cy="914400"/>
        </p:xfrm>
        <a:graphic>
          <a:graphicData uri="http://schemas.openxmlformats.org/drawingml/2006/table">
            <a:tbl>
              <a:tblPr/>
              <a:tblGrid>
                <a:gridCol w="5486400"/>
                <a:gridCol w="5029200"/>
              </a:tblGrid>
              <a:tr h="548640">
                <a:tc>
                  <a:txBody>
                    <a:bodyPr/>
                    <a:lstStyle/>
                    <a:p>
                      <a:pPr indent="0" marL="0">
                        <a:buNone/>
                      </a:pPr>
                      <a:r>
                        <a:rPr lang="en-US" sz="2000" b="1" dirty="0">
                          <a:solidFill>
                            <a:srgbClr val="FFFFFF"/>
                          </a:solidFill>
                        </a:rPr>
                        <a:t>The patient says…</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indent="0" marL="0">
                        <a:buNone/>
                      </a:pPr>
                      <a:r>
                        <a:rPr lang="en-US" sz="2000" b="1" dirty="0">
                          <a:solidFill>
                            <a:srgbClr val="FFFFFF"/>
                          </a:solidFill>
                        </a:rPr>
                        <a:t>The doctor writes…</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r>
              <a:tr h="548640">
                <a:tc>
                  <a:txBody>
                    <a:bodyPr/>
                    <a:lstStyle/>
                    <a:p>
                      <a:pPr indent="0" marL="0">
                        <a:buNone/>
                      </a:pPr>
                      <a:r>
                        <a:rPr lang="en-US" sz="2000" dirty="0">
                          <a:solidFill>
                            <a:srgbClr val="000000"/>
                          </a:solidFill>
                        </a:rPr>
                        <a:t>“I can’t catch my breath.”</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FD5EA"/>
                    </a:solidFill>
                  </a:tcPr>
                </a:tc>
                <a:tc>
                  <a:txBody>
                    <a:bodyPr/>
                    <a:lstStyle/>
                    <a:p>
                      <a:pPr indent="0" marL="0">
                        <a:buNone/>
                      </a:pPr>
                      <a:r>
                        <a:rPr lang="en-US" sz="2000" b="1" dirty="0">
                          <a:solidFill>
                            <a:srgbClr val="000000"/>
                          </a:solidFill>
                        </a:rPr>
                        <a:t>Dyspnea</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FD5EA"/>
                    </a:solidFill>
                  </a:tcPr>
                </a:tc>
              </a:tr>
              <a:tr h="548640">
                <a:tc>
                  <a:txBody>
                    <a:bodyPr/>
                    <a:lstStyle/>
                    <a:p>
                      <a:pPr indent="0" marL="0">
                        <a:buNone/>
                      </a:pPr>
                      <a:r>
                        <a:rPr lang="en-US" sz="2000" dirty="0">
                          <a:solidFill>
                            <a:srgbClr val="000000"/>
                          </a:solidFill>
                        </a:rPr>
                        <a:t>“I’m coughing up phlegm.”</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9EBF5"/>
                    </a:solidFill>
                  </a:tcPr>
                </a:tc>
                <a:tc>
                  <a:txBody>
                    <a:bodyPr/>
                    <a:lstStyle/>
                    <a:p>
                      <a:pPr indent="0" marL="0">
                        <a:buNone/>
                      </a:pPr>
                      <a:r>
                        <a:rPr lang="en-US" sz="2000" b="1" dirty="0">
                          <a:solidFill>
                            <a:srgbClr val="000000"/>
                          </a:solidFill>
                        </a:rPr>
                        <a:t>Productive cough with sputum</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9EBF5"/>
                    </a:solidFill>
                  </a:tcPr>
                </a:tc>
              </a:tr>
              <a:tr h="548640">
                <a:tc>
                  <a:txBody>
                    <a:bodyPr/>
                    <a:lstStyle/>
                    <a:p>
                      <a:pPr indent="0" marL="0">
                        <a:buNone/>
                      </a:pPr>
                      <a:r>
                        <a:rPr lang="en-US" sz="2000" dirty="0">
                          <a:solidFill>
                            <a:srgbClr val="000000"/>
                          </a:solidFill>
                        </a:rPr>
                        <a:t>“There’s a whistling in my chest.”</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FD5EA"/>
                    </a:solidFill>
                  </a:tcPr>
                </a:tc>
                <a:tc>
                  <a:txBody>
                    <a:bodyPr/>
                    <a:lstStyle/>
                    <a:p>
                      <a:pPr indent="0" marL="0">
                        <a:buNone/>
                      </a:pPr>
                      <a:r>
                        <a:rPr lang="en-US" sz="2000" b="1" dirty="0">
                          <a:solidFill>
                            <a:srgbClr val="000000"/>
                          </a:solidFill>
                        </a:rPr>
                        <a:t>Wheeze</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FD5EA"/>
                    </a:solidFill>
                  </a:tcPr>
                </a:tc>
              </a:tr>
              <a:tr h="548640">
                <a:tc>
                  <a:txBody>
                    <a:bodyPr/>
                    <a:lstStyle/>
                    <a:p>
                      <a:pPr indent="0" marL="0">
                        <a:buNone/>
                      </a:pPr>
                      <a:r>
                        <a:rPr lang="en-US" sz="2000" dirty="0">
                          <a:solidFill>
                            <a:srgbClr val="000000"/>
                          </a:solidFill>
                        </a:rPr>
                        <a:t>“It suddenly got worse this week.”</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9EBF5"/>
                    </a:solidFill>
                  </a:tcPr>
                </a:tc>
                <a:tc>
                  <a:txBody>
                    <a:bodyPr/>
                    <a:lstStyle/>
                    <a:p>
                      <a:pPr indent="0" marL="0">
                        <a:buNone/>
                      </a:pPr>
                      <a:r>
                        <a:rPr lang="en-US" sz="2000" b="1" dirty="0">
                          <a:solidFill>
                            <a:srgbClr val="000000"/>
                          </a:solidFill>
                        </a:rPr>
                        <a:t>Exacerbation</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9EBF5"/>
                    </a:solidFill>
                  </a:tcPr>
                </a:tc>
              </a:tr>
              <a:tr h="548640">
                <a:tc>
                  <a:txBody>
                    <a:bodyPr/>
                    <a:lstStyle/>
                    <a:p>
                      <a:pPr indent="0" marL="0">
                        <a:buNone/>
                      </a:pPr>
                      <a:r>
                        <a:rPr lang="en-US" sz="2000" dirty="0">
                          <a:solidFill>
                            <a:srgbClr val="000000"/>
                          </a:solidFill>
                        </a:rPr>
                        <a:t>“My puffer”</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FD5EA"/>
                    </a:solidFill>
                  </a:tcPr>
                </a:tc>
                <a:tc>
                  <a:txBody>
                    <a:bodyPr/>
                    <a:lstStyle/>
                    <a:p>
                      <a:pPr indent="0" marL="0">
                        <a:buNone/>
                      </a:pPr>
                      <a:r>
                        <a:rPr lang="en-US" sz="2000" b="1" dirty="0">
                          <a:solidFill>
                            <a:srgbClr val="000000"/>
                          </a:solidFill>
                        </a:rPr>
                        <a:t>Inhaler</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FD5EA"/>
                    </a:solidFill>
                  </a:tcPr>
                </a:tc>
              </a:tr>
            </a:tbl>
          </a:graphicData>
        </a:graphic>
      </p:graphicFrame>
      <p:sp>
        <p:nvSpPr>
          <p:cNvPr id="5" name="Text 1"/>
          <p:cNvSpPr txBox="1"/>
          <p:nvPr/>
        </p:nvSpPr>
        <p:spPr>
          <a:xfrm>
            <a:off x="838505" y="5349240"/>
            <a:ext cx="10515600" cy="457200"/>
          </a:xfrm>
          <a:prstGeom prst="rect">
            <a:avLst/>
          </a:prstGeom>
          <a:noFill/>
          <a:ln/>
        </p:spPr>
        <p:txBody>
          <a:bodyPr wrap="square" rtlCol="0" anchor="t"/>
          <a:lstStyle/>
          <a:p>
            <a:pPr indent="0" marL="0">
              <a:buNone/>
            </a:pPr>
            <a:r>
              <a:rPr lang="en-US" sz="2000" b="1" dirty="0">
                <a:solidFill>
                  <a:srgbClr val="000000"/>
                </a:solidFill>
              </a:rPr>
              <a:t>Tip: </a:t>
            </a:r>
            <a:r>
              <a:rPr lang="en-US" sz="2000" i="1" dirty="0">
                <a:solidFill>
                  <a:srgbClr val="000000"/>
                </a:solidFill>
              </a:rPr>
              <a:t>simple words with patients, medical words with colleagues.</a:t>
            </a:r>
            <a:endParaRPr lang="en-US" sz="2000" dirty="0"/>
          </a:p>
        </p:txBody>
      </p:sp>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p:nvPr>
            <p:ph idx="100" type="title"/>
          </p:nvPr>
        </p:nvSpPr>
        <p:spPr>
          <a:xfrm>
            <a:off x="838505" y="365760"/>
            <a:ext cx="10515600" cy="1325880"/>
          </a:xfrm>
          <a:prstGeom prst="rect">
            <a:avLst/>
          </a:prstGeom>
          <a:noFill/>
          <a:ln/>
        </p:spPr>
        <p:txBody>
          <a:bodyPr wrap="square" rtlCol="0" anchor="ctr"/>
          <a:lstStyle/>
          <a:p>
            <a:pPr algn="l" indent="0" marL="0">
              <a:buNone/>
            </a:pPr>
            <a:r>
              <a:rPr lang="en-US" sz="4400" dirty="0"/>
              <a:t>How Do Doctors Find Out?</a:t>
            </a:r>
            <a:endParaRPr lang="en-US" sz="4400" dirty="0"/>
          </a:p>
        </p:txBody>
      </p:sp>
      <p:sp>
        <p:nvSpPr>
          <p:cNvPr id="4" name="Step 1. Ask"/>
          <p:cNvSpPr/>
          <p:nvPr/>
        </p:nvSpPr>
        <p:spPr>
          <a:xfrm>
            <a:off x="838505" y="1783080"/>
            <a:ext cx="3566160" cy="822960"/>
          </a:xfrm>
          <a:prstGeom prst="homePlate">
            <a:avLst/>
          </a:prstGeom>
          <a:solidFill>
            <a:srgbClr val="4472C4"/>
          </a:solidFill>
          <a:ln w="12700">
            <a:solidFill>
              <a:srgbClr val="2F528F"/>
            </a:solidFill>
          </a:ln>
        </p:spPr>
        <p:txBody>
          <a:bodyPr wrap="square" lIns="38100" tIns="381000" rIns="76200" bIns="38100" rtlCol="0" anchor="ctr"/>
          <a:lstStyle/>
          <a:p>
            <a:pPr algn="ctr" indent="0" marL="0">
              <a:buNone/>
            </a:pPr>
            <a:r>
              <a:rPr lang="en-US" sz="2400" b="1" dirty="0">
                <a:solidFill>
                  <a:srgbClr val="FFFFFF"/>
                </a:solidFill>
              </a:rPr>
              <a:t>1. Ask</a:t>
            </a:r>
            <a:endParaRPr lang="en-US" sz="1800" dirty="0"/>
          </a:p>
        </p:txBody>
      </p:sp>
      <p:pic>
        <p:nvPicPr>
          <p:cNvPr id="5" name="Picture placeholder 8" descr="PICTURE NEEDED: Doctor talking with a patient and taking notes. Search: doctor talking to patient">    </p:cNvPr>
          <p:cNvPicPr>
            <a:picLocks noChangeAspect="1"/>
          </p:cNvPicPr>
          <p:nvPr/>
        </p:nvPicPr>
        <p:blipFill>
          <a:blip r:embed="rId1"/>
          <a:stretch>
            <a:fillRect/>
          </a:stretch>
        </p:blipFill>
        <p:spPr>
          <a:xfrm>
            <a:off x="975665" y="2788920"/>
            <a:ext cx="3200400" cy="2011680"/>
          </a:xfrm>
          <a:prstGeom prst="rect">
            <a:avLst/>
          </a:prstGeom>
        </p:spPr>
      </p:pic>
      <p:sp>
        <p:nvSpPr>
          <p:cNvPr id="6" name="Text 2"/>
          <p:cNvSpPr txBox="1"/>
          <p:nvPr/>
        </p:nvSpPr>
        <p:spPr>
          <a:xfrm>
            <a:off x="975665" y="4892040"/>
            <a:ext cx="3200400" cy="822960"/>
          </a:xfrm>
          <a:prstGeom prst="rect">
            <a:avLst/>
          </a:prstGeom>
          <a:noFill/>
          <a:ln/>
        </p:spPr>
        <p:txBody>
          <a:bodyPr wrap="square" rtlCol="0" anchor="t"/>
          <a:lstStyle/>
          <a:p>
            <a:pPr algn="ctr" indent="0" marL="0">
              <a:buNone/>
            </a:pPr>
            <a:r>
              <a:rPr lang="en-US" sz="1800" dirty="0">
                <a:solidFill>
                  <a:srgbClr val="000000"/>
                </a:solidFill>
              </a:rPr>
              <a:t>Take a history: symptoms, smoking, allergies, family</a:t>
            </a:r>
            <a:endParaRPr lang="en-US" sz="1800" dirty="0"/>
          </a:p>
        </p:txBody>
      </p:sp>
      <p:sp>
        <p:nvSpPr>
          <p:cNvPr id="7" name="Step 2. Listen"/>
          <p:cNvSpPr/>
          <p:nvPr/>
        </p:nvSpPr>
        <p:spPr>
          <a:xfrm>
            <a:off x="4313225" y="1783080"/>
            <a:ext cx="3566160" cy="822960"/>
          </a:xfrm>
          <a:prstGeom prst="chevron">
            <a:avLst/>
          </a:prstGeom>
          <a:solidFill>
            <a:srgbClr val="4472C4"/>
          </a:solidFill>
          <a:ln w="12700">
            <a:solidFill>
              <a:srgbClr val="2F528F"/>
            </a:solidFill>
          </a:ln>
        </p:spPr>
        <p:txBody>
          <a:bodyPr wrap="square" lIns="38100" tIns="381000" rIns="381000" bIns="38100" rtlCol="0" anchor="ctr"/>
          <a:lstStyle/>
          <a:p>
            <a:pPr algn="ctr" indent="0" marL="0">
              <a:buNone/>
            </a:pPr>
            <a:r>
              <a:rPr lang="en-US" sz="2400" b="1" dirty="0">
                <a:solidFill>
                  <a:srgbClr val="FFFFFF"/>
                </a:solidFill>
              </a:rPr>
              <a:t>2. Listen</a:t>
            </a:r>
            <a:endParaRPr lang="en-US" sz="1800" dirty="0"/>
          </a:p>
        </p:txBody>
      </p:sp>
      <p:pic>
        <p:nvPicPr>
          <p:cNvPr id="8" name="Picture placeholder 9" descr="PICTURE NEEDED: Doctor listening to a patient’s chest or back with a stethoscope. Search: doctor stethoscope chest">    </p:cNvPr>
          <p:cNvPicPr>
            <a:picLocks noChangeAspect="1"/>
          </p:cNvPicPr>
          <p:nvPr/>
        </p:nvPicPr>
        <p:blipFill>
          <a:blip r:embed="rId2"/>
          <a:stretch>
            <a:fillRect/>
          </a:stretch>
        </p:blipFill>
        <p:spPr>
          <a:xfrm>
            <a:off x="4450385" y="2788920"/>
            <a:ext cx="3200400" cy="2011680"/>
          </a:xfrm>
          <a:prstGeom prst="rect">
            <a:avLst/>
          </a:prstGeom>
        </p:spPr>
      </p:pic>
      <p:sp>
        <p:nvSpPr>
          <p:cNvPr id="9" name="Text 4"/>
          <p:cNvSpPr txBox="1"/>
          <p:nvPr/>
        </p:nvSpPr>
        <p:spPr>
          <a:xfrm>
            <a:off x="4450385" y="4892040"/>
            <a:ext cx="3200400" cy="822960"/>
          </a:xfrm>
          <a:prstGeom prst="rect">
            <a:avLst/>
          </a:prstGeom>
          <a:noFill/>
          <a:ln/>
        </p:spPr>
        <p:txBody>
          <a:bodyPr wrap="square" rtlCol="0" anchor="t"/>
          <a:lstStyle/>
          <a:p>
            <a:pPr algn="ctr" indent="0" marL="0">
              <a:buNone/>
            </a:pPr>
            <a:r>
              <a:rPr lang="en-US" sz="1800" dirty="0">
                <a:solidFill>
                  <a:srgbClr val="000000"/>
                </a:solidFill>
              </a:rPr>
              <a:t>Use a stethoscope: is there a wheeze?</a:t>
            </a:r>
            <a:endParaRPr lang="en-US" sz="1800" dirty="0"/>
          </a:p>
        </p:txBody>
      </p:sp>
      <p:sp>
        <p:nvSpPr>
          <p:cNvPr id="10" name="Step 3. Test"/>
          <p:cNvSpPr/>
          <p:nvPr/>
        </p:nvSpPr>
        <p:spPr>
          <a:xfrm>
            <a:off x="7787945" y="1783080"/>
            <a:ext cx="3566160" cy="822960"/>
          </a:xfrm>
          <a:prstGeom prst="chevron">
            <a:avLst/>
          </a:prstGeom>
          <a:solidFill>
            <a:srgbClr val="4472C4"/>
          </a:solidFill>
          <a:ln w="12700">
            <a:solidFill>
              <a:srgbClr val="2F528F"/>
            </a:solidFill>
          </a:ln>
        </p:spPr>
        <p:txBody>
          <a:bodyPr wrap="square" lIns="38100" tIns="381000" rIns="381000" bIns="38100" rtlCol="0" anchor="ctr"/>
          <a:lstStyle/>
          <a:p>
            <a:pPr algn="ctr" indent="0" marL="0">
              <a:buNone/>
            </a:pPr>
            <a:r>
              <a:rPr lang="en-US" sz="2400" b="1" dirty="0">
                <a:solidFill>
                  <a:srgbClr val="FFFFFF"/>
                </a:solidFill>
              </a:rPr>
              <a:t>3. Test</a:t>
            </a:r>
            <a:endParaRPr lang="en-US" sz="1800" dirty="0"/>
          </a:p>
        </p:txBody>
      </p:sp>
      <p:pic>
        <p:nvPicPr>
          <p:cNvPr id="11" name="Picture placeholder 10" descr="PICTURE NEEDED: Patient blowing into a spirometer tube, wearing a nose clip. Search: spirometry test">    </p:cNvPr>
          <p:cNvPicPr>
            <a:picLocks noChangeAspect="1"/>
          </p:cNvPicPr>
          <p:nvPr/>
        </p:nvPicPr>
        <p:blipFill>
          <a:blip r:embed="rId3"/>
          <a:stretch>
            <a:fillRect/>
          </a:stretch>
        </p:blipFill>
        <p:spPr>
          <a:xfrm>
            <a:off x="7925105" y="2788920"/>
            <a:ext cx="3200400" cy="2011680"/>
          </a:xfrm>
          <a:prstGeom prst="rect">
            <a:avLst/>
          </a:prstGeom>
        </p:spPr>
      </p:pic>
      <p:sp>
        <p:nvSpPr>
          <p:cNvPr id="12" name="Text 6"/>
          <p:cNvSpPr txBox="1"/>
          <p:nvPr/>
        </p:nvSpPr>
        <p:spPr>
          <a:xfrm>
            <a:off x="7925105" y="4892040"/>
            <a:ext cx="3200400" cy="822960"/>
          </a:xfrm>
          <a:prstGeom prst="rect">
            <a:avLst/>
          </a:prstGeom>
          <a:noFill/>
          <a:ln/>
        </p:spPr>
        <p:txBody>
          <a:bodyPr wrap="square" rtlCol="0" anchor="t"/>
          <a:lstStyle/>
          <a:p>
            <a:pPr algn="ctr" indent="0" marL="0">
              <a:buNone/>
            </a:pPr>
            <a:r>
              <a:rPr lang="en-US" sz="1800" dirty="0">
                <a:solidFill>
                  <a:srgbClr val="000000"/>
                </a:solidFill>
              </a:rPr>
              <a:t>Spirometry: a breathing test</a:t>
            </a:r>
            <a:endParaRPr lang="en-US" sz="1800" dirty="0"/>
          </a:p>
        </p:txBody>
      </p:sp>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p:nvPr>
            <p:ph idx="100" type="title"/>
          </p:nvPr>
        </p:nvSpPr>
        <p:spPr>
          <a:xfrm>
            <a:off x="838505" y="365760"/>
            <a:ext cx="10515600" cy="1325880"/>
          </a:xfrm>
          <a:prstGeom prst="rect">
            <a:avLst/>
          </a:prstGeom>
          <a:noFill/>
          <a:ln/>
        </p:spPr>
        <p:txBody>
          <a:bodyPr wrap="square" rtlCol="0" anchor="ctr"/>
          <a:lstStyle/>
          <a:p>
            <a:pPr algn="l" indent="0" marL="0">
              <a:buNone/>
            </a:pPr>
            <a:r>
              <a:rPr lang="en-US" sz="4400" dirty="0"/>
              <a:t>Spirometry: The Blowing Test</a:t>
            </a:r>
            <a:endParaRPr lang="en-US" sz="4400" dirty="0"/>
          </a:p>
        </p:txBody>
      </p:sp>
      <p:sp>
        <p:nvSpPr>
          <p:cNvPr id="4" name="Text 1"/>
          <p:cNvSpPr txBox="1"/>
          <p:nvPr/>
        </p:nvSpPr>
        <p:spPr>
          <a:xfrm>
            <a:off x="838505" y="1783080"/>
            <a:ext cx="4343400" cy="4389120"/>
          </a:xfrm>
          <a:prstGeom prst="rect">
            <a:avLst/>
          </a:prstGeom>
          <a:noFill/>
          <a:ln/>
        </p:spPr>
        <p:txBody>
          <a:bodyPr wrap="square" rtlCol="0" anchor="t"/>
          <a:lstStyle/>
          <a:p>
            <a:pPr marL="342900" indent="-342900">
              <a:spcAft>
                <a:spcPts val="1200"/>
              </a:spcAft>
              <a:buSzPct val="100000"/>
              <a:buChar char="•"/>
            </a:pPr>
            <a:r>
              <a:rPr lang="en-US" sz="2000" dirty="0">
                <a:solidFill>
                  <a:srgbClr val="000000"/>
                </a:solidFill>
              </a:rPr>
              <a:t>Breathe in deeply, then blow out as hard and fast as you can</a:t>
            </a:r>
            <a:endParaRPr lang="en-US" sz="2000" dirty="0"/>
          </a:p>
          <a:p>
            <a:pPr marL="342900" indent="-342900">
              <a:buSzPct val="100000"/>
              <a:buChar char="•"/>
            </a:pPr>
            <a:r>
              <a:rPr lang="en-US" sz="2000" b="1" dirty="0">
                <a:solidFill>
                  <a:srgbClr val="000000"/>
                </a:solidFill>
              </a:rPr>
              <a:t>FEV1</a:t>
            </a:r>
            <a:r>
              <a:rPr lang="en-US" sz="2000" dirty="0">
                <a:solidFill>
                  <a:srgbClr val="000000"/>
                </a:solidFill>
              </a:rPr>
              <a:t> = air out in the first second</a:t>
            </a:r>
            <a:endParaRPr lang="en-US" sz="2000" dirty="0"/>
          </a:p>
          <a:p>
            <a:pPr marL="342900" indent="-342900">
              <a:buSzPct val="100000"/>
              <a:buChar char="•"/>
            </a:pPr>
            <a:r>
              <a:rPr lang="en-US" sz="2000" b="1" dirty="0">
                <a:solidFill>
                  <a:srgbClr val="000000"/>
                </a:solidFill>
              </a:rPr>
              <a:t>FVC</a:t>
            </a:r>
            <a:r>
              <a:rPr lang="en-US" sz="2000" dirty="0">
                <a:solidFill>
                  <a:srgbClr val="000000"/>
                </a:solidFill>
              </a:rPr>
              <a:t> = all the air out</a:t>
            </a:r>
            <a:endParaRPr lang="en-US" sz="2000" dirty="0"/>
          </a:p>
          <a:p>
            <a:pPr marL="342900" indent="-342900">
              <a:buSzPct val="100000"/>
              <a:buChar char="•"/>
            </a:pPr>
            <a:r>
              <a:rPr lang="en-US" sz="2000" b="1" dirty="0">
                <a:solidFill>
                  <a:srgbClr val="000000"/>
                </a:solidFill>
              </a:rPr>
              <a:t>FEV1 ÷ FVC below 0.7 = obstruction</a:t>
            </a:r>
            <a:endParaRPr lang="en-US" sz="2000" dirty="0"/>
          </a:p>
          <a:p>
            <a:pPr indent="0" marL="0">
              <a:spcBef>
                <a:spcPts val="1200"/>
              </a:spcBef>
              <a:buNone/>
            </a:pPr>
            <a:r>
              <a:rPr lang="en-US" sz="2000" b="1" dirty="0">
                <a:solidFill>
                  <a:srgbClr val="000000"/>
                </a:solidFill>
              </a:rPr>
              <a:t>After a reliever inhaler:</a:t>
            </a:r>
            <a:endParaRPr lang="en-US" sz="2000" dirty="0"/>
          </a:p>
          <a:p>
            <a:pPr marL="342900" indent="-342900">
              <a:buSzPct val="100000"/>
              <a:buChar char="•"/>
            </a:pPr>
            <a:r>
              <a:rPr lang="en-US" sz="2000" dirty="0">
                <a:solidFill>
                  <a:srgbClr val="000000"/>
                </a:solidFill>
              </a:rPr>
              <a:t>Asthma: big improvement</a:t>
            </a:r>
            <a:endParaRPr lang="en-US" sz="2000" dirty="0"/>
          </a:p>
          <a:p>
            <a:pPr marL="342900" indent="-342900">
              <a:buSzPct val="100000"/>
              <a:buChar char="•"/>
            </a:pPr>
            <a:r>
              <a:rPr lang="en-US" sz="2000" dirty="0">
                <a:solidFill>
                  <a:srgbClr val="000000"/>
                </a:solidFill>
              </a:rPr>
              <a:t>COPD: small improvement</a:t>
            </a:r>
            <a:endParaRPr lang="en-US" sz="2000" dirty="0"/>
          </a:p>
        </p:txBody>
      </p:sp>
      <p:graphicFrame>
        <p:nvGraphicFramePr>
          <p:cNvPr id="5" name="Chart 0" descr=""/>
          <p:cNvGraphicFramePr/>
          <p:nvPr/>
        </p:nvGraphicFramePr>
        <p:xfrm>
          <a:off x="5349240" y="1691640"/>
          <a:ext cx="6007608" cy="452628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6978503" y="2325319"/>
            <a:ext cx="914" cy="2715768"/>
          </a:xfrm>
          <a:prstGeom prst="line">
            <a:avLst/>
          </a:prstGeom>
          <a:noFill/>
          <a:ln w="15875">
            <a:solidFill>
              <a:srgbClr val="7F7F7F"/>
            </a:solidFill>
            <a:prstDash val="dash"/>
          </a:ln>
        </p:spPr>
      </p:sp>
      <p:sp>
        <p:nvSpPr>
          <p:cNvPr id="7" name="Text 3"/>
          <p:cNvSpPr txBox="1"/>
          <p:nvPr/>
        </p:nvSpPr>
        <p:spPr>
          <a:xfrm>
            <a:off x="7024223" y="2343607"/>
            <a:ext cx="1097280" cy="274320"/>
          </a:xfrm>
          <a:prstGeom prst="rect">
            <a:avLst/>
          </a:prstGeom>
          <a:noFill/>
          <a:ln/>
        </p:spPr>
        <p:txBody>
          <a:bodyPr wrap="square" lIns="0" tIns="0" rIns="0" bIns="0" rtlCol="0" anchor="t"/>
          <a:lstStyle/>
          <a:p>
            <a:pPr indent="0" marL="0">
              <a:buNone/>
            </a:pPr>
            <a:r>
              <a:rPr lang="en-US" sz="1400" dirty="0">
                <a:solidFill>
                  <a:srgbClr val="595959"/>
                </a:solidFill>
              </a:rPr>
              <a:t>1 second</a:t>
            </a:r>
            <a:endParaRPr lang="en-US" sz="1400" dirty="0"/>
          </a:p>
        </p:txBody>
      </p:sp>
      <p:sp>
        <p:nvSpPr>
          <p:cNvPr id="8" name="Text 4"/>
          <p:cNvSpPr txBox="1"/>
          <p:nvPr/>
        </p:nvSpPr>
        <p:spPr>
          <a:xfrm>
            <a:off x="7069943" y="3248863"/>
            <a:ext cx="1371600" cy="274320"/>
          </a:xfrm>
          <a:prstGeom prst="rect">
            <a:avLst/>
          </a:prstGeom>
          <a:noFill/>
          <a:ln/>
        </p:spPr>
        <p:txBody>
          <a:bodyPr wrap="square" lIns="0" tIns="0" rIns="0" bIns="0" rtlCol="0" anchor="t"/>
          <a:lstStyle/>
          <a:p>
            <a:pPr indent="0" marL="0">
              <a:buNone/>
            </a:pPr>
            <a:r>
              <a:rPr lang="en-US" sz="1400" b="1" dirty="0">
                <a:solidFill>
                  <a:srgbClr val="4472C4"/>
                </a:solidFill>
              </a:rPr>
              <a:t>FEV1 = 4.0 L</a:t>
            </a:r>
            <a:endParaRPr lang="en-US" sz="1400" dirty="0"/>
          </a:p>
        </p:txBody>
      </p:sp>
      <p:sp>
        <p:nvSpPr>
          <p:cNvPr id="9" name="Text 5"/>
          <p:cNvSpPr txBox="1"/>
          <p:nvPr/>
        </p:nvSpPr>
        <p:spPr>
          <a:xfrm>
            <a:off x="7069943" y="4272077"/>
            <a:ext cx="1371600" cy="274320"/>
          </a:xfrm>
          <a:prstGeom prst="rect">
            <a:avLst/>
          </a:prstGeom>
          <a:noFill/>
          <a:ln/>
        </p:spPr>
        <p:txBody>
          <a:bodyPr wrap="square" lIns="0" tIns="0" rIns="0" bIns="0" rtlCol="0" anchor="t"/>
          <a:lstStyle/>
          <a:p>
            <a:pPr indent="0" marL="0">
              <a:buNone/>
            </a:pPr>
            <a:r>
              <a:rPr lang="en-US" sz="1400" b="1" dirty="0">
                <a:solidFill>
                  <a:srgbClr val="ED7D31"/>
                </a:solidFill>
              </a:rPr>
              <a:t>FEV1 = 1.8 L</a:t>
            </a:r>
            <a:endParaRPr lang="en-US" sz="1400" dirty="0"/>
          </a:p>
        </p:txBody>
      </p:sp>
      <p:sp>
        <p:nvSpPr>
          <p:cNvPr id="10" name="Text 6"/>
          <p:cNvSpPr txBox="1"/>
          <p:nvPr/>
        </p:nvSpPr>
        <p:spPr>
          <a:xfrm>
            <a:off x="9882104" y="2467051"/>
            <a:ext cx="1188720" cy="274320"/>
          </a:xfrm>
          <a:prstGeom prst="rect">
            <a:avLst/>
          </a:prstGeom>
          <a:noFill/>
          <a:ln/>
        </p:spPr>
        <p:txBody>
          <a:bodyPr wrap="square" lIns="0" tIns="0" rIns="0" bIns="0" rtlCol="0" anchor="t"/>
          <a:lstStyle/>
          <a:p>
            <a:pPr algn="r" indent="0" marL="0">
              <a:buNone/>
            </a:pPr>
            <a:r>
              <a:rPr lang="en-US" sz="1400" b="1" dirty="0">
                <a:solidFill>
                  <a:srgbClr val="4472C4"/>
                </a:solidFill>
              </a:rPr>
              <a:t>FVC = 5.0 L</a:t>
            </a:r>
            <a:endParaRPr lang="en-US" sz="1400" dirty="0"/>
          </a:p>
        </p:txBody>
      </p:sp>
      <p:sp>
        <p:nvSpPr>
          <p:cNvPr id="11" name="Text 7"/>
          <p:cNvSpPr txBox="1"/>
          <p:nvPr/>
        </p:nvSpPr>
        <p:spPr>
          <a:xfrm>
            <a:off x="9882104" y="3489122"/>
            <a:ext cx="1188720" cy="274320"/>
          </a:xfrm>
          <a:prstGeom prst="rect">
            <a:avLst/>
          </a:prstGeom>
          <a:noFill/>
          <a:ln/>
        </p:spPr>
        <p:txBody>
          <a:bodyPr wrap="square" lIns="0" tIns="0" rIns="0" bIns="0" rtlCol="0" anchor="t"/>
          <a:lstStyle/>
          <a:p>
            <a:pPr algn="r" indent="0" marL="0">
              <a:buNone/>
            </a:pPr>
            <a:r>
              <a:rPr lang="en-US" sz="1400" b="1" dirty="0">
                <a:solidFill>
                  <a:srgbClr val="ED7D31"/>
                </a:solidFill>
              </a:rPr>
              <a:t>FVC = 3.6 L</a:t>
            </a:r>
            <a:endParaRPr lang="en-US" sz="1400" dirty="0"/>
          </a:p>
        </p:txBody>
      </p:sp>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p:nvPr>
            <p:ph idx="100" type="title"/>
          </p:nvPr>
        </p:nvSpPr>
        <p:spPr>
          <a:xfrm>
            <a:off x="838505" y="365760"/>
            <a:ext cx="10515600" cy="1325880"/>
          </a:xfrm>
          <a:prstGeom prst="rect">
            <a:avLst/>
          </a:prstGeom>
          <a:noFill/>
          <a:ln/>
        </p:spPr>
        <p:txBody>
          <a:bodyPr wrap="square" rtlCol="0" anchor="ctr"/>
          <a:lstStyle/>
          <a:p>
            <a:pPr algn="l" indent="0" marL="0">
              <a:buNone/>
            </a:pPr>
            <a:r>
              <a:rPr lang="en-US" sz="4400" dirty="0"/>
              <a:t>Treating Asthma: Two Inhalers</a:t>
            </a:r>
            <a:endParaRPr lang="en-US" sz="4400" dirty="0"/>
          </a:p>
        </p:txBody>
      </p:sp>
      <p:sp>
        <p:nvSpPr>
          <p:cNvPr id="4" name="Text 1"/>
          <p:cNvSpPr txBox="1"/>
          <p:nvPr/>
        </p:nvSpPr>
        <p:spPr>
          <a:xfrm>
            <a:off x="838505" y="1737360"/>
            <a:ext cx="5029200" cy="457200"/>
          </a:xfrm>
          <a:prstGeom prst="rect">
            <a:avLst/>
          </a:prstGeom>
          <a:noFill/>
          <a:ln/>
        </p:spPr>
        <p:txBody>
          <a:bodyPr wrap="square" rtlCol="0" anchor="t"/>
          <a:lstStyle/>
          <a:p>
            <a:pPr indent="0" marL="0">
              <a:buNone/>
            </a:pPr>
            <a:r>
              <a:rPr lang="en-US" sz="2400" b="1" dirty="0">
                <a:solidFill>
                  <a:srgbClr val="000000"/>
                </a:solidFill>
              </a:rPr>
              <a:t>Reliever: the “rescue” inhaler</a:t>
            </a:r>
            <a:endParaRPr lang="en-US" sz="2400" dirty="0"/>
          </a:p>
        </p:txBody>
      </p:sp>
      <p:pic>
        <p:nvPicPr>
          <p:cNvPr id="5" name="Picture placeholder 11" descr="PICTURE NEEDED: Blue reliever inhaler (salbutamol). Search: salbutamol inhaler">    </p:cNvPr>
          <p:cNvPicPr>
            <a:picLocks noChangeAspect="1"/>
          </p:cNvPicPr>
          <p:nvPr/>
        </p:nvPicPr>
        <p:blipFill>
          <a:blip r:embed="rId1"/>
          <a:stretch>
            <a:fillRect/>
          </a:stretch>
        </p:blipFill>
        <p:spPr>
          <a:xfrm>
            <a:off x="838505" y="2331720"/>
            <a:ext cx="2103120" cy="2103120"/>
          </a:xfrm>
          <a:prstGeom prst="rect">
            <a:avLst/>
          </a:prstGeom>
        </p:spPr>
      </p:pic>
      <p:sp>
        <p:nvSpPr>
          <p:cNvPr id="6" name="Text 2"/>
          <p:cNvSpPr txBox="1"/>
          <p:nvPr/>
        </p:nvSpPr>
        <p:spPr>
          <a:xfrm>
            <a:off x="3078785" y="2331720"/>
            <a:ext cx="2788920" cy="2194560"/>
          </a:xfrm>
          <a:prstGeom prst="rect">
            <a:avLst/>
          </a:prstGeom>
          <a:noFill/>
          <a:ln/>
        </p:spPr>
        <p:txBody>
          <a:bodyPr wrap="square" rtlCol="0" anchor="t"/>
          <a:lstStyle/>
          <a:p>
            <a:pPr marL="342900" indent="-342900">
              <a:spcAft>
                <a:spcPts val="600"/>
              </a:spcAft>
              <a:buSzPct val="100000"/>
              <a:buChar char="•"/>
            </a:pPr>
            <a:r>
              <a:rPr lang="en-US" sz="1800" dirty="0">
                <a:solidFill>
                  <a:srgbClr val="000000"/>
                </a:solidFill>
              </a:rPr>
              <a:t>Works in minutes</a:t>
            </a:r>
            <a:endParaRPr lang="en-US" sz="2000" dirty="0"/>
          </a:p>
          <a:p>
            <a:pPr marL="342900" indent="-342900">
              <a:spcAft>
                <a:spcPts val="600"/>
              </a:spcAft>
              <a:buSzPct val="100000"/>
              <a:buChar char="•"/>
            </a:pPr>
            <a:r>
              <a:rPr lang="en-US" sz="1800" dirty="0">
                <a:solidFill>
                  <a:srgbClr val="000000"/>
                </a:solidFill>
              </a:rPr>
              <a:t>Opens the airways (bronchodilator)</a:t>
            </a:r>
            <a:endParaRPr lang="en-US" sz="2000" dirty="0"/>
          </a:p>
          <a:p>
            <a:pPr marL="342900" indent="-342900">
              <a:spcAft>
                <a:spcPts val="600"/>
              </a:spcAft>
              <a:buSzPct val="100000"/>
              <a:buChar char="•"/>
            </a:pPr>
            <a:r>
              <a:rPr lang="en-US" sz="1800" dirty="0">
                <a:solidFill>
                  <a:srgbClr val="000000"/>
                </a:solidFill>
              </a:rPr>
              <a:t>Used when symptoms start</a:t>
            </a:r>
            <a:endParaRPr lang="en-US" sz="2000" dirty="0"/>
          </a:p>
          <a:p>
            <a:pPr marL="342900" indent="-342900">
              <a:spcAft>
                <a:spcPts val="600"/>
              </a:spcAft>
              <a:buSzPct val="100000"/>
              <a:buChar char="•"/>
            </a:pPr>
            <a:r>
              <a:rPr lang="en-US" sz="1800" dirty="0">
                <a:solidFill>
                  <a:srgbClr val="000000"/>
                </a:solidFill>
              </a:rPr>
              <a:t>Example: salbutamol</a:t>
            </a:r>
            <a:endParaRPr lang="en-US" sz="2000" dirty="0"/>
          </a:p>
        </p:txBody>
      </p:sp>
      <p:sp>
        <p:nvSpPr>
          <p:cNvPr id="7" name="Text 3"/>
          <p:cNvSpPr txBox="1"/>
          <p:nvPr/>
        </p:nvSpPr>
        <p:spPr>
          <a:xfrm>
            <a:off x="6324905" y="1737360"/>
            <a:ext cx="5029200" cy="457200"/>
          </a:xfrm>
          <a:prstGeom prst="rect">
            <a:avLst/>
          </a:prstGeom>
          <a:noFill/>
          <a:ln/>
        </p:spPr>
        <p:txBody>
          <a:bodyPr wrap="square" rtlCol="0" anchor="t"/>
          <a:lstStyle/>
          <a:p>
            <a:pPr indent="0" marL="0">
              <a:buNone/>
            </a:pPr>
            <a:r>
              <a:rPr lang="en-US" sz="2400" b="1" dirty="0">
                <a:solidFill>
                  <a:srgbClr val="000000"/>
                </a:solidFill>
              </a:rPr>
              <a:t>Controller: the “preventer”</a:t>
            </a:r>
            <a:endParaRPr lang="en-US" sz="2400" dirty="0"/>
          </a:p>
        </p:txBody>
      </p:sp>
      <p:pic>
        <p:nvPicPr>
          <p:cNvPr id="8" name="Picture placeholder 12" descr="PICTURE NEEDED: Preventer inhaler with a steroid (often brown, orange or purple). Search: steroid preventer inhaler">    </p:cNvPr>
          <p:cNvPicPr>
            <a:picLocks noChangeAspect="1"/>
          </p:cNvPicPr>
          <p:nvPr/>
        </p:nvPicPr>
        <p:blipFill>
          <a:blip r:embed="rId2"/>
          <a:stretch>
            <a:fillRect/>
          </a:stretch>
        </p:blipFill>
        <p:spPr>
          <a:xfrm>
            <a:off x="6324905" y="2331720"/>
            <a:ext cx="2103120" cy="2103120"/>
          </a:xfrm>
          <a:prstGeom prst="rect">
            <a:avLst/>
          </a:prstGeom>
        </p:spPr>
      </p:pic>
      <p:sp>
        <p:nvSpPr>
          <p:cNvPr id="9" name="Text 4"/>
          <p:cNvSpPr txBox="1"/>
          <p:nvPr/>
        </p:nvSpPr>
        <p:spPr>
          <a:xfrm>
            <a:off x="8565185" y="2331720"/>
            <a:ext cx="2788920" cy="2194560"/>
          </a:xfrm>
          <a:prstGeom prst="rect">
            <a:avLst/>
          </a:prstGeom>
          <a:noFill/>
          <a:ln/>
        </p:spPr>
        <p:txBody>
          <a:bodyPr wrap="square" rtlCol="0" anchor="t"/>
          <a:lstStyle/>
          <a:p>
            <a:pPr marL="342900" indent="-342900">
              <a:spcAft>
                <a:spcPts val="600"/>
              </a:spcAft>
              <a:buSzPct val="100000"/>
              <a:buChar char="•"/>
            </a:pPr>
            <a:r>
              <a:rPr lang="en-US" sz="1800" dirty="0">
                <a:solidFill>
                  <a:srgbClr val="000000"/>
                </a:solidFill>
              </a:rPr>
              <a:t>Works over days and weeks</a:t>
            </a:r>
            <a:endParaRPr lang="en-US" sz="2000" dirty="0"/>
          </a:p>
          <a:p>
            <a:pPr marL="342900" indent="-342900">
              <a:spcAft>
                <a:spcPts val="600"/>
              </a:spcAft>
              <a:buSzPct val="100000"/>
              <a:buChar char="•"/>
            </a:pPr>
            <a:r>
              <a:rPr lang="en-US" sz="1800" dirty="0">
                <a:solidFill>
                  <a:srgbClr val="000000"/>
                </a:solidFill>
              </a:rPr>
              <a:t>Calms the inflammation (steroid)</a:t>
            </a:r>
            <a:endParaRPr lang="en-US" sz="2000" dirty="0"/>
          </a:p>
          <a:p>
            <a:pPr marL="342900" indent="-342900">
              <a:spcAft>
                <a:spcPts val="600"/>
              </a:spcAft>
              <a:buSzPct val="100000"/>
              <a:buChar char="•"/>
            </a:pPr>
            <a:r>
              <a:rPr lang="en-US" sz="1800" dirty="0">
                <a:solidFill>
                  <a:srgbClr val="000000"/>
                </a:solidFill>
              </a:rPr>
              <a:t>Used every day, even when well</a:t>
            </a:r>
            <a:endParaRPr lang="en-US" sz="2000" dirty="0"/>
          </a:p>
          <a:p>
            <a:pPr marL="342900" indent="-342900">
              <a:spcAft>
                <a:spcPts val="600"/>
              </a:spcAft>
              <a:buSzPct val="100000"/>
              <a:buChar char="•"/>
            </a:pPr>
            <a:r>
              <a:rPr lang="en-US" sz="1800" dirty="0">
                <a:solidFill>
                  <a:srgbClr val="000000"/>
                </a:solidFill>
              </a:rPr>
              <a:t>Example: budesonide</a:t>
            </a:r>
            <a:endParaRPr lang="en-US" sz="2000" dirty="0"/>
          </a:p>
        </p:txBody>
      </p:sp>
      <p:sp>
        <p:nvSpPr>
          <p:cNvPr id="10" name="Text 5"/>
          <p:cNvSpPr txBox="1"/>
          <p:nvPr/>
        </p:nvSpPr>
        <p:spPr>
          <a:xfrm>
            <a:off x="838505" y="4937760"/>
            <a:ext cx="10515600" cy="822960"/>
          </a:xfrm>
          <a:prstGeom prst="rect">
            <a:avLst/>
          </a:prstGeom>
          <a:noFill/>
          <a:ln/>
        </p:spPr>
        <p:txBody>
          <a:bodyPr wrap="square" rtlCol="0" anchor="t"/>
          <a:lstStyle/>
          <a:p>
            <a:pPr indent="0" marL="0">
              <a:buNone/>
            </a:pPr>
            <a:r>
              <a:rPr lang="en-US" sz="2200" b="1" dirty="0">
                <a:solidFill>
                  <a:srgbClr val="000000"/>
                </a:solidFill>
              </a:rPr>
              <a:t>Remember: </a:t>
            </a:r>
            <a:r>
              <a:rPr lang="en-US" sz="2200" dirty="0">
                <a:solidFill>
                  <a:srgbClr val="000000"/>
                </a:solidFill>
              </a:rPr>
              <a:t>a reliever alone is not enough. The inflammation needs treatment too.</a:t>
            </a:r>
            <a:endParaRPr lang="en-US" sz="2200" dirty="0"/>
          </a:p>
        </p:txBody>
      </p:sp>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p:nvPr>
            <p:ph idx="100" type="title"/>
          </p:nvPr>
        </p:nvSpPr>
        <p:spPr>
          <a:xfrm>
            <a:off x="838505" y="365760"/>
            <a:ext cx="10515600" cy="1325880"/>
          </a:xfrm>
          <a:prstGeom prst="rect">
            <a:avLst/>
          </a:prstGeom>
          <a:noFill/>
          <a:ln/>
        </p:spPr>
        <p:txBody>
          <a:bodyPr wrap="square" rtlCol="0" anchor="ctr"/>
          <a:lstStyle/>
          <a:p>
            <a:pPr algn="l" indent="0" marL="0">
              <a:buNone/>
            </a:pPr>
            <a:r>
              <a:rPr lang="en-US" sz="4400" dirty="0"/>
              <a:t>How to Use an Inhaler</a:t>
            </a:r>
            <a:endParaRPr lang="en-US" sz="4400" dirty="0"/>
          </a:p>
        </p:txBody>
      </p:sp>
      <p:sp>
        <p:nvSpPr>
          <p:cNvPr id="4" name="Step 1"/>
          <p:cNvSpPr/>
          <p:nvPr/>
        </p:nvSpPr>
        <p:spPr>
          <a:xfrm>
            <a:off x="838505" y="1828800"/>
            <a:ext cx="2194560" cy="1600200"/>
          </a:xfrm>
          <a:prstGeom prst="rect">
            <a:avLst/>
          </a:prstGeom>
          <a:solidFill>
            <a:srgbClr val="4472C4"/>
          </a:solidFill>
          <a:ln w="12700">
            <a:solidFill>
              <a:srgbClr val="2F528F"/>
            </a:solidFill>
          </a:ln>
        </p:spPr>
        <p:txBody>
          <a:bodyPr wrap="square" rtlCol="0" anchor="ctr"/>
          <a:lstStyle/>
          <a:p>
            <a:pPr algn="ctr" indent="0" marL="0">
              <a:buNone/>
            </a:pPr>
            <a:r>
              <a:rPr lang="en-US" sz="2800" b="1" dirty="0">
                <a:solidFill>
                  <a:srgbClr val="FFFFFF"/>
                </a:solidFill>
              </a:rPr>
              <a:t>1</a:t>
            </a:r>
            <a:endParaRPr lang="en-US" sz="1800" dirty="0"/>
          </a:p>
          <a:p>
            <a:pPr algn="ctr" indent="0" marL="0">
              <a:buNone/>
            </a:pPr>
            <a:r>
              <a:rPr lang="en-US" sz="1800" dirty="0">
                <a:solidFill>
                  <a:srgbClr val="FFFFFF"/>
                </a:solidFill>
              </a:rPr>
              <a:t>Shake the inhaler</a:t>
            </a:r>
            <a:endParaRPr lang="en-US" sz="1800" dirty="0"/>
          </a:p>
        </p:txBody>
      </p:sp>
      <p:sp>
        <p:nvSpPr>
          <p:cNvPr id="5" name="Step 2"/>
          <p:cNvSpPr/>
          <p:nvPr/>
        </p:nvSpPr>
        <p:spPr>
          <a:xfrm>
            <a:off x="3170225" y="1828800"/>
            <a:ext cx="2194560" cy="1600200"/>
          </a:xfrm>
          <a:prstGeom prst="rect">
            <a:avLst/>
          </a:prstGeom>
          <a:solidFill>
            <a:srgbClr val="4472C4"/>
          </a:solidFill>
          <a:ln w="12700">
            <a:solidFill>
              <a:srgbClr val="2F528F"/>
            </a:solidFill>
          </a:ln>
        </p:spPr>
        <p:txBody>
          <a:bodyPr wrap="square" rtlCol="0" anchor="ctr"/>
          <a:lstStyle/>
          <a:p>
            <a:pPr algn="ctr" indent="0" marL="0">
              <a:buNone/>
            </a:pPr>
            <a:r>
              <a:rPr lang="en-US" sz="2800" b="1" dirty="0">
                <a:solidFill>
                  <a:srgbClr val="FFFFFF"/>
                </a:solidFill>
              </a:rPr>
              <a:t>2</a:t>
            </a:r>
            <a:endParaRPr lang="en-US" sz="1800" dirty="0"/>
          </a:p>
          <a:p>
            <a:pPr algn="ctr" indent="0" marL="0">
              <a:buNone/>
            </a:pPr>
            <a:r>
              <a:rPr lang="en-US" sz="1800" dirty="0">
                <a:solidFill>
                  <a:srgbClr val="FFFFFF"/>
                </a:solidFill>
              </a:rPr>
              <a:t>Breathe out gently, away from it</a:t>
            </a:r>
            <a:endParaRPr lang="en-US" sz="1800" dirty="0"/>
          </a:p>
        </p:txBody>
      </p:sp>
      <p:sp>
        <p:nvSpPr>
          <p:cNvPr id="6" name="Step 3"/>
          <p:cNvSpPr/>
          <p:nvPr/>
        </p:nvSpPr>
        <p:spPr>
          <a:xfrm>
            <a:off x="5501945" y="1828800"/>
            <a:ext cx="2194560" cy="1600200"/>
          </a:xfrm>
          <a:prstGeom prst="rect">
            <a:avLst/>
          </a:prstGeom>
          <a:solidFill>
            <a:srgbClr val="4472C4"/>
          </a:solidFill>
          <a:ln w="12700">
            <a:solidFill>
              <a:srgbClr val="2F528F"/>
            </a:solidFill>
          </a:ln>
        </p:spPr>
        <p:txBody>
          <a:bodyPr wrap="square" rtlCol="0" anchor="ctr"/>
          <a:lstStyle/>
          <a:p>
            <a:pPr algn="ctr" indent="0" marL="0">
              <a:buNone/>
            </a:pPr>
            <a:r>
              <a:rPr lang="en-US" sz="2800" b="1" dirty="0">
                <a:solidFill>
                  <a:srgbClr val="FFFFFF"/>
                </a:solidFill>
              </a:rPr>
              <a:t>3</a:t>
            </a:r>
            <a:endParaRPr lang="en-US" sz="1800" dirty="0"/>
          </a:p>
          <a:p>
            <a:pPr algn="ctr" indent="0" marL="0">
              <a:buNone/>
            </a:pPr>
            <a:r>
              <a:rPr lang="en-US" sz="1800" dirty="0">
                <a:solidFill>
                  <a:srgbClr val="FFFFFF"/>
                </a:solidFill>
              </a:rPr>
              <a:t>Close your lips around it</a:t>
            </a:r>
            <a:endParaRPr lang="en-US" sz="1800" dirty="0"/>
          </a:p>
        </p:txBody>
      </p:sp>
      <p:sp>
        <p:nvSpPr>
          <p:cNvPr id="7" name="Step 4"/>
          <p:cNvSpPr/>
          <p:nvPr/>
        </p:nvSpPr>
        <p:spPr>
          <a:xfrm>
            <a:off x="838505" y="3566160"/>
            <a:ext cx="2194560" cy="1600200"/>
          </a:xfrm>
          <a:prstGeom prst="rect">
            <a:avLst/>
          </a:prstGeom>
          <a:solidFill>
            <a:srgbClr val="4472C4"/>
          </a:solidFill>
          <a:ln w="12700">
            <a:solidFill>
              <a:srgbClr val="2F528F"/>
            </a:solidFill>
          </a:ln>
        </p:spPr>
        <p:txBody>
          <a:bodyPr wrap="square" rtlCol="0" anchor="ctr"/>
          <a:lstStyle/>
          <a:p>
            <a:pPr algn="ctr" indent="0" marL="0">
              <a:buNone/>
            </a:pPr>
            <a:r>
              <a:rPr lang="en-US" sz="2800" b="1" dirty="0">
                <a:solidFill>
                  <a:srgbClr val="FFFFFF"/>
                </a:solidFill>
              </a:rPr>
              <a:t>4</a:t>
            </a:r>
            <a:endParaRPr lang="en-US" sz="1800" dirty="0"/>
          </a:p>
          <a:p>
            <a:pPr algn="ctr" indent="0" marL="0">
              <a:buNone/>
            </a:pPr>
            <a:r>
              <a:rPr lang="en-US" sz="1800" dirty="0">
                <a:solidFill>
                  <a:srgbClr val="FFFFFF"/>
                </a:solidFill>
              </a:rPr>
              <a:t>Press once and breathe in slowly and deeply</a:t>
            </a:r>
            <a:endParaRPr lang="en-US" sz="1800" dirty="0"/>
          </a:p>
        </p:txBody>
      </p:sp>
      <p:sp>
        <p:nvSpPr>
          <p:cNvPr id="8" name="Step 5"/>
          <p:cNvSpPr/>
          <p:nvPr/>
        </p:nvSpPr>
        <p:spPr>
          <a:xfrm>
            <a:off x="3170225" y="3566160"/>
            <a:ext cx="2194560" cy="1600200"/>
          </a:xfrm>
          <a:prstGeom prst="rect">
            <a:avLst/>
          </a:prstGeom>
          <a:solidFill>
            <a:srgbClr val="4472C4"/>
          </a:solidFill>
          <a:ln w="12700">
            <a:solidFill>
              <a:srgbClr val="2F528F"/>
            </a:solidFill>
          </a:ln>
        </p:spPr>
        <p:txBody>
          <a:bodyPr wrap="square" rtlCol="0" anchor="ctr"/>
          <a:lstStyle/>
          <a:p>
            <a:pPr algn="ctr" indent="0" marL="0">
              <a:buNone/>
            </a:pPr>
            <a:r>
              <a:rPr lang="en-US" sz="2800" b="1" dirty="0">
                <a:solidFill>
                  <a:srgbClr val="FFFFFF"/>
                </a:solidFill>
              </a:rPr>
              <a:t>5</a:t>
            </a:r>
            <a:endParaRPr lang="en-US" sz="1800" dirty="0"/>
          </a:p>
          <a:p>
            <a:pPr algn="ctr" indent="0" marL="0">
              <a:buNone/>
            </a:pPr>
            <a:r>
              <a:rPr lang="en-US" sz="1800" dirty="0">
                <a:solidFill>
                  <a:srgbClr val="FFFFFF"/>
                </a:solidFill>
              </a:rPr>
              <a:t>Hold your breath for 10 seconds</a:t>
            </a:r>
            <a:endParaRPr lang="en-US" sz="1800" dirty="0"/>
          </a:p>
        </p:txBody>
      </p:sp>
      <p:sp>
        <p:nvSpPr>
          <p:cNvPr id="9" name="Step 6"/>
          <p:cNvSpPr/>
          <p:nvPr/>
        </p:nvSpPr>
        <p:spPr>
          <a:xfrm>
            <a:off x="5501945" y="3566160"/>
            <a:ext cx="2194560" cy="1600200"/>
          </a:xfrm>
          <a:prstGeom prst="rect">
            <a:avLst/>
          </a:prstGeom>
          <a:solidFill>
            <a:srgbClr val="4472C4"/>
          </a:solidFill>
          <a:ln w="12700">
            <a:solidFill>
              <a:srgbClr val="2F528F"/>
            </a:solidFill>
          </a:ln>
        </p:spPr>
        <p:txBody>
          <a:bodyPr wrap="square" rtlCol="0" anchor="ctr"/>
          <a:lstStyle/>
          <a:p>
            <a:pPr algn="ctr" indent="0" marL="0">
              <a:buNone/>
            </a:pPr>
            <a:r>
              <a:rPr lang="en-US" sz="2800" b="1" dirty="0">
                <a:solidFill>
                  <a:srgbClr val="FFFFFF"/>
                </a:solidFill>
              </a:rPr>
              <a:t>6</a:t>
            </a:r>
            <a:endParaRPr lang="en-US" sz="1800" dirty="0"/>
          </a:p>
          <a:p>
            <a:pPr algn="ctr" indent="0" marL="0">
              <a:buNone/>
            </a:pPr>
            <a:r>
              <a:rPr lang="en-US" sz="1800" dirty="0">
                <a:solidFill>
                  <a:srgbClr val="FFFFFF"/>
                </a:solidFill>
              </a:rPr>
              <a:t>Rinse your mouth (after a steroid inhaler)</a:t>
            </a:r>
            <a:endParaRPr lang="en-US" sz="1800" dirty="0"/>
          </a:p>
        </p:txBody>
      </p:sp>
      <p:pic>
        <p:nvPicPr>
          <p:cNvPr id="10" name="Picture placeholder 13" descr="PICTURE NEEDED: A person using an inhaler correctly (lips closed around the mouthpiece). Search: how to use an inhaler">    </p:cNvPr>
          <p:cNvPicPr>
            <a:picLocks noChangeAspect="1"/>
          </p:cNvPicPr>
          <p:nvPr/>
        </p:nvPicPr>
        <p:blipFill>
          <a:blip r:embed="rId1"/>
          <a:stretch>
            <a:fillRect/>
          </a:stretch>
        </p:blipFill>
        <p:spPr>
          <a:xfrm>
            <a:off x="8046720" y="1828800"/>
            <a:ext cx="3310128" cy="3337560"/>
          </a:xfrm>
          <a:prstGeom prst="rect">
            <a:avLst/>
          </a:prstGeom>
        </p:spPr>
      </p:pic>
      <p:sp>
        <p:nvSpPr>
          <p:cNvPr id="11" name="Text 7"/>
          <p:cNvSpPr txBox="1"/>
          <p:nvPr/>
        </p:nvSpPr>
        <p:spPr>
          <a:xfrm>
            <a:off x="838505" y="5440680"/>
            <a:ext cx="10515600" cy="457200"/>
          </a:xfrm>
          <a:prstGeom prst="rect">
            <a:avLst/>
          </a:prstGeom>
          <a:noFill/>
          <a:ln/>
        </p:spPr>
        <p:txBody>
          <a:bodyPr wrap="square" rtlCol="0" anchor="t"/>
          <a:lstStyle/>
          <a:p>
            <a:pPr indent="0" marL="0">
              <a:buNone/>
            </a:pPr>
            <a:r>
              <a:rPr lang="en-US" sz="2000" b="1" dirty="0">
                <a:solidFill>
                  <a:srgbClr val="000000"/>
                </a:solidFill>
              </a:rPr>
              <a:t>English tip: </a:t>
            </a:r>
            <a:r>
              <a:rPr lang="en-US" sz="2000" i="1" dirty="0">
                <a:solidFill>
                  <a:srgbClr val="000000"/>
                </a:solidFill>
              </a:rPr>
              <a:t>we give instructions with the imperative – Shake… Breathe… Press… Hold…</a:t>
            </a:r>
            <a:endParaRPr lang="en-US" sz="2000" dirty="0"/>
          </a:p>
        </p:txBody>
      </p:sp>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0"/>
          <p:cNvSpPr/>
          <p:nvPr>
            <p:ph idx="100" type="title"/>
          </p:nvPr>
        </p:nvSpPr>
        <p:spPr>
          <a:xfrm>
            <a:off x="838505" y="365760"/>
            <a:ext cx="10515600" cy="1325880"/>
          </a:xfrm>
          <a:prstGeom prst="rect">
            <a:avLst/>
          </a:prstGeom>
          <a:noFill/>
          <a:ln/>
        </p:spPr>
        <p:txBody>
          <a:bodyPr wrap="square" rtlCol="0" anchor="ctr"/>
          <a:lstStyle/>
          <a:p>
            <a:pPr algn="l" indent="0" marL="0">
              <a:buNone/>
            </a:pPr>
            <a:r>
              <a:rPr lang="en-US" sz="4400" dirty="0"/>
              <a:t>Treating COPD</a:t>
            </a:r>
            <a:endParaRPr lang="en-US" sz="4400" dirty="0"/>
          </a:p>
        </p:txBody>
      </p:sp>
      <p:sp>
        <p:nvSpPr>
          <p:cNvPr id="4" name="Text 0"/>
          <p:cNvSpPr/>
          <p:nvPr>
            <p:ph idx="101" type="body"/>
          </p:nvPr>
        </p:nvSpPr>
        <p:spPr>
          <a:xfrm>
            <a:off x="838505" y="1826057"/>
            <a:ext cx="5181905" cy="4351630"/>
          </a:xfrm>
          <a:prstGeom prst="rect">
            <a:avLst/>
          </a:prstGeom>
          <a:noFill/>
          <a:ln/>
        </p:spPr>
        <p:txBody>
          <a:bodyPr wrap="square" rtlCol="0" anchor="t"/>
          <a:lstStyle/>
          <a:p>
            <a:pPr marL="342900" indent="-342900">
              <a:buSzPct val="100000"/>
              <a:buFont typeface="+mj-lt"/>
              <a:buAutoNum type="arabicPeriod" startAt="1"/>
            </a:pPr>
            <a:r>
              <a:rPr lang="en-US" sz="2200" b="1" dirty="0">
                <a:solidFill>
                  <a:srgbClr val="000000"/>
                </a:solidFill>
              </a:rPr>
              <a:t>Stop smoking: </a:t>
            </a:r>
            <a:r>
              <a:rPr lang="en-US" sz="2200" dirty="0">
                <a:solidFill>
                  <a:srgbClr val="000000"/>
                </a:solidFill>
              </a:rPr>
              <a:t>the most important step</a:t>
            </a:r>
            <a:endParaRPr lang="en-US" sz="2400" dirty="0"/>
          </a:p>
          <a:p>
            <a:pPr marL="342900" indent="-342900">
              <a:buSzPct val="100000"/>
              <a:buFont typeface="+mj-lt"/>
              <a:buAutoNum type="arabicPeriod" startAt="1"/>
            </a:pPr>
            <a:r>
              <a:rPr lang="en-US" sz="2200" b="1" dirty="0">
                <a:solidFill>
                  <a:srgbClr val="000000"/>
                </a:solidFill>
              </a:rPr>
              <a:t>Inhalers </a:t>
            </a:r>
            <a:r>
              <a:rPr lang="en-US" sz="2200" dirty="0">
                <a:solidFill>
                  <a:srgbClr val="000000"/>
                </a:solidFill>
              </a:rPr>
              <a:t>that open the airways</a:t>
            </a:r>
            <a:endParaRPr lang="en-US" sz="2400" dirty="0"/>
          </a:p>
          <a:p>
            <a:pPr marL="342900" indent="-342900">
              <a:buSzPct val="100000"/>
              <a:buFont typeface="+mj-lt"/>
              <a:buAutoNum type="arabicPeriod" startAt="1"/>
            </a:pPr>
            <a:r>
              <a:rPr lang="en-US" sz="2200" b="1" dirty="0">
                <a:solidFill>
                  <a:srgbClr val="000000"/>
                </a:solidFill>
              </a:rPr>
              <a:t>Pulmonary rehabilitation: </a:t>
            </a:r>
            <a:r>
              <a:rPr lang="en-US" sz="2200" dirty="0">
                <a:solidFill>
                  <a:srgbClr val="000000"/>
                </a:solidFill>
              </a:rPr>
              <a:t>exercise and breathing training</a:t>
            </a:r>
            <a:endParaRPr lang="en-US" sz="2400" dirty="0"/>
          </a:p>
          <a:p>
            <a:pPr marL="342900" indent="-342900">
              <a:buSzPct val="100000"/>
              <a:buFont typeface="+mj-lt"/>
              <a:buAutoNum type="arabicPeriod" startAt="1"/>
            </a:pPr>
            <a:r>
              <a:rPr lang="en-US" sz="2200" b="1" dirty="0">
                <a:solidFill>
                  <a:srgbClr val="000000"/>
                </a:solidFill>
              </a:rPr>
              <a:t>Vaccines: </a:t>
            </a:r>
            <a:r>
              <a:rPr lang="en-US" sz="2200" dirty="0">
                <a:solidFill>
                  <a:srgbClr val="000000"/>
                </a:solidFill>
              </a:rPr>
              <a:t>flu, pneumonia, COVID-19</a:t>
            </a:r>
            <a:endParaRPr lang="en-US" sz="2400" dirty="0"/>
          </a:p>
          <a:p>
            <a:pPr marL="342900" indent="-342900">
              <a:buSzPct val="100000"/>
              <a:buFont typeface="+mj-lt"/>
              <a:buAutoNum type="arabicPeriod" startAt="1"/>
            </a:pPr>
            <a:r>
              <a:rPr lang="en-US" sz="2200" b="1" dirty="0">
                <a:solidFill>
                  <a:srgbClr val="000000"/>
                </a:solidFill>
              </a:rPr>
              <a:t>Oxygen therapy </a:t>
            </a:r>
            <a:r>
              <a:rPr lang="en-US" sz="2200" dirty="0">
                <a:solidFill>
                  <a:srgbClr val="000000"/>
                </a:solidFill>
              </a:rPr>
              <a:t>for severe COPD</a:t>
            </a:r>
            <a:endParaRPr lang="en-US" sz="2400" dirty="0"/>
          </a:p>
        </p:txBody>
      </p:sp>
      <p:pic>
        <p:nvPicPr>
          <p:cNvPr id="5" name="Picture placeholder 14" descr="PICTURE NEEDED: Pulmonary rehabilitation: older patients exercising (walking or cycling) with a physiotherapist. Search: pulmonary rehabilitation exercise">    </p:cNvPr>
          <p:cNvPicPr>
            <a:picLocks noChangeAspect="1"/>
          </p:cNvPicPr>
          <p:nvPr/>
        </p:nvPicPr>
        <p:blipFill>
          <a:blip r:embed="rId1"/>
          <a:stretch>
            <a:fillRect/>
          </a:stretch>
        </p:blipFill>
        <p:spPr>
          <a:xfrm>
            <a:off x="6172200" y="1826057"/>
            <a:ext cx="5181905" cy="3108960"/>
          </a:xfrm>
          <a:prstGeom prst="rect">
            <a:avLst/>
          </a:prstGeom>
        </p:spPr>
      </p:pic>
      <p:sp>
        <p:nvSpPr>
          <p:cNvPr id="6" name="Text 2"/>
          <p:cNvSpPr txBox="1"/>
          <p:nvPr/>
        </p:nvSpPr>
        <p:spPr>
          <a:xfrm>
            <a:off x="6172200" y="5074920"/>
            <a:ext cx="5181905" cy="914400"/>
          </a:xfrm>
          <a:prstGeom prst="rect">
            <a:avLst/>
          </a:prstGeom>
          <a:noFill/>
          <a:ln/>
        </p:spPr>
        <p:txBody>
          <a:bodyPr wrap="square" rtlCol="0" anchor="t"/>
          <a:lstStyle/>
          <a:p>
            <a:pPr indent="0" marL="0">
              <a:buNone/>
            </a:pPr>
            <a:r>
              <a:rPr lang="en-US" sz="2000" i="1" dirty="0">
                <a:solidFill>
                  <a:srgbClr val="000000"/>
                </a:solidFill>
              </a:rPr>
              <a:t>COPD can’t be cured, but treatment helps people breathe better and live better.</a:t>
            </a:r>
            <a:endParaRPr lang="en-US" sz="2000" dirty="0"/>
          </a:p>
        </p:txBody>
      </p:sp>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0"/>
          <p:cNvSpPr/>
          <p:nvPr>
            <p:ph idx="100" type="title"/>
          </p:nvPr>
        </p:nvSpPr>
        <p:spPr>
          <a:xfrm>
            <a:off x="838505" y="365760"/>
            <a:ext cx="10515600" cy="1325880"/>
          </a:xfrm>
          <a:prstGeom prst="rect">
            <a:avLst/>
          </a:prstGeom>
          <a:noFill/>
          <a:ln/>
        </p:spPr>
        <p:txBody>
          <a:bodyPr wrap="square" rtlCol="0" anchor="ctr"/>
          <a:lstStyle/>
          <a:p>
            <a:pPr algn="l" indent="0" marL="0">
              <a:buNone/>
            </a:pPr>
            <a:r>
              <a:rPr lang="en-US" sz="4400" dirty="0"/>
              <a:t>Asthma vs COPD: Neda and Mr. Rahimi</a:t>
            </a:r>
            <a:endParaRPr lang="en-US" sz="4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38505" y="1783080"/>
          <a:ext cx="10515600" cy="914400"/>
        </p:xfrm>
        <a:graphic>
          <a:graphicData uri="http://schemas.openxmlformats.org/drawingml/2006/table">
            <a:tbl>
              <a:tblPr/>
              <a:tblGrid>
                <a:gridCol w="2651760"/>
                <a:gridCol w="3931920"/>
                <a:gridCol w="3931920"/>
              </a:tblGrid>
              <a:tr h="658368">
                <a:tc>
                  <a:txBody>
                    <a:bodyPr/>
                    <a:lstStyle/>
                    <a:p>
                      <a:pPr indent="0" marL="0">
                        <a:buNone/>
                      </a:pP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indent="0" marL="0">
                        <a:buNone/>
                      </a:pPr>
                      <a:r>
                        <a:rPr lang="en-US" sz="2000" b="1" dirty="0">
                          <a:solidFill>
                            <a:srgbClr val="FFFFFF"/>
                          </a:solidFill>
                        </a:rPr>
                        <a:t>Asthma (Neda)</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c>
                  <a:txBody>
                    <a:bodyPr/>
                    <a:lstStyle/>
                    <a:p>
                      <a:pPr indent="0" marL="0">
                        <a:buNone/>
                      </a:pPr>
                      <a:r>
                        <a:rPr lang="en-US" sz="2000" b="1" dirty="0">
                          <a:solidFill>
                            <a:srgbClr val="FFFFFF"/>
                          </a:solidFill>
                        </a:rPr>
                        <a:t>COPD (Mr. Rahimi)</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472C4"/>
                    </a:solidFill>
                  </a:tcPr>
                </a:tc>
              </a:tr>
              <a:tr h="658368">
                <a:tc>
                  <a:txBody>
                    <a:bodyPr/>
                    <a:lstStyle/>
                    <a:p>
                      <a:pPr indent="0" marL="0">
                        <a:buNone/>
                      </a:pPr>
                      <a:r>
                        <a:rPr lang="en-US" sz="2000" b="1" dirty="0">
                          <a:solidFill>
                            <a:srgbClr val="000000"/>
                          </a:solidFill>
                        </a:rPr>
                        <a:t>Usual start</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FD5EA"/>
                    </a:solidFill>
                  </a:tcPr>
                </a:tc>
                <a:tc>
                  <a:txBody>
                    <a:bodyPr/>
                    <a:lstStyle/>
                    <a:p>
                      <a:pPr indent="0" marL="0">
                        <a:buNone/>
                      </a:pPr>
                      <a:r>
                        <a:rPr lang="en-US" sz="2000" dirty="0">
                          <a:solidFill>
                            <a:srgbClr val="000000"/>
                          </a:solidFill>
                        </a:rPr>
                        <a:t>Childhood or youth</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FD5EA"/>
                    </a:solidFill>
                  </a:tcPr>
                </a:tc>
                <a:tc>
                  <a:txBody>
                    <a:bodyPr/>
                    <a:lstStyle/>
                    <a:p>
                      <a:pPr indent="0" marL="0">
                        <a:buNone/>
                      </a:pPr>
                      <a:r>
                        <a:rPr lang="en-US" sz="2000" dirty="0">
                          <a:solidFill>
                            <a:srgbClr val="000000"/>
                          </a:solidFill>
                        </a:rPr>
                        <a:t>Usually after 40</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FD5EA"/>
                    </a:solidFill>
                  </a:tcPr>
                </a:tc>
              </a:tr>
              <a:tr h="658368">
                <a:tc>
                  <a:txBody>
                    <a:bodyPr/>
                    <a:lstStyle/>
                    <a:p>
                      <a:pPr indent="0" marL="0">
                        <a:buNone/>
                      </a:pPr>
                      <a:r>
                        <a:rPr lang="en-US" sz="2000" b="1" dirty="0">
                          <a:solidFill>
                            <a:srgbClr val="000000"/>
                          </a:solidFill>
                        </a:rPr>
                        <a:t>Main cause</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9EBF5"/>
                    </a:solidFill>
                  </a:tcPr>
                </a:tc>
                <a:tc>
                  <a:txBody>
                    <a:bodyPr/>
                    <a:lstStyle/>
                    <a:p>
                      <a:pPr indent="0" marL="0">
                        <a:buNone/>
                      </a:pPr>
                      <a:r>
                        <a:rPr lang="en-US" sz="2000" dirty="0">
                          <a:solidFill>
                            <a:srgbClr val="000000"/>
                          </a:solidFill>
                        </a:rPr>
                        <a:t>Sensitive airways + triggers</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9EBF5"/>
                    </a:solidFill>
                  </a:tcPr>
                </a:tc>
                <a:tc>
                  <a:txBody>
                    <a:bodyPr/>
                    <a:lstStyle/>
                    <a:p>
                      <a:pPr indent="0" marL="0">
                        <a:buNone/>
                      </a:pPr>
                      <a:r>
                        <a:rPr lang="en-US" sz="2000" dirty="0">
                          <a:solidFill>
                            <a:srgbClr val="000000"/>
                          </a:solidFill>
                        </a:rPr>
                        <a:t>Smoking and other smoke</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9EBF5"/>
                    </a:solidFill>
                  </a:tcPr>
                </a:tc>
              </a:tr>
              <a:tr h="658368">
                <a:tc>
                  <a:txBody>
                    <a:bodyPr/>
                    <a:lstStyle/>
                    <a:p>
                      <a:pPr indent="0" marL="0">
                        <a:buNone/>
                      </a:pPr>
                      <a:r>
                        <a:rPr lang="en-US" sz="2000" b="1" dirty="0">
                          <a:solidFill>
                            <a:srgbClr val="000000"/>
                          </a:solidFill>
                        </a:rPr>
                        <a:t>Symptoms</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FD5EA"/>
                    </a:solidFill>
                  </a:tcPr>
                </a:tc>
                <a:tc>
                  <a:txBody>
                    <a:bodyPr/>
                    <a:lstStyle/>
                    <a:p>
                      <a:pPr indent="0" marL="0">
                        <a:buNone/>
                      </a:pPr>
                      <a:r>
                        <a:rPr lang="en-US" sz="2000" dirty="0">
                          <a:solidFill>
                            <a:srgbClr val="000000"/>
                          </a:solidFill>
                        </a:rPr>
                        <a:t>Come and go</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FD5EA"/>
                    </a:solidFill>
                  </a:tcPr>
                </a:tc>
                <a:tc>
                  <a:txBody>
                    <a:bodyPr/>
                    <a:lstStyle/>
                    <a:p>
                      <a:pPr indent="0" marL="0">
                        <a:buNone/>
                      </a:pPr>
                      <a:r>
                        <a:rPr lang="en-US" sz="2000" dirty="0">
                          <a:solidFill>
                            <a:srgbClr val="000000"/>
                          </a:solidFill>
                        </a:rPr>
                        <a:t>Slowly get worse</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FD5EA"/>
                    </a:solidFill>
                  </a:tcPr>
                </a:tc>
              </a:tr>
              <a:tr h="658368">
                <a:tc>
                  <a:txBody>
                    <a:bodyPr/>
                    <a:lstStyle/>
                    <a:p>
                      <a:pPr indent="0" marL="0">
                        <a:buNone/>
                      </a:pPr>
                      <a:r>
                        <a:rPr lang="en-US" sz="2000" b="1" dirty="0">
                          <a:solidFill>
                            <a:srgbClr val="000000"/>
                          </a:solidFill>
                        </a:rPr>
                        <a:t>After a reliever</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9EBF5"/>
                    </a:solidFill>
                  </a:tcPr>
                </a:tc>
                <a:tc>
                  <a:txBody>
                    <a:bodyPr/>
                    <a:lstStyle/>
                    <a:p>
                      <a:pPr indent="0" marL="0">
                        <a:buNone/>
                      </a:pPr>
                      <a:r>
                        <a:rPr lang="en-US" sz="2000" dirty="0">
                          <a:solidFill>
                            <a:srgbClr val="000000"/>
                          </a:solidFill>
                        </a:rPr>
                        <a:t>Big improvement (reversible)</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9EBF5"/>
                    </a:solidFill>
                  </a:tcPr>
                </a:tc>
                <a:tc>
                  <a:txBody>
                    <a:bodyPr/>
                    <a:lstStyle/>
                    <a:p>
                      <a:pPr indent="0" marL="0">
                        <a:buNone/>
                      </a:pPr>
                      <a:r>
                        <a:rPr lang="en-US" sz="2000" dirty="0">
                          <a:solidFill>
                            <a:srgbClr val="000000"/>
                          </a:solidFill>
                        </a:rPr>
                        <a:t>Small improvement (not fully reversible)</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9EBF5"/>
                    </a:solidFill>
                  </a:tcPr>
                </a:tc>
              </a:tr>
              <a:tr h="658368">
                <a:tc>
                  <a:txBody>
                    <a:bodyPr/>
                    <a:lstStyle/>
                    <a:p>
                      <a:pPr indent="0" marL="0">
                        <a:buNone/>
                      </a:pPr>
                      <a:r>
                        <a:rPr lang="en-US" sz="2000" b="1" dirty="0">
                          <a:solidFill>
                            <a:srgbClr val="000000"/>
                          </a:solidFill>
                        </a:rPr>
                        <a:t>Main treatment</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FD5EA"/>
                    </a:solidFill>
                  </a:tcPr>
                </a:tc>
                <a:tc>
                  <a:txBody>
                    <a:bodyPr/>
                    <a:lstStyle/>
                    <a:p>
                      <a:pPr indent="0" marL="0">
                        <a:buNone/>
                      </a:pPr>
                      <a:r>
                        <a:rPr lang="en-US" sz="2000" dirty="0">
                          <a:solidFill>
                            <a:srgbClr val="000000"/>
                          </a:solidFill>
                        </a:rPr>
                        <a:t>Controller + reliever inhalers</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FD5EA"/>
                    </a:solidFill>
                  </a:tcPr>
                </a:tc>
                <a:tc>
                  <a:txBody>
                    <a:bodyPr/>
                    <a:lstStyle/>
                    <a:p>
                      <a:pPr indent="0" marL="0">
                        <a:buNone/>
                      </a:pPr>
                      <a:r>
                        <a:rPr lang="en-US" sz="2000" dirty="0">
                          <a:solidFill>
                            <a:srgbClr val="000000"/>
                          </a:solidFill>
                        </a:rPr>
                        <a:t>Stop smoking + bronchodilators</a:t>
                      </a:r>
                      <a:endParaRPr lang="en-US" sz="2000" dirty="0"/>
                    </a:p>
                  </a:txBody>
                  <a:tcPr marL="91440" marR="9144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FD5EA"/>
                    </a:solidFill>
                  </a:tcPr>
                </a:tc>
              </a:tr>
            </a:tbl>
          </a:graphicData>
        </a:graphic>
      </p:graphicFrame>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0"/>
          <p:cNvSpPr/>
          <p:nvPr>
            <p:ph idx="100" type="title"/>
          </p:nvPr>
        </p:nvSpPr>
        <p:spPr>
          <a:xfrm>
            <a:off x="838505" y="365760"/>
            <a:ext cx="10515600" cy="1325880"/>
          </a:xfrm>
          <a:prstGeom prst="rect">
            <a:avLst/>
          </a:prstGeom>
          <a:noFill/>
          <a:ln/>
        </p:spPr>
        <p:txBody>
          <a:bodyPr wrap="square" rtlCol="0" anchor="ctr"/>
          <a:lstStyle/>
          <a:p>
            <a:pPr algn="l" indent="0" marL="0">
              <a:buNone/>
            </a:pPr>
            <a:r>
              <a:rPr lang="en-US" sz="4400" dirty="0"/>
              <a:t>Quick Quiz: Asthma or COPD?</a:t>
            </a:r>
            <a:endParaRPr lang="en-US" sz="4400" dirty="0"/>
          </a:p>
        </p:txBody>
      </p:sp>
      <p:sp>
        <p:nvSpPr>
          <p:cNvPr id="4" name="Text 1"/>
          <p:cNvSpPr txBox="1"/>
          <p:nvPr/>
        </p:nvSpPr>
        <p:spPr>
          <a:xfrm>
            <a:off x="838505" y="1828800"/>
            <a:ext cx="7955280" cy="914400"/>
          </a:xfrm>
          <a:prstGeom prst="rect">
            <a:avLst/>
          </a:prstGeom>
          <a:noFill/>
          <a:ln/>
        </p:spPr>
        <p:txBody>
          <a:bodyPr wrap="square" rtlCol="0" anchor="ctr"/>
          <a:lstStyle/>
          <a:p>
            <a:pPr indent="0" marL="0">
              <a:buNone/>
            </a:pPr>
            <a:r>
              <a:rPr lang="en-US" sz="2200" b="1" dirty="0">
                <a:solidFill>
                  <a:srgbClr val="000000"/>
                </a:solidFill>
              </a:rPr>
              <a:t>1.  </a:t>
            </a:r>
            <a:r>
              <a:rPr lang="en-US" sz="2200" dirty="0">
                <a:solidFill>
                  <a:srgbClr val="000000"/>
                </a:solidFill>
              </a:rPr>
              <a:t>A 9-year-old boy wheezes every time he plays with a cat.</a:t>
            </a:r>
            <a:endParaRPr lang="en-US" sz="2200" dirty="0"/>
          </a:p>
        </p:txBody>
      </p:sp>
      <p:sp>
        <p:nvSpPr>
          <p:cNvPr id="5" name="Answer 1"/>
          <p:cNvSpPr/>
          <p:nvPr/>
        </p:nvSpPr>
        <p:spPr>
          <a:xfrm>
            <a:off x="9070848" y="1965960"/>
            <a:ext cx="2286000" cy="640080"/>
          </a:xfrm>
          <a:prstGeom prst="rect">
            <a:avLst/>
          </a:prstGeom>
          <a:solidFill>
            <a:srgbClr val="4472C4"/>
          </a:solidFill>
          <a:ln w="12700">
            <a:solidFill>
              <a:srgbClr val="2F528F"/>
            </a:solidFill>
          </a:ln>
        </p:spPr>
        <p:txBody>
          <a:bodyPr wrap="square" rtlCol="0" anchor="ctr"/>
          <a:lstStyle/>
          <a:p>
            <a:pPr algn="ctr" indent="0" marL="0">
              <a:buNone/>
            </a:pPr>
            <a:r>
              <a:rPr lang="en-US" sz="2400" b="1" dirty="0">
                <a:solidFill>
                  <a:srgbClr val="FFFFFF"/>
                </a:solidFill>
              </a:rPr>
              <a:t>Asthma</a:t>
            </a:r>
            <a:endParaRPr lang="en-US" sz="1800" dirty="0"/>
          </a:p>
        </p:txBody>
      </p:sp>
      <p:sp>
        <p:nvSpPr>
          <p:cNvPr id="6" name="Text 3"/>
          <p:cNvSpPr txBox="1"/>
          <p:nvPr/>
        </p:nvSpPr>
        <p:spPr>
          <a:xfrm>
            <a:off x="838505" y="2880360"/>
            <a:ext cx="7955280" cy="914400"/>
          </a:xfrm>
          <a:prstGeom prst="rect">
            <a:avLst/>
          </a:prstGeom>
          <a:noFill/>
          <a:ln/>
        </p:spPr>
        <p:txBody>
          <a:bodyPr wrap="square" rtlCol="0" anchor="ctr"/>
          <a:lstStyle/>
          <a:p>
            <a:pPr indent="0" marL="0">
              <a:buNone/>
            </a:pPr>
            <a:r>
              <a:rPr lang="en-US" sz="2200" b="1" dirty="0">
                <a:solidFill>
                  <a:srgbClr val="000000"/>
                </a:solidFill>
              </a:rPr>
              <a:t>2.  </a:t>
            </a:r>
            <a:r>
              <a:rPr lang="en-US" sz="2200" dirty="0">
                <a:solidFill>
                  <a:srgbClr val="000000"/>
                </a:solidFill>
              </a:rPr>
              <a:t>A 70-year-old woman cooked over a wood fire for 50 years. Now she is breathless every day.</a:t>
            </a:r>
            <a:endParaRPr lang="en-US" sz="2200" dirty="0"/>
          </a:p>
        </p:txBody>
      </p:sp>
      <p:sp>
        <p:nvSpPr>
          <p:cNvPr id="7" name="Answer 2"/>
          <p:cNvSpPr/>
          <p:nvPr/>
        </p:nvSpPr>
        <p:spPr>
          <a:xfrm>
            <a:off x="9070848" y="3017520"/>
            <a:ext cx="2286000" cy="640080"/>
          </a:xfrm>
          <a:prstGeom prst="rect">
            <a:avLst/>
          </a:prstGeom>
          <a:solidFill>
            <a:srgbClr val="4472C4"/>
          </a:solidFill>
          <a:ln w="12700">
            <a:solidFill>
              <a:srgbClr val="2F528F"/>
            </a:solidFill>
          </a:ln>
        </p:spPr>
        <p:txBody>
          <a:bodyPr wrap="square" rtlCol="0" anchor="ctr"/>
          <a:lstStyle/>
          <a:p>
            <a:pPr algn="ctr" indent="0" marL="0">
              <a:buNone/>
            </a:pPr>
            <a:r>
              <a:rPr lang="en-US" sz="2400" b="1" dirty="0">
                <a:solidFill>
                  <a:srgbClr val="FFFFFF"/>
                </a:solidFill>
              </a:rPr>
              <a:t>COPD</a:t>
            </a:r>
            <a:endParaRPr lang="en-US" sz="1800" dirty="0"/>
          </a:p>
        </p:txBody>
      </p:sp>
      <p:sp>
        <p:nvSpPr>
          <p:cNvPr id="8" name="Text 5"/>
          <p:cNvSpPr txBox="1"/>
          <p:nvPr/>
        </p:nvSpPr>
        <p:spPr>
          <a:xfrm>
            <a:off x="838505" y="3931920"/>
            <a:ext cx="7955280" cy="914400"/>
          </a:xfrm>
          <a:prstGeom prst="rect">
            <a:avLst/>
          </a:prstGeom>
          <a:noFill/>
          <a:ln/>
        </p:spPr>
        <p:txBody>
          <a:bodyPr wrap="square" rtlCol="0" anchor="ctr"/>
          <a:lstStyle/>
          <a:p>
            <a:pPr indent="0" marL="0">
              <a:buNone/>
            </a:pPr>
            <a:r>
              <a:rPr lang="en-US" sz="2200" b="1" dirty="0">
                <a:solidFill>
                  <a:srgbClr val="000000"/>
                </a:solidFill>
              </a:rPr>
              <a:t>3.  </a:t>
            </a:r>
            <a:r>
              <a:rPr lang="en-US" sz="2200" dirty="0">
                <a:solidFill>
                  <a:srgbClr val="000000"/>
                </a:solidFill>
              </a:rPr>
              <a:t>After a reliever inhaler, his breathing test is almost normal.</a:t>
            </a:r>
            <a:endParaRPr lang="en-US" sz="2200" dirty="0"/>
          </a:p>
        </p:txBody>
      </p:sp>
      <p:sp>
        <p:nvSpPr>
          <p:cNvPr id="9" name="Answer 3"/>
          <p:cNvSpPr/>
          <p:nvPr/>
        </p:nvSpPr>
        <p:spPr>
          <a:xfrm>
            <a:off x="9070848" y="4069080"/>
            <a:ext cx="2286000" cy="640080"/>
          </a:xfrm>
          <a:prstGeom prst="rect">
            <a:avLst/>
          </a:prstGeom>
          <a:solidFill>
            <a:srgbClr val="4472C4"/>
          </a:solidFill>
          <a:ln w="12700">
            <a:solidFill>
              <a:srgbClr val="2F528F"/>
            </a:solidFill>
          </a:ln>
        </p:spPr>
        <p:txBody>
          <a:bodyPr wrap="square" rtlCol="0" anchor="ctr"/>
          <a:lstStyle/>
          <a:p>
            <a:pPr algn="ctr" indent="0" marL="0">
              <a:buNone/>
            </a:pPr>
            <a:r>
              <a:rPr lang="en-US" sz="2400" b="1" dirty="0">
                <a:solidFill>
                  <a:srgbClr val="FFFFFF"/>
                </a:solidFill>
              </a:rPr>
              <a:t>Asthma</a:t>
            </a:r>
            <a:endParaRPr lang="en-US" sz="1800" dirty="0"/>
          </a:p>
        </p:txBody>
      </p:sp>
      <p:sp>
        <p:nvSpPr>
          <p:cNvPr id="10" name="Text 7"/>
          <p:cNvSpPr txBox="1"/>
          <p:nvPr/>
        </p:nvSpPr>
        <p:spPr>
          <a:xfrm>
            <a:off x="838505" y="4983480"/>
            <a:ext cx="7955280" cy="914400"/>
          </a:xfrm>
          <a:prstGeom prst="rect">
            <a:avLst/>
          </a:prstGeom>
          <a:noFill/>
          <a:ln/>
        </p:spPr>
        <p:txBody>
          <a:bodyPr wrap="square" rtlCol="0" anchor="ctr"/>
          <a:lstStyle/>
          <a:p>
            <a:pPr indent="0" marL="0">
              <a:buNone/>
            </a:pPr>
            <a:r>
              <a:rPr lang="en-US" sz="2200" b="1" dirty="0">
                <a:solidFill>
                  <a:srgbClr val="000000"/>
                </a:solidFill>
              </a:rPr>
              <a:t>4.  </a:t>
            </a:r>
            <a:r>
              <a:rPr lang="en-US" sz="2200" dirty="0">
                <a:solidFill>
                  <a:srgbClr val="000000"/>
                </a:solidFill>
              </a:rPr>
              <a:t>The walls of her alveoli are broken, and air is trapped.</a:t>
            </a:r>
            <a:endParaRPr lang="en-US" sz="2200" dirty="0"/>
          </a:p>
        </p:txBody>
      </p:sp>
      <p:sp>
        <p:nvSpPr>
          <p:cNvPr id="11" name="Answer 4"/>
          <p:cNvSpPr/>
          <p:nvPr/>
        </p:nvSpPr>
        <p:spPr>
          <a:xfrm>
            <a:off x="9070848" y="5120640"/>
            <a:ext cx="2286000" cy="640080"/>
          </a:xfrm>
          <a:prstGeom prst="rect">
            <a:avLst/>
          </a:prstGeom>
          <a:solidFill>
            <a:srgbClr val="4472C4"/>
          </a:solidFill>
          <a:ln w="12700">
            <a:solidFill>
              <a:srgbClr val="2F528F"/>
            </a:solidFill>
          </a:ln>
        </p:spPr>
        <p:txBody>
          <a:bodyPr wrap="square" rtlCol="0" anchor="ctr"/>
          <a:lstStyle/>
          <a:p>
            <a:pPr algn="ctr" indent="0" marL="0">
              <a:buNone/>
            </a:pPr>
            <a:r>
              <a:rPr lang="en-US" sz="2400" b="1" dirty="0">
                <a:solidFill>
                  <a:srgbClr val="FFFFFF"/>
                </a:solidFill>
              </a:rPr>
              <a:t>COPD</a:t>
            </a:r>
            <a:endParaRPr lang="en-US" sz="1800" dirty="0"/>
          </a:p>
        </p:txBody>
      </p:sp>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P spid="11"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0"/>
          <p:cNvSpPr/>
          <p:nvPr>
            <p:ph idx="100" type="title"/>
          </p:nvPr>
        </p:nvSpPr>
        <p:spPr>
          <a:xfrm>
            <a:off x="838505" y="365760"/>
            <a:ext cx="10515600" cy="1325880"/>
          </a:xfrm>
          <a:prstGeom prst="rect">
            <a:avLst/>
          </a:prstGeom>
          <a:noFill/>
          <a:ln/>
        </p:spPr>
        <p:txBody>
          <a:bodyPr wrap="square" rtlCol="0" anchor="ctr"/>
          <a:lstStyle/>
          <a:p>
            <a:pPr algn="l" indent="0" marL="0">
              <a:buNone/>
            </a:pPr>
            <a:r>
              <a:rPr lang="en-US" sz="4400" dirty="0"/>
              <a:t>Take-Home Messages</a:t>
            </a:r>
            <a:endParaRPr lang="en-US" sz="4400" dirty="0"/>
          </a:p>
        </p:txBody>
      </p:sp>
      <p:sp>
        <p:nvSpPr>
          <p:cNvPr id="4" name="Text 0"/>
          <p:cNvSpPr/>
          <p:nvPr>
            <p:ph idx="101" type="body"/>
          </p:nvPr>
        </p:nvSpPr>
        <p:spPr>
          <a:xfrm>
            <a:off x="838505" y="1826057"/>
            <a:ext cx="10515600" cy="4351630"/>
          </a:xfrm>
          <a:prstGeom prst="rect">
            <a:avLst/>
          </a:prstGeom>
          <a:noFill/>
          <a:ln/>
        </p:spPr>
        <p:txBody>
          <a:bodyPr wrap="square" rtlCol="0" anchor="t"/>
          <a:lstStyle/>
          <a:p>
            <a:pPr marL="342900" indent="-342900">
              <a:spcAft>
                <a:spcPts val="1000"/>
              </a:spcAft>
              <a:buSzPct val="100000"/>
              <a:buChar char="•"/>
            </a:pPr>
            <a:r>
              <a:rPr lang="en-US" sz="2600" dirty="0">
                <a:solidFill>
                  <a:srgbClr val="000000"/>
                </a:solidFill>
              </a:rPr>
              <a:t>Both diseases block the air from getting </a:t>
            </a:r>
            <a:r>
              <a:rPr lang="en-US" sz="2600" b="1" dirty="0">
                <a:solidFill>
                  <a:srgbClr val="000000"/>
                </a:solidFill>
              </a:rPr>
              <a:t>out</a:t>
            </a:r>
            <a:endParaRPr lang="en-US" sz="2800" dirty="0"/>
          </a:p>
          <a:p>
            <a:pPr marL="342900" indent="-342900">
              <a:spcAft>
                <a:spcPts val="1000"/>
              </a:spcAft>
              <a:buSzPct val="100000"/>
              <a:buChar char="•"/>
            </a:pPr>
            <a:r>
              <a:rPr lang="en-US" sz="2600" b="1" dirty="0">
                <a:solidFill>
                  <a:srgbClr val="000000"/>
                </a:solidFill>
              </a:rPr>
              <a:t>Asthma: </a:t>
            </a:r>
            <a:r>
              <a:rPr lang="en-US" sz="2600" dirty="0">
                <a:solidFill>
                  <a:srgbClr val="000000"/>
                </a:solidFill>
              </a:rPr>
              <a:t>sensitive airways, triggers, reversible</a:t>
            </a:r>
            <a:endParaRPr lang="en-US" sz="2800" dirty="0"/>
          </a:p>
          <a:p>
            <a:pPr marL="342900" indent="-342900">
              <a:spcAft>
                <a:spcPts val="1000"/>
              </a:spcAft>
              <a:buSzPct val="100000"/>
              <a:buChar char="•"/>
            </a:pPr>
            <a:r>
              <a:rPr lang="en-US" sz="2600" b="1" dirty="0">
                <a:solidFill>
                  <a:srgbClr val="000000"/>
                </a:solidFill>
              </a:rPr>
              <a:t>COPD: </a:t>
            </a:r>
            <a:r>
              <a:rPr lang="en-US" sz="2600" dirty="0">
                <a:solidFill>
                  <a:srgbClr val="000000"/>
                </a:solidFill>
              </a:rPr>
              <a:t>mostly smoke, slowly gets worse, not fully reversible</a:t>
            </a:r>
            <a:endParaRPr lang="en-US" sz="2800" dirty="0"/>
          </a:p>
          <a:p>
            <a:pPr marL="342900" indent="-342900">
              <a:spcAft>
                <a:spcPts val="1000"/>
              </a:spcAft>
              <a:buSzPct val="100000"/>
              <a:buChar char="•"/>
            </a:pPr>
            <a:r>
              <a:rPr lang="en-US" sz="2600" dirty="0">
                <a:solidFill>
                  <a:srgbClr val="000000"/>
                </a:solidFill>
              </a:rPr>
              <a:t>Spirometry tells them apart</a:t>
            </a:r>
            <a:endParaRPr lang="en-US" sz="2800" dirty="0"/>
          </a:p>
          <a:p>
            <a:pPr marL="342900" indent="-342900">
              <a:buSzPct val="100000"/>
              <a:buChar char="•"/>
            </a:pPr>
            <a:r>
              <a:rPr lang="en-US" sz="2600" dirty="0">
                <a:solidFill>
                  <a:srgbClr val="000000"/>
                </a:solidFill>
              </a:rPr>
              <a:t>The best prevention: </a:t>
            </a:r>
            <a:r>
              <a:rPr lang="en-US" sz="2600" b="1" dirty="0">
                <a:solidFill>
                  <a:srgbClr val="000000"/>
                </a:solidFill>
              </a:rPr>
              <a:t>don’t smoke!</a:t>
            </a:r>
            <a:endParaRPr lang="en-US" sz="2800" dirty="0"/>
          </a:p>
        </p:txBody>
      </p:sp>
      <p:sp>
        <p:nvSpPr>
          <p:cNvPr id="25" name="Slide Number Placeholder 0"/>
          <p:cNvSpPr>
            <a:spLocks noGrp="1"/>
          </p:cNvSpPr>
          <p:nvPr>
            <p:ph type="sldNum" sz="quarter" idx="4294967295"/>
          </p:nvPr>
        </p:nvSpPr>
        <p:spPr>
          <a:xfrm>
            <a:off x="8610905" y="6355994"/>
            <a:ext cx="2743200" cy="365760"/>
          </a:xfrm>
          <a:prstGeom prst="rect">
            <a:avLst/>
          </a:prstGeom>
          <a:extLst>
            <a:ext uri="{C572A759-6A51-4108-AA02-DFA0A04FC94B}">
              <ma14:wrappingTextBoxFlag xmlns:ma14="http://schemas.microsoft.com/office/mac/drawingml/2011/main" val="0"/>
            </a:ext>
          </a:extLst>
        </p:spPr>
        <p:txBody>
          <a:bodyPr/>
          <a:lstStyle>
            <a:lvl1pPr>
              <a:defRPr sz="1200">
                <a:solidFill>
                  <a:srgbClr val="898989"/>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0"/>
          <p:cNvSpPr/>
          <p:nvPr>
            <p:ph idx="100" type="title"/>
          </p:nvPr>
        </p:nvSpPr>
        <p:spPr>
          <a:xfrm>
            <a:off x="1524305" y="1121969"/>
            <a:ext cx="9144000" cy="2386584"/>
          </a:xfrm>
          <a:prstGeom prst="rect">
            <a:avLst/>
          </a:prstGeom>
          <a:noFill/>
          <a:ln/>
        </p:spPr>
        <p:txBody>
          <a:bodyPr wrap="square" rtlCol="0" anchor="b"/>
          <a:lstStyle/>
          <a:p>
            <a:pPr algn="ctr" indent="0" marL="0">
              <a:buNone/>
            </a:pPr>
            <a:r>
              <a:rPr lang="en-US" sz="6000" dirty="0"/>
              <a:t>Thank You!</a:t>
            </a:r>
            <a:endParaRPr lang="en-US" sz="6000" dirty="0"/>
          </a:p>
        </p:txBody>
      </p:sp>
      <p:sp>
        <p:nvSpPr>
          <p:cNvPr id="4" name="Text 0"/>
          <p:cNvSpPr/>
          <p:nvPr>
            <p:ph idx="101" type="body"/>
          </p:nvPr>
        </p:nvSpPr>
        <p:spPr>
          <a:xfrm>
            <a:off x="1524305" y="3600907"/>
            <a:ext cx="9144000" cy="1655064"/>
          </a:xfrm>
          <a:prstGeom prst="rect">
            <a:avLst/>
          </a:prstGeom>
          <a:noFill/>
          <a:ln/>
        </p:spPr>
        <p:txBody>
          <a:bodyPr wrap="square" rtlCol="0" anchor="t"/>
          <a:lstStyle/>
          <a:p>
            <a:pPr algn="ctr" indent="0" marL="0">
              <a:buNone/>
            </a:pPr>
            <a:r>
              <a:rPr lang="en-US" sz="3200" dirty="0">
                <a:solidFill>
                  <a:srgbClr val="000000"/>
                </a:solidFill>
              </a:rPr>
              <a:t>Any questions?</a:t>
            </a:r>
            <a:endParaRPr lang="en-US" sz="2400" dirty="0"/>
          </a:p>
          <a:p>
            <a:pPr algn="ctr" indent="0" marL="0">
              <a:buNone/>
            </a:pPr>
            <a:r>
              <a:rPr lang="en-US" sz="1200" dirty="0">
                <a:solidFill>
                  <a:srgbClr val="000000"/>
                </a:solidFill>
              </a:rPr>
              <a:t> </a:t>
            </a:r>
            <a:endParaRPr lang="en-US" sz="2400" dirty="0"/>
          </a:p>
          <a:p>
            <a:pPr algn="ctr" indent="0" marL="0">
              <a:buNone/>
            </a:pPr>
            <a:r>
              <a:rPr lang="en-US" sz="2000" dirty="0">
                <a:solidFill>
                  <a:srgbClr val="000000"/>
                </a:solidFill>
              </a:rPr>
              <a:t>Presenter 1, Presenter 2 and Presenter 3</a:t>
            </a:r>
            <a:endParaRPr lang="en-US" sz="2400" dirty="0"/>
          </a:p>
        </p:txBody>
      </p:sp>
      <p:sp>
        <p:nvSpPr>
          <p:cNvPr id="5" name="Text 2"/>
          <p:cNvSpPr txBox="1"/>
          <p:nvPr/>
        </p:nvSpPr>
        <p:spPr>
          <a:xfrm>
            <a:off x="1524305" y="5806440"/>
            <a:ext cx="9144000" cy="548640"/>
          </a:xfrm>
          <a:prstGeom prst="rect">
            <a:avLst/>
          </a:prstGeom>
          <a:noFill/>
          <a:ln/>
        </p:spPr>
        <p:txBody>
          <a:bodyPr wrap="square" rtlCol="0" anchor="t"/>
          <a:lstStyle/>
          <a:p>
            <a:pPr algn="ctr" indent="0" marL="0">
              <a:buNone/>
            </a:pPr>
            <a:r>
              <a:rPr lang="en-US" sz="1200" dirty="0">
                <a:solidFill>
                  <a:srgbClr val="595959"/>
                </a:solidFill>
              </a:rPr>
              <a:t>Sources: World Health Organization (WHO) fact sheets on asthma and COPD; Global Initiative for Asthma (GINA); Global Initiative for Chronic Obstructive Lung Disease (GOLD)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Asthma and COPD</dc:title>
  <dc:subject>English for Medicine II group presentation</dc:subject>
  <dc:creator>Presenter 1, Presenter 2, Presenter 3</dc:creator>
  <cp:lastModifiedBy>Presenter 1, Presenter 2, Presenter 3</cp:lastModifiedBy>
  <cp:revision>1</cp:revision>
  <dcterms:created xsi:type="dcterms:W3CDTF">2026-10-23T13:58:56Z</dcterms:created>
  <dcterms:modified xsi:type="dcterms:W3CDTF">2026-10-23T13:58:56Z</dcterms:modified>
</cp:coreProperties>
</file>