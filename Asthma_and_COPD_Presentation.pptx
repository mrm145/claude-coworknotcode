
<file path=[Content_Types].xml><?xml version="1.0" encoding="utf-8"?>
<Types xmlns="http://schemas.openxmlformats.org/package/2006/content-types">
  <Default Extension="bin" ContentType="application/vnd.openxmlformats-officedocument.presentationml.printerSettings"/>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resenter 1" id="{4D0D78A3-C9F2-4933-AD1B-62C85FDD36F4}">
          <p14:sldIdLst>
            <p14:sldId id="256"/>
            <p14:sldId id="257"/>
            <p14:sldId id="258"/>
            <p14:sldId id="259"/>
            <p14:sldId id="260"/>
            <p14:sldId id="261"/>
            <p14:sldId id="262"/>
            <p14:sldId id="263"/>
          </p14:sldIdLst>
        </p14:section>
        <p14:section name="Presenter 2" id="{863784CD-94C9-46B0-A77D-0F2A58152CD2}">
          <p14:sldIdLst>
            <p14:sldId id="264"/>
            <p14:sldId id="265"/>
            <p14:sldId id="266"/>
            <p14:sldId id="267"/>
            <p14:sldId id="268"/>
            <p14:sldId id="269"/>
            <p14:sldId id="270"/>
          </p14:sldIdLst>
        </p14:section>
        <p14:section name="Presenter 3" id="{2BFE7FD1-F8E5-408C-9A43-D7F432A2F41B}">
          <p14:sldIdLst>
            <p14:sldId id="271"/>
            <p14:sldId id="272"/>
            <p14:sldId id="273"/>
            <p14:sldId id="274"/>
            <p14:sldId id="275"/>
            <p14:sldId id="276"/>
            <p14:sldId id="277"/>
            <p14:sldId id="278"/>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600" b="0">
                <a:solidFill>
                  <a:srgbClr val="595959"/>
                </a:solidFill>
              </a:rPr>
              <a:t>FEV1/FVC before and after an inhaler (example)</a:t>
            </a:r>
          </a:p>
        </c:rich>
      </c:tx>
      <c:layout/>
      <c:overlay val="0"/>
    </c:title>
    <c:autoTitleDeleted val="0"/>
    <c:plotArea>
      <c:barChart>
        <c:barDir val="col"/>
        <c:grouping val="clustered"/>
        <c:ser>
          <c:idx val="0"/>
          <c:order val="0"/>
          <c:tx>
            <c:strRef>
              <c:f>Sheet1!$B$1</c:f>
              <c:strCache>
                <c:ptCount val="1"/>
                <c:pt idx="0">
                  <c:v>Before inhaler</c:v>
                </c:pt>
              </c:strCache>
            </c:strRef>
          </c:tx>
          <c:spPr>
            <a:solidFill>
              <a:schemeClr val="accent1"/>
            </a:solidFill>
          </c:spPr>
          <c:cat>
            <c:strRef>
              <c:f>Sheet1!$A$2:$A$3</c:f>
              <c:strCache>
                <c:ptCount val="2"/>
                <c:pt idx="0">
                  <c:v>Asthma patient</c:v>
                </c:pt>
                <c:pt idx="1">
                  <c:v>COPD patient</c:v>
                </c:pt>
              </c:strCache>
            </c:strRef>
          </c:cat>
          <c:val>
            <c:numRef>
              <c:f>Sheet1!$B$2:$B$3</c:f>
              <c:numCache>
                <c:formatCode>General</c:formatCode>
                <c:ptCount val="2"/>
                <c:pt idx="0">
                  <c:v>0.6</c:v>
                </c:pt>
                <c:pt idx="1">
                  <c:v>0.55</c:v>
                </c:pt>
              </c:numCache>
            </c:numRef>
          </c:val>
        </c:ser>
        <c:ser>
          <c:idx val="1"/>
          <c:order val="1"/>
          <c:tx>
            <c:strRef>
              <c:f>Sheet1!$C$1</c:f>
              <c:strCache>
                <c:ptCount val="1"/>
                <c:pt idx="0">
                  <c:v>After inhaler</c:v>
                </c:pt>
              </c:strCache>
            </c:strRef>
          </c:tx>
          <c:spPr>
            <a:solidFill>
              <a:schemeClr val="accent2"/>
            </a:solidFill>
          </c:spPr>
          <c:cat>
            <c:strRef>
              <c:f>Sheet1!$A$2:$A$3</c:f>
              <c:strCache>
                <c:ptCount val="2"/>
                <c:pt idx="0">
                  <c:v>Asthma patient</c:v>
                </c:pt>
                <c:pt idx="1">
                  <c:v>COPD patient</c:v>
                </c:pt>
              </c:strCache>
            </c:strRef>
          </c:cat>
          <c:val>
            <c:numRef>
              <c:f>Sheet1!$C$2:$C$3</c:f>
              <c:numCache>
                <c:formatCode>General</c:formatCode>
                <c:ptCount val="2"/>
                <c:pt idx="0">
                  <c:v>0.8</c:v>
                </c:pt>
                <c:pt idx="1">
                  <c:v>0.58</c:v>
                </c:pt>
              </c:numCache>
            </c:numRef>
          </c:val>
        </c:ser>
        <c:dLbls>
          <c:numFmt formatCode="0.00" sourceLinked="0"/>
          <c:txPr>
            <a:bodyPr/>
            <a:lstStyle/>
            <a:p>
              <a:pPr>
                <a:defRPr sz="1400"/>
              </a:pPr>
            </a:p>
          </c:txPr>
          <c:dLblPos val="outEnd"/>
          <c:showLegendKey val="0"/>
          <c:showVal val="1"/>
          <c:showCatName val="0"/>
          <c:showSerName val="0"/>
          <c:showPercent val="0"/>
          <c:showBubbleSize val="0"/>
          <c:showLeaderLines val="1"/>
        </c:dLbls>
        <c:gapWidth val="219"/>
        <c:overlap val="-27"/>
        <c:axId val="-2068027336"/>
        <c:axId val="-2113994440"/>
      </c:barChart>
      <c:catAx>
        <c:axId val="-2068027336"/>
        <c:scaling>
          <c:orientation val="minMax"/>
        </c:scaling>
        <c:delete val="0"/>
        <c:axPos val="b"/>
        <c:majorTickMark val="out"/>
        <c:minorTickMark val="none"/>
        <c:tickLblPos val="nextTo"/>
        <c:spPr>
          <a:ln>
            <a:solidFill>
              <a:srgbClr val="D9D9D9"/>
            </a:solidFill>
          </a:ln>
        </c:spPr>
        <c:crossAx val="-2113994440"/>
        <c:crosses val="autoZero"/>
        <c:auto val="1"/>
        <c:lblAlgn val="ctr"/>
        <c:lblOffset val="100"/>
        <c:noMultiLvlLbl val="0"/>
      </c:catAx>
      <c:valAx>
        <c:axId val="-2113994440"/>
        <c:scaling>
          <c:max val="1.0"/>
          <c:min val="0.0"/>
        </c:scaling>
        <c:delete val="0"/>
        <c:axPos val="l"/>
        <c:majorGridlines>
          <c:spPr>
            <a:ln>
              <a:solidFill>
                <a:srgbClr val="D9D9D9"/>
              </a:solidFill>
            </a:ln>
          </c:spPr>
        </c:majorGridlines>
        <c:numFmt formatCode="0.0" sourceLinked="0"/>
        <c:majorTickMark val="out"/>
        <c:minorTickMark val="none"/>
        <c:tickLblPos val="nextTo"/>
        <c:spPr>
          <a:ln>
            <a:noFill/>
          </a:ln>
        </c:spPr>
        <c:crossAx val="-2068027336"/>
        <c:crosses val="autoZero"/>
        <c:majorUnit val="0.2"/>
      </c:valAx>
    </c:plotArea>
    <c:legend>
      <c:legendPos val="b"/>
      <c:overlay val="0"/>
    </c:legend>
    <c:dispBlanksAs val="gap"/>
  </c:chart>
  <c:txPr>
    <a:bodyPr/>
    <a:lstStyle/>
    <a:p>
      <a:pPr>
        <a:defRPr sz="1400">
          <a:solidFill>
            <a:srgbClr val="595959"/>
          </a:solidFill>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1 – 35 seconds</a:t>
            </a:r>
          </a:p>
          <a:p/>
          <a:p>
            <a:r>
              <a:t>Good morning, everyone, and thank you for being here. We are a team of three students. My name is Presenter 1, and these are my teammates, Presenter 2 and Presenter 3. Today, our topic is asthma and COPD. These are the two major obstructive lung diseases. Millions of people around the world live with them. Don't worry, we will keep it simple and clear. Let's begin.</a:t>
            </a:r>
          </a:p>
          <a:p/>
          <a:p>
            <a:r>
              <a:t>Stress: asthma (AZ-muh); COPD (see-oh-pee-DEE); obstructive (ub-STRUK-tiv)</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1 – 35 seconds</a:t>
            </a:r>
          </a:p>
          <a:p/>
          <a:p>
            <a:r>
              <a:t>Here is our plan for today. First, I will explain how we breathe and what the word "obstructive" means. Then I will talk about asthma. Next, Presenter 2 will talk about COPD: what it is, why it happens, and how it feels for patients. Finally, Presenter 3 will explain how doctors diagnose and treat these diseases. At the end, we have a short quiz for you. So please listen carefully!</a:t>
            </a:r>
          </a:p>
          <a:p/>
          <a:p>
            <a:r>
              <a:t>Stress: diagnose (DY-ug-nohs)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1 – 60 seconds</a:t>
            </a:r>
          </a:p>
          <a:p/>
          <a:p>
            <a:r>
              <a:t>Before we talk about diseases, let's look at a healthy lung. When we breathe in, air enters through the nose and mouth. Then it goes down the trachea. The trachea is the windpipe, the big tube in your neck. The trachea divides into two bronchi. The bronchi are the large tubes that go into each lung. They divide again and again into smaller tubes, called bronchioles. At the very end, we find the alveoli. Alveoli are tiny air sacs. Here, oxygen goes into the blood, and carbon dioxide comes out. Breathing in needs work from our muscles. But breathing out is easy. The lungs simply spring back, like a balloon.</a:t>
            </a:r>
          </a:p>
          <a:p/>
          <a:p>
            <a:r>
              <a:t>Stress: trachea (TRAY-kee-uh); bronchi (BRONG-kye); bronchioles (BRONG-kee-ohlz); alveoli (al-VEE-uh-lye)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1 – 60 seconds</a:t>
            </a:r>
          </a:p>
          <a:p/>
          <a:p>
            <a:r>
              <a:t>So, what does "obstructive" mean? The verb "to obstruct" means to block. In obstructive lung diseases, the airways become narrow. Air can still get in, but it is hard to get it out. So some old air stays trapped inside the lungs. Doctors call this air trapping. Let's try a small experiment. Imagine you take a deep breath, and then you breathe out through a thin drinking straw. It takes a long time, right? You need a lot of effort, and you get tired very quickly. This is how a patient with an obstructive disease can feel every day. The two main obstructive diseases are asthma and COPD.</a:t>
            </a:r>
          </a:p>
          <a:p/>
          <a:p>
            <a:r>
              <a:t>Stress: obstruct (ub-STRUKT); airways (AIR-wayz); trapped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1 – 40 seconds</a:t>
            </a:r>
          </a:p>
          <a:p/>
          <a:p>
            <a:r>
              <a:t>Now, let me introduce Sara. Sara is fourteen years old, and she loves football. But after running, she starts to cough. Sometimes she has to stop playing and sit down. She also wheezes. A wheeze is a high, whistling sound when you breathe out. Her chest feels tight, and it is often worse at night. But here is the strange part. On other days, she feels completely fine. So, what is happening in her lungs?</a:t>
            </a:r>
          </a:p>
          <a:p/>
          <a:p>
            <a:r>
              <a:t>Stress: wheeze (WEEZ)</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1 – 75 seconds</a:t>
            </a:r>
          </a:p>
          <a:p/>
          <a:p>
            <a:r>
              <a:t>Sara has asthma. Asthma is a long-term disease of the airways. Long-term means it lasts for years, sometimes for life. In asthma, the airways are very sensitive. When they meet a trigger, they react strongly, and three things happen. Let's look at them on the slide. First, swelling. The airway wall becomes inflamed. Inflammation means the tissue is red, swollen and irritated. Second, tightening. The small muscles around the airway squeeze. We call this bronchospasm. Third, mucus. Mucus is a thick, sticky liquid, and the airway makes too much of it. Together, these changes make the tube very narrow. But there is good news. In asthma, this narrowing is usually reversible. Reversible means it can go back to normal. With treatment, the airways can open again, and the patient can breathe normally.</a:t>
            </a:r>
          </a:p>
          <a:p/>
          <a:p>
            <a:r>
              <a:t>Stress: inflammation (in-fluh-MAY-shun); bronchospasm (BRONG-koh-spaz-um); mucus (MYOO-kus); reversible (rih-VER-suh-bul)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1 – 60 seconds</a:t>
            </a:r>
          </a:p>
          <a:p/>
          <a:p>
            <a:r>
              <a:t>We said that asthma reacts to triggers. A trigger is something that starts the symptoms. Triggers are different for each person. The most common ones are allergens. An allergen is a substance that causes an allergy, like pollen from flowers, dust mites in our beds, pet hair, or mould. Other triggers are cigarette smoke and air pollution. Cold air and exercise can also start symptoms. Colds and the flu are very common triggers, especially in children. Even strong emotions, like stress, can start an attack. For Sara, the main trigger is exercise. So, a big part of asthma care is to know your triggers and avoid them.</a:t>
            </a:r>
          </a:p>
          <a:p/>
          <a:p>
            <a:r>
              <a:t>Stress: trigger; allergen (AL-er-jen); pollen (POL-un); mould (MOHLD)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1 – 55 seconds</a:t>
            </a:r>
          </a:p>
          <a:p/>
          <a:p>
            <a:r>
              <a:t>Now, how does asthma feel? There are four main symptoms. The first is wheezing, the whistling sound we heard about. The second is coughing, often at night or early in the morning. The third is chest tightness. Patients say it feels like a band around their chest. The fourth is shortness of breath. This means you feel you cannot get enough air. The key point is this: in asthma, symptoms come and go. But a sudden, severe attack can be an emergency. That's all about asthma from me. Now I will hand over to Presenter 2, who will tell you about COPD.</a:t>
            </a:r>
          </a:p>
          <a:p/>
          <a:p>
            <a:r>
              <a:t>Stress: symptoms (SIMP-tumz); chest tightness; shortness of breath; emergency (ih-MER-jen-see)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2 – 40 seconds</a:t>
            </a:r>
          </a:p>
          <a:p/>
          <a:p>
            <a:r>
              <a:t>Thank you, Presenter 1. Now let me introduce our second patient, Mr. Brown. He is sixty-seven years old, and he smoked cigarettes for forty years. Every morning, he coughs and brings up phlegm. Phlegm is thick mucus that we cough up from the chest. Climbing stairs makes him breathless. He also feels tired most of the day. His breathing does not come and go like Sara's. It has slowly got worse over many years.</a:t>
            </a:r>
          </a:p>
          <a:p/>
          <a:p>
            <a:r>
              <a:t>Stress: phlegm (FLEM); breathless (BRETH-lus)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2 – 65 seconds</a:t>
            </a:r>
          </a:p>
          <a:p/>
          <a:p>
            <a:r>
              <a:t>Mr. Brown has COPD. COPD is an abbreviation. Doctors and nurses use it every day, so let's look at each letter. C is for chronic. Chronic means long-lasting. O is for obstructive. As we learned, this means the airflow is blocked. P is for pulmonary. Pulmonary means related to the lungs. And D is for disease. So, COPD is a long-lasting lung disease that blocks the airflow. Here are some key facts. First, the blockage is not fully reversible. This is very different from asthma. Second, COPD is progressive. Progressive means it slowly gets worse over time. And third, it usually starts after the age of forty. It is often found late, because it starts so slowly.</a:t>
            </a:r>
          </a:p>
          <a:p/>
          <a:p>
            <a:r>
              <a:t>Stress: chronic (KRON-ik); pulmonary (PUL-muh-nair-ee); progressive (pruh-GRES-iv)</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2 – 80 seconds</a:t>
            </a:r>
          </a:p>
          <a:p/>
          <a:p>
            <a:r>
              <a:t>COPD has two main types, and most patients have a mix of both. The first type is chronic bronchitis. Remember, the bronchi are the large airway tubes. The ending "itis" means inflammation. So bronchitis is inflammation of the bronchi. The tubes become swollen, and they make too much mucus. The main sign is a cough with phlegm that lasts for months, year after year. The second type is emphysema. Emphysema means the alveoli, the tiny air sacs, are damaged. Their thin walls break down. Because of this, the lungs lose their elasticity. Elasticity is the ability to stretch and spring back, like a rubber band. Without it, the lungs cannot push the air out well. So the air gets trapped inside, and the patient feels short of breath. So remember: bronchitis affects the tubes, and emphysema affects the air sacs.</a:t>
            </a:r>
          </a:p>
          <a:p/>
          <a:p>
            <a:r>
              <a:t>Stress: bronchitis (brong-KY-tis); emphysema (em-fuh-SEE-muh); elasticity (ee-las-TIS-ih-tee)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2 – 70 seconds</a:t>
            </a:r>
          </a:p>
          <a:p/>
          <a:p>
            <a:r>
              <a:t>What causes COPD? The number one cause is smoking. According to the World Health Organization, in high-income countries, more than seventy percent of COPD cases are linked to smoking. But smoking is not the only cause. Second-hand smoke is also harmful. That means breathing in other people's smoke. In many poorer countries, a big cause is household air pollution. This is smoke from cooking or heating with wood, coal or other fuels inside the home. Outdoor air pollution, and dust and chemicals at work, can also damage the lungs. Frequent lung infections in childhood can play a role too. Finally, there is a rare genetic condition called alpha-1 antitrypsin deficiency. It can cause COPD in young people, even if they never smoked.</a:t>
            </a:r>
          </a:p>
          <a:p/>
          <a:p>
            <a:r>
              <a:t>Stress: second-hand smoke; household air pollution (puh-LOO-shun); alpha-1 antitrypsin deficiency (AL-fuh WUN an-tee-TRIP-sin dih-FISH-un-see)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2 – 60 seconds</a:t>
            </a:r>
          </a:p>
          <a:p/>
          <a:p>
            <a:r>
              <a:t>Now, let's look at the symptoms of COPD. The main symptom is shortness of breath. The medical word for this is dyspnea. Patients also have a chronic cough, and they cough up sputum. Sputum is another word for phlegm. Some patients also have wheezing, chest tightness, and they feel tired. Now look at the diagram. In COPD, breathlessness slowly gets worse. At first, a patient is breathless only on stairs or hills. Later, they are breathless when walking on flat ground. In severe COPD, even getting dressed can be hard. Many people think this is just "getting old", so they see a doctor late.</a:t>
            </a:r>
          </a:p>
          <a:p/>
          <a:p>
            <a:r>
              <a:t>Stress: dyspnea (DISP-nee-uh); sputum (SPYOO-tum); breathlessness (BRETH-lus-nus)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2 – 55 seconds</a:t>
            </a:r>
          </a:p>
          <a:p/>
          <a:p>
            <a:r>
              <a:t>Sometimes, COPD suddenly gets worse. This is called a flare-up. The medical word is exacerbation. During a flare-up, the patient is more breathless than usual. They cough more, and they have more sputum. Sometimes the sputum changes colour to yellow or green. The most common causes are chest infections, like a cold or the flu, and air pollution. Flare-ups are dangerous. Serious ones need hospital care, sometimes with oxygen. Patients often need extra medicines, like steroids or antibiotics. Each flare-up can also leave the lungs a little weaker than before. That is why preventing them is so important.</a:t>
            </a:r>
          </a:p>
          <a:p/>
          <a:p>
            <a:r>
              <a:t>Stress: flare-up (FLAIR-up); exacerbation (ig-ZAS-er-BAY-shun)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2 – 50 seconds</a:t>
            </a:r>
          </a:p>
          <a:p/>
          <a:p>
            <a:r>
              <a:t>So, why should we care about these diseases? Let's look at the numbers from the World Health Organization. In 2019, about two hundred and sixty-two million people had asthma. In the same year, asthma caused about four hundred and fifty-five thousand deaths. COPD is even more deadly. In 2023, it caused three point four million deaths. That makes it the third leading cause of death in the world. Most of these deaths happen in low- and middle-income countries. Now, Presenter 3 will explain how doctors diagnose and treat these diseases.</a:t>
            </a:r>
          </a:p>
          <a:p/>
          <a:p>
            <a:r>
              <a:t>Stress: 262 million (two hundred sixty-two million); 455,000 (four hundred fifty-five thousand); 3.4 million (three point four million); leading cause of death</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3 – 55 seconds</a:t>
            </a:r>
          </a:p>
          <a:p/>
          <a:p>
            <a:r>
              <a:t>Thank you, Presenter 2. So, how do doctors find out if a patient has asthma or COPD? There are three main steps. Step one is to ask. The doctor takes a history. A history is the patient's story: their symptoms, if they smoke, their allergies, and illnesses in the family. Step two is to examine. The doctor listens to the chest with a stethoscope and may hear a wheeze. Step three is to test. The most important test is spirometry, a breathing test. Sometimes doctors also use a chest X-ray, or they measure the oxygen in the blood. Let's look at spirometry more closely.</a:t>
            </a:r>
          </a:p>
          <a:p/>
          <a:p>
            <a:r>
              <a:t>Stress: history; stethoscope (STETH-uh-skohp); spirometry (spy-ROM-uh-tree)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3 – 70 seconds</a:t>
            </a:r>
          </a:p>
          <a:p/>
          <a:p>
            <a:r>
              <a:t>Spirometry measures how much air you can blow out, and how fast. The patient takes a very deep breath in. Then they blow out into a machine, as hard and as fast as they can. The machine measures two numbers. The first is FEV1. It is the air you blow out in the first second. The second is FVC. It is all the air you blow out in total. Then we divide FEV1 by FVC. If the result is less than zero point seven, the airways are obstructed. After that, the patient uses a reliever inhaler and does the test again. Look at the chart. In asthma, the result improves a lot. In COPD, it improves only a little. This is how spirometry helps doctors tell the two diseases apart.</a:t>
            </a:r>
          </a:p>
          <a:p/>
          <a:p>
            <a:r>
              <a:t>Stress: FEV1 (eff-ee-vee-WUN); FVC (eff-vee-SEE); obstructed (ub-STRUK-tid); inhaler (in-HAY-ler)</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3 – 65 seconds</a:t>
            </a:r>
          </a:p>
          <a:p/>
          <a:p>
            <a:r>
              <a:t>Now let's talk about treatment, starting with asthma. Most asthma medicines are inhalers. An inhaler is a small device that sends the medicine straight into the lungs. The first type is the reliever inhaler. It works in minutes and relaxes the airway muscles, so we call it a bronchodilator, which means "airway opener". Patients use it when symptoms start. A common example is salbutamol. The second type is the controller, or preventer, inhaler. It contains a steroid, a medicine that calms the swelling. It works slowly, so patients use it every day, even when they feel well. An example is budesonide. Patients should also avoid triggers and follow an asthma action plan. This is a written plan that says what to do when symptoms get worse.</a:t>
            </a:r>
          </a:p>
          <a:p/>
          <a:p>
            <a:r>
              <a:t>Stress: reliever (rih-LEE-ver); bronchodilator (BRONG-koh-dy-LAY-ter); steroid (STEER-oyd); salbutamol (sal-BYOO-tuh-mol); budesonide (byoo-DES-uh-nyde)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3 – 60 seconds</a:t>
            </a:r>
          </a:p>
          <a:p/>
          <a:p>
            <a:r>
              <a:t>Now, COPD treatment. There are five main parts. Number one, and the most important: stop smoking. It is never too late to stop, and quitting slows down the damage. Number two: inhalers that open the airways, the bronchodilators. Number three: pulmonary rehabilitation. This is a program of exercise, breathing training and education. It helps patients do more in their daily life, and they feel less breathless. Number four: vaccines against the flu, pneumonia and COVID-19. They prevent infections and flare-ups. And number five: oxygen therapy, for patients with severe COPD and low oxygen levels. COPD cannot be cured. But treatment helps people breathe better and live better.</a:t>
            </a:r>
          </a:p>
          <a:p/>
          <a:p>
            <a:r>
              <a:t>Stress: rehabilitation (REE-huh-bil-ih-TAY-shun); pneumonia (noo-MOH-nee-uh); vaccines (vak-SEENZ); therapy (THAIR-uh-pee)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3 – 65 seconds</a:t>
            </a:r>
          </a:p>
          <a:p/>
          <a:p>
            <a:r>
              <a:t>Now let's put the two diseases side by side. Please look at the table as I explain. First, age. Asthma often starts in childhood. COPD usually starts after forty. Second, the main cause. Asthma is linked to allergies and triggers. COPD is mainly caused by smoking and other smoke. Third, the pattern of symptoms. In asthma, they come and go. In COPD, they slowly get worse. Fourth, the blockage. In asthma, it is mostly reversible. In COPD, it is not fully reversible. Finally, treatment. Asthma is treated mainly with a controller inhaler and a reliever. COPD is treated by stopping smoking and with bronchodilators. Of course, some patients have features of both diseases.</a:t>
            </a:r>
          </a:p>
          <a:p/>
          <a:p>
            <a:r>
              <a:t>Stress: reversible / not fully reversible (rih-VER-suh-bul); features (FEE-cherz)</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3 – 50 seconds</a:t>
            </a:r>
          </a:p>
          <a:p/>
          <a:p>
            <a:r>
              <a:t>Now it's your turn! I will read four short sentences. Please call out the answer: asthma or COPD? Number one. A ten-year-old boy wheezes every time he plays with a cat. [Pause, then click.] Yes, asthma! Number two. A seventy-year-old ex-smoker coughs up phlegm every morning. [Click.] Correct, COPD. Number three. Her breathing test becomes almost normal after an inhaler. [Click.] Asthma, because it is reversible. Number four. The walls of his alveoli are damaged, and air is trapped. [Click.] That's emphysema, so it's COPD. Great job, everyone!</a:t>
            </a:r>
          </a:p>
          <a:p/>
          <a:p>
            <a:r>
              <a:t>Stress: ex-smoker (EKS-smoh-ker)</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3 – 35 seconds</a:t>
            </a:r>
          </a:p>
          <a:p/>
          <a:p>
            <a:r>
              <a:t>To finish, here are our take-home messages. Asthma and COPD both block the airflow out of the lungs. Asthma has sensitive airways and triggers, and it is usually reversible. COPD is mostly caused by smoking. It slowly gets worse, and it is not fully reversible. Both diseases can be treated with the right inhalers. And remember: COPD can often be prevented. The best advice is simple. Don't smoke.</a:t>
            </a:r>
          </a:p>
          <a:p/>
          <a:p>
            <a:r>
              <a:t>Stress: take-home message; prevented (prih-VEN-tid)</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3 – 20 seconds</a:t>
            </a:r>
          </a:p>
          <a:p/>
          <a:p>
            <a:r>
              <a:t>That is the end of our presentation. Thank you very much for listening. We hope you learned something new today. We also want to thank our teacher for this opportunity. Now, we are happy to answer your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a:p>
        </p:txBody>
      </p:sp>
      <p:sp>
        <p:nvSpPr>
          <p:cNvPr id="4" name="Date Placeholder 3"/>
          <p:cNvSpPr>
            <a:spLocks noGrp="1"/>
          </p:cNvSpPr>
          <p:nvPr>
            <p:ph type="dt" sz="half" idx="10"/>
          </p:nvPr>
        </p:nvSpPr>
        <p:spPr/>
        <p:txBody>
          <a:bodyPr/>
          <a:lstStyle/>
          <a:p>
            <a:fld id="{B61BEF0D-F0BB-DE4B-95CE-6DB70DBA9567}" type="datetimeFigureOut">
              <a:rPr lang="en-US"/>
              <a:t>10/21/26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a:p>
        </p:txBody>
      </p:sp>
      <p:sp>
        <p:nvSpPr>
          <p:cNvPr id="4" name="Date Placeholder 3"/>
          <p:cNvSpPr>
            <a:spLocks noGrp="1"/>
          </p:cNvSpPr>
          <p:nvPr>
            <p:ph type="dt" sz="half" idx="10"/>
          </p:nvPr>
        </p:nvSpPr>
        <p:spPr/>
        <p:txBody>
          <a:bodyPr/>
          <a:lstStyle/>
          <a:p>
            <a:fld id="{B61BEF0D-F0BB-DE4B-95CE-6DB70DBA9567}" type="datetimeFigureOut">
              <a:rPr lang="en-US"/>
              <a:t>10/21/26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r>
              <a:rPr lang="en-US"/>
              <a:t>Click to edit Master text styles</a:t>
            </a:r>
            <a:endParaRPr lang="en-US"/>
          </a:p>
        </p:txBody>
      </p:sp>
      <p:sp>
        <p:nvSpPr>
          <p:cNvPr id="4" name="Date Placeholder 3"/>
          <p:cNvSpPr>
            <a:spLocks noGrp="1"/>
          </p:cNvSpPr>
          <p:nvPr>
            <p:ph type="dt" sz="half" idx="10"/>
          </p:nvPr>
        </p:nvSpPr>
        <p:spPr/>
        <p:txBody>
          <a:bodyPr/>
          <a:lstStyle/>
          <a:p>
            <a:fld id="{B61BEF0D-F0BB-DE4B-95CE-6DB70DBA9567}" type="datetimeFigureOut">
              <a:rPr lang="en-US"/>
              <a:t>10/21/26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a:p>
        </p:txBody>
      </p:sp>
      <p:sp>
        <p:nvSpPr>
          <p:cNvPr id="5" name="Date Placeholder 4"/>
          <p:cNvSpPr>
            <a:spLocks noGrp="1"/>
          </p:cNvSpPr>
          <p:nvPr>
            <p:ph type="dt" sz="half" idx="10"/>
          </p:nvPr>
        </p:nvSpPr>
        <p:spPr/>
        <p:txBody>
          <a:bodyPr/>
          <a:lstStyle/>
          <a:p>
            <a:fld id="{B61BEF0D-F0BB-DE4B-95CE-6DB70DBA9567}" type="datetimeFigureOut">
              <a:rPr lang="en-US"/>
              <a:t>10/21/26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7F1E4F-1CFF-5643-939E-217C01CDF565}" type="slidenum">
              <a:rPr lang="en-US"/>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r>
              <a:rPr lang="en-US"/>
              <a:t>Click to edit Master text styles</a:t>
            </a:r>
            <a:endParaRPr lang="en-US"/>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r>
              <a:rPr lang="en-US"/>
              <a:t>Click to edit Master text styles</a:t>
            </a:r>
            <a:endParaRPr lang="en-US"/>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a:p>
        </p:txBody>
      </p:sp>
      <p:sp>
        <p:nvSpPr>
          <p:cNvPr id="7" name="Date Placeholder 6"/>
          <p:cNvSpPr>
            <a:spLocks noGrp="1"/>
          </p:cNvSpPr>
          <p:nvPr>
            <p:ph type="dt" sz="half" idx="10"/>
          </p:nvPr>
        </p:nvSpPr>
        <p:spPr/>
        <p:txBody>
          <a:bodyPr/>
          <a:lstStyle/>
          <a:p>
            <a:fld id="{B61BEF0D-F0BB-DE4B-95CE-6DB70DBA9567}" type="datetimeFigureOut">
              <a:rPr lang="en-US"/>
              <a:t>10/21/26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57F1E4F-1CFF-5643-939E-217C01CDF565}" type="slidenum">
              <a:rPr lang="en-US"/>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p>
            <a:fld id="{B61BEF0D-F0BB-DE4B-95CE-6DB70DBA9567}" type="datetimeFigureOut">
              <a:rPr lang="en-US"/>
              <a:t>10/21/26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57F1E4F-1CFF-5643-939E-217C01CDF565}" type="slidenum">
              <a:rPr lang="en-US"/>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a:t>10/21/26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57F1E4F-1CFF-5643-939E-217C01CDF565}" type="slidenum">
              <a:rPr lang="en-US"/>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en-US"/>
              <a:t>Click to edit Master text styles</a:t>
            </a:r>
            <a:endParaRPr lang="en-US"/>
          </a:p>
        </p:txBody>
      </p:sp>
      <p:sp>
        <p:nvSpPr>
          <p:cNvPr id="5" name="Date Placeholder 4"/>
          <p:cNvSpPr>
            <a:spLocks noGrp="1"/>
          </p:cNvSpPr>
          <p:nvPr>
            <p:ph type="dt" sz="half" idx="10"/>
          </p:nvPr>
        </p:nvSpPr>
        <p:spPr/>
        <p:txBody>
          <a:bodyPr/>
          <a:lstStyle/>
          <a:p>
            <a:fld id="{B61BEF0D-F0BB-DE4B-95CE-6DB70DBA9567}" type="datetimeFigureOut">
              <a:rPr lang="en-US"/>
              <a:t>10/21/26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7F1E4F-1CFF-5643-939E-217C01CDF565}" type="slidenum">
              <a:rPr lang="en-US"/>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en-US"/>
              <a:t>Click to edit Master text styles</a:t>
            </a:r>
            <a:endParaRPr lang="en-US"/>
          </a:p>
        </p:txBody>
      </p:sp>
      <p:sp>
        <p:nvSpPr>
          <p:cNvPr id="5" name="Date Placeholder 4"/>
          <p:cNvSpPr>
            <a:spLocks noGrp="1"/>
          </p:cNvSpPr>
          <p:nvPr>
            <p:ph type="dt" sz="half" idx="10"/>
          </p:nvPr>
        </p:nvSpPr>
        <p:spPr/>
        <p:txBody>
          <a:bodyPr/>
          <a:lstStyle/>
          <a:p>
            <a:fld id="{B61BEF0D-F0BB-DE4B-95CE-6DB70DBA9567}" type="datetimeFigureOut">
              <a:rPr lang="en-US"/>
              <a:t>10/21/26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7F1E4F-1CFF-5643-939E-217C01CDF565}" type="slidenum">
              <a:rPr lang="en-US"/>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a:p>
        </p:txBody>
      </p:sp>
      <p:sp>
        <p:nvSpPr>
          <p:cNvPr id="4" name="Date Placeholder 3"/>
          <p:cNvSpPr>
            <a:spLocks noGrp="1"/>
          </p:cNvSpPr>
          <p:nvPr>
            <p:ph type="dt" sz="half" idx="10"/>
          </p:nvPr>
        </p:nvSpPr>
        <p:spPr/>
        <p:txBody>
          <a:bodyPr/>
          <a:lstStyle/>
          <a:p>
            <a:fld id="{B61BEF0D-F0BB-DE4B-95CE-6DB70DBA9567}" type="datetimeFigureOut">
              <a:rPr lang="en-US"/>
              <a:t>10/21/26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a:p>
        </p:txBody>
      </p:sp>
      <p:sp>
        <p:nvSpPr>
          <p:cNvPr id="4" name="Date Placeholder 3"/>
          <p:cNvSpPr>
            <a:spLocks noGrp="1"/>
          </p:cNvSpPr>
          <p:nvPr>
            <p:ph type="dt" sz="half" idx="10"/>
          </p:nvPr>
        </p:nvSpPr>
        <p:spPr/>
        <p:txBody>
          <a:bodyPr/>
          <a:lstStyle/>
          <a:p>
            <a:fld id="{B61BEF0D-F0BB-DE4B-95CE-6DB70DBA9567}" type="datetimeFigureOut">
              <a:rPr lang="en-US"/>
              <a:t>10/21/26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61BEF0D-F0BB-DE4B-95CE-6DB70DBA9567}" type="datetimeFigureOut">
              <a:rPr lang="en-US"/>
              <a:t>10/21/26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57F1E4F-1CFF-5643-939E-217C01CDF565}" type="slidenum">
              <a:rPr lang="en-US"/>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chart" Target="../charts/char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Asthma and COPD</a:t>
            </a:r>
          </a:p>
        </p:txBody>
      </p:sp>
      <p:sp>
        <p:nvSpPr>
          <p:cNvPr id="3" name="Subtitle 2"/>
          <p:cNvSpPr>
            <a:spLocks noGrp="1"/>
          </p:cNvSpPr>
          <p:nvPr>
            <p:ph type="subTitle" idx="1"/>
          </p:nvPr>
        </p:nvSpPr>
        <p:spPr/>
        <p:txBody>
          <a:bodyPr/>
          <a:lstStyle/>
          <a:p>
            <a:r>
              <a:rPr sz="2800"/>
              <a:t>The Major Obstructive Lung Diseases</a:t>
            </a:r>
          </a:p>
          <a:p>
            <a:pPr>
              <a:spcBef>
                <a:spcPts val="1800"/>
              </a:spcBef>
            </a:pPr>
            <a:r>
              <a:rPr sz="2000"/>
              <a:t>Presenter 1, Presenter 2 and Presenter 3</a:t>
            </a:r>
          </a:p>
          <a:p>
            <a:r>
              <a:rPr sz="2000"/>
              <a:t>English for Medicine II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Our Plan for Today</a:t>
            </a:r>
          </a:p>
        </p:txBody>
      </p:sp>
      <p:sp>
        <p:nvSpPr>
          <p:cNvPr id="3" name="Rectangle 2"/>
          <p:cNvSpPr/>
          <p:nvPr/>
        </p:nvSpPr>
        <p:spPr>
          <a:xfrm>
            <a:off x="838504" y="1920240"/>
            <a:ext cx="2926080" cy="12344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wrap="square"/>
          <a:lstStyle/>
          <a:p>
            <a:pPr algn="ctr"/>
            <a:r>
              <a:rPr sz="2000" b="1"/>
              <a:t>Presenter 1</a:t>
            </a:r>
          </a:p>
          <a:p>
            <a:pPr algn="ctr"/>
            <a:r>
              <a:rPr sz="2000"/>
              <a:t>The basics and asthma</a:t>
            </a:r>
          </a:p>
        </p:txBody>
      </p:sp>
      <p:sp>
        <p:nvSpPr>
          <p:cNvPr id="4" name="TextBox 3"/>
          <p:cNvSpPr txBox="1"/>
          <p:nvPr/>
        </p:nvSpPr>
        <p:spPr>
          <a:xfrm>
            <a:off x="929944" y="3429000"/>
            <a:ext cx="2834640" cy="2194560"/>
          </a:xfrm>
          <a:prstGeom prst="rect">
            <a:avLst/>
          </a:prstGeom>
          <a:noFill/>
        </p:spPr>
        <p:txBody>
          <a:bodyPr wrap="square" anchor="t">
            <a:spAutoFit/>
          </a:bodyPr>
          <a:lstStyle/>
          <a:p>
            <a:pPr algn="l" marL="203200" indent="-203200">
              <a:buFont typeface="Arial" panose="020B0604020202020204" pitchFamily="34" charset="0"/>
              <a:buChar char="•"/>
            </a:pPr>
            <a:r>
              <a:rPr sz="2000"/>
              <a:t>How we breathe</a:t>
            </a:r>
          </a:p>
          <a:p>
            <a:pPr algn="l" marL="203200" indent="-203200">
              <a:spcBef>
                <a:spcPts val="800"/>
              </a:spcBef>
              <a:buFont typeface="Arial" panose="020B0604020202020204" pitchFamily="34" charset="0"/>
              <a:buChar char="•"/>
            </a:pPr>
            <a:r>
              <a:rPr sz="2000"/>
              <a:t>Obstructive diseases</a:t>
            </a:r>
          </a:p>
          <a:p>
            <a:pPr algn="l" marL="203200" indent="-203200">
              <a:spcBef>
                <a:spcPts val="800"/>
              </a:spcBef>
              <a:buFont typeface="Arial" panose="020B0604020202020204" pitchFamily="34" charset="0"/>
              <a:buChar char="•"/>
            </a:pPr>
            <a:r>
              <a:rPr sz="2000"/>
              <a:t>Asthma</a:t>
            </a:r>
          </a:p>
        </p:txBody>
      </p:sp>
      <p:sp>
        <p:nvSpPr>
          <p:cNvPr id="5" name="Right Arrow 4"/>
          <p:cNvSpPr/>
          <p:nvPr/>
        </p:nvSpPr>
        <p:spPr>
          <a:xfrm>
            <a:off x="3947464" y="2286000"/>
            <a:ext cx="502920" cy="50292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6" name="Rectangle 5"/>
          <p:cNvSpPr/>
          <p:nvPr/>
        </p:nvSpPr>
        <p:spPr>
          <a:xfrm>
            <a:off x="4633264" y="1920240"/>
            <a:ext cx="2926080" cy="12344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wrap="square"/>
          <a:lstStyle/>
          <a:p>
            <a:pPr algn="ctr"/>
            <a:r>
              <a:rPr sz="2000" b="1"/>
              <a:t>Presenter 2</a:t>
            </a:r>
          </a:p>
          <a:p>
            <a:pPr algn="ctr"/>
            <a:r>
              <a:rPr sz="2000"/>
              <a:t>COPD</a:t>
            </a:r>
          </a:p>
        </p:txBody>
      </p:sp>
      <p:sp>
        <p:nvSpPr>
          <p:cNvPr id="7" name="TextBox 6"/>
          <p:cNvSpPr txBox="1"/>
          <p:nvPr/>
        </p:nvSpPr>
        <p:spPr>
          <a:xfrm>
            <a:off x="4724704" y="3429000"/>
            <a:ext cx="2834640" cy="2194560"/>
          </a:xfrm>
          <a:prstGeom prst="rect">
            <a:avLst/>
          </a:prstGeom>
          <a:noFill/>
        </p:spPr>
        <p:txBody>
          <a:bodyPr wrap="square" anchor="t">
            <a:spAutoFit/>
          </a:bodyPr>
          <a:lstStyle/>
          <a:p>
            <a:pPr algn="l" marL="203200" indent="-203200">
              <a:buFont typeface="Arial" panose="020B0604020202020204" pitchFamily="34" charset="0"/>
              <a:buChar char="•"/>
            </a:pPr>
            <a:r>
              <a:rPr sz="2000"/>
              <a:t>What COPD is</a:t>
            </a:r>
          </a:p>
          <a:p>
            <a:pPr algn="l" marL="203200" indent="-203200">
              <a:spcBef>
                <a:spcPts val="800"/>
              </a:spcBef>
              <a:buFont typeface="Arial" panose="020B0604020202020204" pitchFamily="34" charset="0"/>
              <a:buChar char="•"/>
            </a:pPr>
            <a:r>
              <a:rPr sz="2000"/>
              <a:t>Types and causes</a:t>
            </a:r>
          </a:p>
          <a:p>
            <a:pPr algn="l" marL="203200" indent="-203200">
              <a:spcBef>
                <a:spcPts val="800"/>
              </a:spcBef>
              <a:buFont typeface="Arial" panose="020B0604020202020204" pitchFamily="34" charset="0"/>
              <a:buChar char="•"/>
            </a:pPr>
            <a:r>
              <a:rPr sz="2000"/>
              <a:t>Symptoms</a:t>
            </a:r>
          </a:p>
        </p:txBody>
      </p:sp>
      <p:sp>
        <p:nvSpPr>
          <p:cNvPr id="8" name="Right Arrow 7"/>
          <p:cNvSpPr/>
          <p:nvPr/>
        </p:nvSpPr>
        <p:spPr>
          <a:xfrm>
            <a:off x="7742224" y="2286000"/>
            <a:ext cx="502920" cy="50292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9" name="Rectangle 8"/>
          <p:cNvSpPr/>
          <p:nvPr/>
        </p:nvSpPr>
        <p:spPr>
          <a:xfrm>
            <a:off x="8428024" y="1920240"/>
            <a:ext cx="2926080" cy="12344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wrap="square"/>
          <a:lstStyle/>
          <a:p>
            <a:pPr algn="ctr"/>
            <a:r>
              <a:rPr sz="2000" b="1"/>
              <a:t>Presenter 3</a:t>
            </a:r>
          </a:p>
          <a:p>
            <a:pPr algn="ctr"/>
            <a:r>
              <a:rPr sz="2000"/>
              <a:t>Diagnosis and treatment</a:t>
            </a:r>
          </a:p>
        </p:txBody>
      </p:sp>
      <p:sp>
        <p:nvSpPr>
          <p:cNvPr id="10" name="TextBox 9"/>
          <p:cNvSpPr txBox="1"/>
          <p:nvPr/>
        </p:nvSpPr>
        <p:spPr>
          <a:xfrm>
            <a:off x="8519464" y="3429000"/>
            <a:ext cx="2834640" cy="2194560"/>
          </a:xfrm>
          <a:prstGeom prst="rect">
            <a:avLst/>
          </a:prstGeom>
          <a:noFill/>
        </p:spPr>
        <p:txBody>
          <a:bodyPr wrap="square" anchor="t">
            <a:spAutoFit/>
          </a:bodyPr>
          <a:lstStyle/>
          <a:p>
            <a:pPr algn="l" marL="203200" indent="-203200">
              <a:buFont typeface="Arial" panose="020B0604020202020204" pitchFamily="34" charset="0"/>
              <a:buChar char="•"/>
            </a:pPr>
            <a:r>
              <a:rPr sz="2000"/>
              <a:t>Tests and treatment</a:t>
            </a:r>
          </a:p>
          <a:p>
            <a:pPr algn="l" marL="203200" indent="-203200">
              <a:spcBef>
                <a:spcPts val="800"/>
              </a:spcBef>
              <a:buFont typeface="Arial" panose="020B0604020202020204" pitchFamily="34" charset="0"/>
              <a:buChar char="•"/>
            </a:pPr>
            <a:r>
              <a:rPr sz="2000"/>
              <a:t>Asthma vs COPD</a:t>
            </a:r>
          </a:p>
          <a:p>
            <a:pPr algn="l" marL="203200" indent="-203200">
              <a:spcBef>
                <a:spcPts val="800"/>
              </a:spcBef>
              <a:buFont typeface="Arial" panose="020B0604020202020204" pitchFamily="34" charset="0"/>
              <a:buChar char="•"/>
            </a:pPr>
            <a:r>
              <a:rPr sz="2000"/>
              <a:t>A short quiz!</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How We Breathe</a:t>
            </a:r>
          </a:p>
        </p:txBody>
      </p:sp>
      <p:sp>
        <p:nvSpPr>
          <p:cNvPr id="3" name="Rectangle 2"/>
          <p:cNvSpPr/>
          <p:nvPr/>
        </p:nvSpPr>
        <p:spPr>
          <a:xfrm>
            <a:off x="838504" y="1691640"/>
            <a:ext cx="3200400" cy="5669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wrap="square"/>
          <a:lstStyle/>
          <a:p>
            <a:pPr algn="ctr"/>
            <a:r>
              <a:rPr sz="1800" b="1"/>
              <a:t>Nose and mouth</a:t>
            </a:r>
            <a:r>
              <a:rPr sz="1800"/>
              <a:t/>
            </a:r>
          </a:p>
        </p:txBody>
      </p:sp>
      <p:sp>
        <p:nvSpPr>
          <p:cNvPr id="4" name="Down Arrow 3"/>
          <p:cNvSpPr/>
          <p:nvPr/>
        </p:nvSpPr>
        <p:spPr>
          <a:xfrm>
            <a:off x="2255824" y="2286000"/>
            <a:ext cx="365760" cy="32918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5" name="Rectangle 4"/>
          <p:cNvSpPr/>
          <p:nvPr/>
        </p:nvSpPr>
        <p:spPr>
          <a:xfrm>
            <a:off x="838504" y="2642616"/>
            <a:ext cx="3200400" cy="5669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wrap="square"/>
          <a:lstStyle/>
          <a:p>
            <a:pPr algn="ctr"/>
            <a:r>
              <a:rPr sz="1800" b="1"/>
              <a:t>Trachea</a:t>
            </a:r>
            <a:r>
              <a:rPr sz="1800"/>
              <a:t> (windpipe)</a:t>
            </a:r>
          </a:p>
        </p:txBody>
      </p:sp>
      <p:sp>
        <p:nvSpPr>
          <p:cNvPr id="6" name="Down Arrow 5"/>
          <p:cNvSpPr/>
          <p:nvPr/>
        </p:nvSpPr>
        <p:spPr>
          <a:xfrm>
            <a:off x="2255824" y="3236976"/>
            <a:ext cx="365760" cy="32918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7" name="Rectangle 6"/>
          <p:cNvSpPr/>
          <p:nvPr/>
        </p:nvSpPr>
        <p:spPr>
          <a:xfrm>
            <a:off x="838504" y="3593592"/>
            <a:ext cx="3200400" cy="5669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wrap="square"/>
          <a:lstStyle/>
          <a:p>
            <a:pPr algn="ctr"/>
            <a:r>
              <a:rPr sz="1800" b="1"/>
              <a:t>Bronchi</a:t>
            </a:r>
            <a:r>
              <a:rPr sz="1800"/>
              <a:t> (large tubes)</a:t>
            </a:r>
          </a:p>
        </p:txBody>
      </p:sp>
      <p:sp>
        <p:nvSpPr>
          <p:cNvPr id="8" name="Down Arrow 7"/>
          <p:cNvSpPr/>
          <p:nvPr/>
        </p:nvSpPr>
        <p:spPr>
          <a:xfrm>
            <a:off x="2255824" y="4187952"/>
            <a:ext cx="365760" cy="32918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9" name="Rectangle 8"/>
          <p:cNvSpPr/>
          <p:nvPr/>
        </p:nvSpPr>
        <p:spPr>
          <a:xfrm>
            <a:off x="838504" y="4544568"/>
            <a:ext cx="3200400" cy="5669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wrap="square"/>
          <a:lstStyle/>
          <a:p>
            <a:pPr algn="ctr"/>
            <a:r>
              <a:rPr sz="1800" b="1"/>
              <a:t>Bronchioles</a:t>
            </a:r>
            <a:r>
              <a:rPr sz="1800"/>
              <a:t> (small tubes)</a:t>
            </a:r>
          </a:p>
        </p:txBody>
      </p:sp>
      <p:sp>
        <p:nvSpPr>
          <p:cNvPr id="10" name="Down Arrow 9"/>
          <p:cNvSpPr/>
          <p:nvPr/>
        </p:nvSpPr>
        <p:spPr>
          <a:xfrm>
            <a:off x="2255824" y="5138928"/>
            <a:ext cx="365760" cy="32918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1" name="Rectangle 10"/>
          <p:cNvSpPr/>
          <p:nvPr/>
        </p:nvSpPr>
        <p:spPr>
          <a:xfrm>
            <a:off x="838504" y="5495544"/>
            <a:ext cx="3200400" cy="5669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wrap="square"/>
          <a:lstStyle/>
          <a:p>
            <a:pPr algn="ctr"/>
            <a:r>
              <a:rPr sz="1800" b="1"/>
              <a:t>Alveoli</a:t>
            </a:r>
            <a:r>
              <a:rPr sz="1800"/>
              <a:t> (air sacs)</a:t>
            </a:r>
          </a:p>
        </p:txBody>
      </p:sp>
      <p:sp>
        <p:nvSpPr>
          <p:cNvPr id="12" name="TextBox 11"/>
          <p:cNvSpPr txBox="1"/>
          <p:nvPr/>
        </p:nvSpPr>
        <p:spPr>
          <a:xfrm>
            <a:off x="4343400" y="1828800"/>
            <a:ext cx="3520440" cy="3840480"/>
          </a:xfrm>
          <a:prstGeom prst="rect">
            <a:avLst/>
          </a:prstGeom>
          <a:noFill/>
        </p:spPr>
        <p:txBody>
          <a:bodyPr wrap="square" anchor="t">
            <a:spAutoFit/>
          </a:bodyPr>
          <a:lstStyle/>
          <a:p>
            <a:pPr algn="l" marL="203200" indent="-203200">
              <a:buFont typeface="Arial" panose="020B0604020202020204" pitchFamily="34" charset="0"/>
              <a:buChar char="•"/>
            </a:pPr>
            <a:r>
              <a:rPr sz="2000" b="1"/>
              <a:t>Breathing in: </a:t>
            </a:r>
            <a:r>
              <a:rPr sz="2000"/>
              <a:t>our muscles work to pull air in</a:t>
            </a:r>
          </a:p>
          <a:p>
            <a:pPr algn="l" marL="203200" indent="-203200">
              <a:spcBef>
                <a:spcPts val="1800"/>
              </a:spcBef>
              <a:buFont typeface="Arial" panose="020B0604020202020204" pitchFamily="34" charset="0"/>
              <a:buChar char="•"/>
            </a:pPr>
            <a:r>
              <a:rPr sz="2000" b="1"/>
              <a:t>Breathing out: </a:t>
            </a:r>
            <a:r>
              <a:rPr sz="2000"/>
              <a:t>the lungs spring back, like a balloon</a:t>
            </a:r>
          </a:p>
          <a:p>
            <a:pPr algn="l" marL="203200" indent="-203200">
              <a:spcBef>
                <a:spcPts val="1800"/>
              </a:spcBef>
              <a:buFont typeface="Arial" panose="020B0604020202020204" pitchFamily="34" charset="0"/>
              <a:buChar char="•"/>
            </a:pPr>
            <a:r>
              <a:rPr sz="2000" b="1"/>
              <a:t>In the alveoli: </a:t>
            </a:r>
            <a:r>
              <a:rPr sz="2000"/>
              <a:t>oxygen goes in, carbon dioxide comes out</a:t>
            </a:r>
          </a:p>
        </p:txBody>
      </p:sp>
      <p:sp>
        <p:nvSpPr>
          <p:cNvPr id="13" name="IMAGE PLACEHOLDER"/>
          <p:cNvSpPr/>
          <p:nvPr/>
        </p:nvSpPr>
        <p:spPr>
          <a:xfrm>
            <a:off x="8092440" y="1691640"/>
            <a:ext cx="3261664" cy="4251960"/>
          </a:xfrm>
          <a:prstGeom prst="rect">
            <a:avLst/>
          </a:prstGeom>
          <a:solidFill>
            <a:srgbClr val="F2F2F2"/>
          </a:solidFill>
          <a:ln w="15875">
            <a:solidFill>
              <a:srgbClr val="7F7F7F"/>
            </a:solidFill>
            <a:prstDash val="dash"/>
          </a:ln>
        </p:spPr>
        <p:txBody>
          <a:bodyPr rtlCol="0" anchor="ctr" wrap="square"/>
          <a:lstStyle/>
          <a:p>
            <a:pPr algn="ctr"/>
            <a:r>
              <a:rPr sz="1600" b="1" i="0">
                <a:solidFill>
                  <a:srgbClr val="595959"/>
                </a:solidFill>
              </a:rPr>
              <a:t>[ IMAGE ]</a:t>
            </a:r>
          </a:p>
          <a:p>
            <a:pPr algn="ctr">
              <a:spcBef>
                <a:spcPts val="600"/>
              </a:spcBef>
            </a:pPr>
            <a:r>
              <a:rPr sz="1400" b="0" i="0">
                <a:solidFill>
                  <a:srgbClr val="595959"/>
                </a:solidFill>
              </a:rPr>
              <a:t>Labelled diagram of the respiratory system: trachea, bronchi, bronchioles, alveoli</a:t>
            </a:r>
          </a:p>
          <a:p>
            <a:pPr algn="ctr">
              <a:spcBef>
                <a:spcPts val="600"/>
              </a:spcBef>
            </a:pPr>
            <a:r>
              <a:rPr sz="1200" b="0" i="1">
                <a:solidFill>
                  <a:srgbClr val="595959"/>
                </a:solidFill>
              </a:rPr>
              <a:t>Search: “respiratory system labelled diagram”</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What Does “Obstructive” Mean?</a:t>
            </a:r>
          </a:p>
        </p:txBody>
      </p:sp>
      <p:sp>
        <p:nvSpPr>
          <p:cNvPr id="3" name="Content Placeholder 2"/>
          <p:cNvSpPr>
            <a:spLocks noGrp="1"/>
          </p:cNvSpPr>
          <p:nvPr>
            <p:ph idx="1" sz="half"/>
          </p:nvPr>
        </p:nvSpPr>
        <p:spPr/>
        <p:txBody>
          <a:bodyPr/>
          <a:lstStyle/>
          <a:p>
            <a:pPr/>
            <a:r>
              <a:rPr sz="2600" b="1"/>
              <a:t>To obstruct</a:t>
            </a:r>
            <a:r>
              <a:rPr sz="2600"/>
              <a:t> = to block</a:t>
            </a:r>
          </a:p>
          <a:p>
            <a:pPr>
              <a:spcBef>
                <a:spcPts val="1400"/>
              </a:spcBef>
            </a:pPr>
            <a:r>
              <a:rPr sz="2600"/>
              <a:t>The airways become narrow</a:t>
            </a:r>
          </a:p>
          <a:p>
            <a:pPr>
              <a:spcBef>
                <a:spcPts val="1400"/>
              </a:spcBef>
            </a:pPr>
            <a:r>
              <a:rPr sz="2600"/>
              <a:t>Air gets in, but it is hard to get out</a:t>
            </a:r>
          </a:p>
          <a:p>
            <a:pPr>
              <a:spcBef>
                <a:spcPts val="1400"/>
              </a:spcBef>
            </a:pPr>
            <a:r>
              <a:rPr sz="2600"/>
              <a:t>Old air stays trapped in the lungs</a:t>
            </a:r>
          </a:p>
          <a:p>
            <a:pPr>
              <a:spcBef>
                <a:spcPts val="1400"/>
              </a:spcBef>
            </a:pPr>
            <a:r>
              <a:rPr sz="2600" b="1"/>
              <a:t>Try it: </a:t>
            </a:r>
            <a:r>
              <a:rPr sz="2600"/>
              <a:t>breathe out through a straw!</a:t>
            </a:r>
          </a:p>
        </p:txBody>
      </p:sp>
      <p:sp>
        <p:nvSpPr>
          <p:cNvPr id="4" name="IMAGE PLACEHOLDER"/>
          <p:cNvSpPr/>
          <p:nvPr/>
        </p:nvSpPr>
        <p:spPr>
          <a:xfrm>
            <a:off x="6172200" y="1783080"/>
            <a:ext cx="5181904" cy="4023360"/>
          </a:xfrm>
          <a:prstGeom prst="rect">
            <a:avLst/>
          </a:prstGeom>
          <a:solidFill>
            <a:srgbClr val="F2F2F2"/>
          </a:solidFill>
          <a:ln w="15875">
            <a:solidFill>
              <a:srgbClr val="7F7F7F"/>
            </a:solidFill>
            <a:prstDash val="dash"/>
          </a:ln>
        </p:spPr>
        <p:txBody>
          <a:bodyPr rtlCol="0" anchor="ctr" wrap="square"/>
          <a:lstStyle/>
          <a:p>
            <a:pPr algn="ctr"/>
            <a:r>
              <a:rPr sz="1600" b="1" i="0">
                <a:solidFill>
                  <a:srgbClr val="595959"/>
                </a:solidFill>
              </a:rPr>
              <a:t>[ IMAGE ]</a:t>
            </a:r>
          </a:p>
          <a:p>
            <a:pPr algn="ctr">
              <a:spcBef>
                <a:spcPts val="600"/>
              </a:spcBef>
            </a:pPr>
            <a:r>
              <a:rPr sz="1400" b="0" i="0">
                <a:solidFill>
                  <a:srgbClr val="595959"/>
                </a:solidFill>
              </a:rPr>
              <a:t>A person breathing out through a drinking straw, or a wide tube next to a narrow tube</a:t>
            </a:r>
          </a:p>
          <a:p>
            <a:pPr algn="ctr">
              <a:spcBef>
                <a:spcPts val="600"/>
              </a:spcBef>
            </a:pPr>
            <a:r>
              <a:rPr sz="1200" b="0" i="1">
                <a:solidFill>
                  <a:srgbClr val="595959"/>
                </a:solidFill>
              </a:rPr>
              <a:t>Search: “breathing through a straw / narrowed airway”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Meet Sara: An Asthma Story</a:t>
            </a:r>
          </a:p>
        </p:txBody>
      </p:sp>
      <p:sp>
        <p:nvSpPr>
          <p:cNvPr id="3" name="Content Placeholder 2"/>
          <p:cNvSpPr>
            <a:spLocks noGrp="1"/>
          </p:cNvSpPr>
          <p:nvPr>
            <p:ph idx="1" sz="half"/>
          </p:nvPr>
        </p:nvSpPr>
        <p:spPr/>
        <p:txBody>
          <a:bodyPr/>
          <a:lstStyle/>
          <a:p>
            <a:pPr/>
            <a:r>
              <a:rPr sz="2400"/>
              <a:t>Sara is 14 years old</a:t>
            </a:r>
          </a:p>
          <a:p>
            <a:pPr>
              <a:spcBef>
                <a:spcPts val="1200"/>
              </a:spcBef>
            </a:pPr>
            <a:r>
              <a:rPr sz="2400"/>
              <a:t>She loves playing football</a:t>
            </a:r>
          </a:p>
          <a:p>
            <a:pPr>
              <a:spcBef>
                <a:spcPts val="1200"/>
              </a:spcBef>
            </a:pPr>
            <a:r>
              <a:rPr sz="2400"/>
              <a:t>After running, she coughs and wheezes</a:t>
            </a:r>
          </a:p>
          <a:p>
            <a:pPr>
              <a:spcBef>
                <a:spcPts val="1200"/>
              </a:spcBef>
            </a:pPr>
            <a:r>
              <a:rPr sz="2400"/>
              <a:t>Her chest feels tight, often at night</a:t>
            </a:r>
          </a:p>
          <a:p>
            <a:pPr>
              <a:spcBef>
                <a:spcPts val="1200"/>
              </a:spcBef>
            </a:pPr>
            <a:r>
              <a:rPr sz="2400"/>
              <a:t>On other days, she feels completely fine</a:t>
            </a:r>
          </a:p>
          <a:p>
            <a:pPr>
              <a:spcBef>
                <a:spcPts val="1200"/>
              </a:spcBef>
            </a:pPr>
            <a:r>
              <a:rPr sz="2400" i="1"/>
              <a:t>What is happening in her lungs?</a:t>
            </a:r>
          </a:p>
        </p:txBody>
      </p:sp>
      <p:sp>
        <p:nvSpPr>
          <p:cNvPr id="4" name="IMAGE PLACEHOLDER"/>
          <p:cNvSpPr/>
          <p:nvPr/>
        </p:nvSpPr>
        <p:spPr>
          <a:xfrm>
            <a:off x="6172200" y="1783080"/>
            <a:ext cx="5181904" cy="4023360"/>
          </a:xfrm>
          <a:prstGeom prst="rect">
            <a:avLst/>
          </a:prstGeom>
          <a:solidFill>
            <a:srgbClr val="F2F2F2"/>
          </a:solidFill>
          <a:ln w="15875">
            <a:solidFill>
              <a:srgbClr val="7F7F7F"/>
            </a:solidFill>
            <a:prstDash val="dash"/>
          </a:ln>
        </p:spPr>
        <p:txBody>
          <a:bodyPr rtlCol="0" anchor="ctr" wrap="square"/>
          <a:lstStyle/>
          <a:p>
            <a:pPr algn="ctr"/>
            <a:r>
              <a:rPr sz="1600" b="1" i="0">
                <a:solidFill>
                  <a:srgbClr val="595959"/>
                </a:solidFill>
              </a:rPr>
              <a:t>[ IMAGE ]</a:t>
            </a:r>
          </a:p>
          <a:p>
            <a:pPr algn="ctr">
              <a:spcBef>
                <a:spcPts val="600"/>
              </a:spcBef>
            </a:pPr>
            <a:r>
              <a:rPr sz="1400" b="0" i="0">
                <a:solidFill>
                  <a:srgbClr val="595959"/>
                </a:solidFill>
              </a:rPr>
              <a:t>Teenage girl using an inhaler, ideally in a sports setting</a:t>
            </a:r>
          </a:p>
          <a:p>
            <a:pPr algn="ctr">
              <a:spcBef>
                <a:spcPts val="600"/>
              </a:spcBef>
            </a:pPr>
            <a:r>
              <a:rPr sz="1200" b="0" i="1">
                <a:solidFill>
                  <a:srgbClr val="595959"/>
                </a:solidFill>
              </a:rPr>
              <a:t>Search: “teenager using asthma inhaler”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What Is Asthma?</a:t>
            </a:r>
          </a:p>
        </p:txBody>
      </p:sp>
      <p:sp>
        <p:nvSpPr>
          <p:cNvPr id="3" name="TextBox 2"/>
          <p:cNvSpPr txBox="1"/>
          <p:nvPr/>
        </p:nvSpPr>
        <p:spPr>
          <a:xfrm>
            <a:off x="838504" y="1645920"/>
            <a:ext cx="10515600" cy="822960"/>
          </a:xfrm>
          <a:prstGeom prst="rect">
            <a:avLst/>
          </a:prstGeom>
          <a:noFill/>
        </p:spPr>
        <p:txBody>
          <a:bodyPr wrap="square" anchor="t">
            <a:spAutoFit/>
          </a:bodyPr>
          <a:lstStyle/>
          <a:p>
            <a:pPr algn="l"/>
            <a:r>
              <a:rPr sz="2200" b="1"/>
              <a:t>Asthma</a:t>
            </a:r>
            <a:r>
              <a:rPr sz="2200"/>
              <a:t> is a long-term disease of the airways. The airways are very sensitive and react to triggers. Three things happen:</a:t>
            </a:r>
          </a:p>
        </p:txBody>
      </p:sp>
      <p:sp>
        <p:nvSpPr>
          <p:cNvPr id="4" name="Rectangle 3"/>
          <p:cNvSpPr/>
          <p:nvPr/>
        </p:nvSpPr>
        <p:spPr>
          <a:xfrm>
            <a:off x="838504" y="2697480"/>
            <a:ext cx="2148840" cy="685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wrap="square"/>
          <a:lstStyle/>
          <a:p>
            <a:pPr algn="ctr"/>
            <a:r>
              <a:rPr sz="2200" b="1"/>
              <a:t>1. Swelling</a:t>
            </a:r>
          </a:p>
        </p:txBody>
      </p:sp>
      <p:sp>
        <p:nvSpPr>
          <p:cNvPr id="5" name="TextBox 4"/>
          <p:cNvSpPr txBox="1"/>
          <p:nvPr/>
        </p:nvSpPr>
        <p:spPr>
          <a:xfrm>
            <a:off x="838504" y="3474720"/>
            <a:ext cx="2148840" cy="1463040"/>
          </a:xfrm>
          <a:prstGeom prst="rect">
            <a:avLst/>
          </a:prstGeom>
          <a:noFill/>
        </p:spPr>
        <p:txBody>
          <a:bodyPr wrap="square" anchor="t">
            <a:spAutoFit/>
          </a:bodyPr>
          <a:lstStyle/>
          <a:p>
            <a:pPr algn="ctr"/>
            <a:r>
              <a:rPr sz="1800"/>
              <a:t>The airway wall becomes inflamed (red and swollen)</a:t>
            </a:r>
          </a:p>
        </p:txBody>
      </p:sp>
      <p:sp>
        <p:nvSpPr>
          <p:cNvPr id="6" name="Rectangle 5"/>
          <p:cNvSpPr/>
          <p:nvPr/>
        </p:nvSpPr>
        <p:spPr>
          <a:xfrm>
            <a:off x="3215944" y="2697480"/>
            <a:ext cx="2148840" cy="685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wrap="square"/>
          <a:lstStyle/>
          <a:p>
            <a:pPr algn="ctr"/>
            <a:r>
              <a:rPr sz="2200" b="1"/>
              <a:t>2. Tightening</a:t>
            </a:r>
          </a:p>
        </p:txBody>
      </p:sp>
      <p:sp>
        <p:nvSpPr>
          <p:cNvPr id="7" name="TextBox 6"/>
          <p:cNvSpPr txBox="1"/>
          <p:nvPr/>
        </p:nvSpPr>
        <p:spPr>
          <a:xfrm>
            <a:off x="3215944" y="3474720"/>
            <a:ext cx="2148840" cy="1463040"/>
          </a:xfrm>
          <a:prstGeom prst="rect">
            <a:avLst/>
          </a:prstGeom>
          <a:noFill/>
        </p:spPr>
        <p:txBody>
          <a:bodyPr wrap="square" anchor="t">
            <a:spAutoFit/>
          </a:bodyPr>
          <a:lstStyle/>
          <a:p>
            <a:pPr algn="ctr"/>
            <a:r>
              <a:rPr sz="1800"/>
              <a:t>The muscles around the airway squeeze (bronchospasm)</a:t>
            </a:r>
          </a:p>
        </p:txBody>
      </p:sp>
      <p:sp>
        <p:nvSpPr>
          <p:cNvPr id="8" name="Rectangle 7"/>
          <p:cNvSpPr/>
          <p:nvPr/>
        </p:nvSpPr>
        <p:spPr>
          <a:xfrm>
            <a:off x="5593384" y="2697480"/>
            <a:ext cx="2148840" cy="685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wrap="square"/>
          <a:lstStyle/>
          <a:p>
            <a:pPr algn="ctr"/>
            <a:r>
              <a:rPr sz="2200" b="1"/>
              <a:t>3. Mucus</a:t>
            </a:r>
          </a:p>
        </p:txBody>
      </p:sp>
      <p:sp>
        <p:nvSpPr>
          <p:cNvPr id="9" name="TextBox 8"/>
          <p:cNvSpPr txBox="1"/>
          <p:nvPr/>
        </p:nvSpPr>
        <p:spPr>
          <a:xfrm>
            <a:off x="5593384" y="3474720"/>
            <a:ext cx="2148840" cy="1463040"/>
          </a:xfrm>
          <a:prstGeom prst="rect">
            <a:avLst/>
          </a:prstGeom>
          <a:noFill/>
        </p:spPr>
        <p:txBody>
          <a:bodyPr wrap="square" anchor="t">
            <a:spAutoFit/>
          </a:bodyPr>
          <a:lstStyle/>
          <a:p>
            <a:pPr algn="ctr"/>
            <a:r>
              <a:rPr sz="1800"/>
              <a:t>Too much thick, sticky mucus blocks the tube</a:t>
            </a:r>
          </a:p>
        </p:txBody>
      </p:sp>
      <p:sp>
        <p:nvSpPr>
          <p:cNvPr id="10" name="IMAGE PLACEHOLDER"/>
          <p:cNvSpPr/>
          <p:nvPr/>
        </p:nvSpPr>
        <p:spPr>
          <a:xfrm>
            <a:off x="8092440" y="2697480"/>
            <a:ext cx="3261664" cy="2606040"/>
          </a:xfrm>
          <a:prstGeom prst="rect">
            <a:avLst/>
          </a:prstGeom>
          <a:solidFill>
            <a:srgbClr val="F2F2F2"/>
          </a:solidFill>
          <a:ln w="15875">
            <a:solidFill>
              <a:srgbClr val="7F7F7F"/>
            </a:solidFill>
            <a:prstDash val="dash"/>
          </a:ln>
        </p:spPr>
        <p:txBody>
          <a:bodyPr rtlCol="0" anchor="ctr" wrap="square"/>
          <a:lstStyle/>
          <a:p>
            <a:pPr algn="ctr"/>
            <a:r>
              <a:rPr sz="1600" b="1" i="0">
                <a:solidFill>
                  <a:srgbClr val="595959"/>
                </a:solidFill>
              </a:rPr>
              <a:t>[ IMAGE ]</a:t>
            </a:r>
          </a:p>
          <a:p>
            <a:pPr algn="ctr">
              <a:spcBef>
                <a:spcPts val="600"/>
              </a:spcBef>
            </a:pPr>
            <a:r>
              <a:rPr sz="1400" b="0" i="0">
                <a:solidFill>
                  <a:srgbClr val="595959"/>
                </a:solidFill>
              </a:rPr>
              <a:t>Cross-section of a normal airway next to an asthma airway (swelling, tight muscle, mucus)</a:t>
            </a:r>
          </a:p>
          <a:p>
            <a:pPr algn="ctr">
              <a:spcBef>
                <a:spcPts val="600"/>
              </a:spcBef>
            </a:pPr>
            <a:r>
              <a:rPr sz="1200" b="0" i="1">
                <a:solidFill>
                  <a:srgbClr val="595959"/>
                </a:solidFill>
              </a:rPr>
              <a:t>Search: “asthma airway normal vs inflamed cross section”</a:t>
            </a:r>
          </a:p>
        </p:txBody>
      </p:sp>
      <p:sp>
        <p:nvSpPr>
          <p:cNvPr id="11" name="TextBox 10"/>
          <p:cNvSpPr txBox="1"/>
          <p:nvPr/>
        </p:nvSpPr>
        <p:spPr>
          <a:xfrm>
            <a:off x="838504" y="5257800"/>
            <a:ext cx="6949440" cy="731520"/>
          </a:xfrm>
          <a:prstGeom prst="rect">
            <a:avLst/>
          </a:prstGeom>
          <a:noFill/>
        </p:spPr>
        <p:txBody>
          <a:bodyPr wrap="square" anchor="t">
            <a:spAutoFit/>
          </a:bodyPr>
          <a:lstStyle/>
          <a:p>
            <a:pPr algn="l"/>
            <a:r>
              <a:rPr sz="2000" b="1"/>
              <a:t>Good news: </a:t>
            </a:r>
            <a:r>
              <a:rPr sz="2000"/>
              <a:t>the narrowing is usually </a:t>
            </a:r>
            <a:r>
              <a:rPr sz="2000" b="1"/>
              <a:t>reversible</a:t>
            </a:r>
            <a:r>
              <a:rPr sz="2000"/>
              <a:t> – the airways can open again.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Common Asthma Triggers</a:t>
            </a:r>
          </a:p>
        </p:txBody>
      </p:sp>
      <p:sp>
        <p:nvSpPr>
          <p:cNvPr id="3" name="Content Placeholder 2"/>
          <p:cNvSpPr>
            <a:spLocks noGrp="1"/>
          </p:cNvSpPr>
          <p:nvPr>
            <p:ph idx="1" sz="half"/>
          </p:nvPr>
        </p:nvSpPr>
        <p:spPr/>
        <p:txBody>
          <a:bodyPr/>
          <a:lstStyle/>
          <a:p>
            <a:pPr marL="0" indent="0">
              <a:buNone/>
            </a:pPr>
            <a:r>
              <a:rPr sz="2400" b="1"/>
              <a:t>Trigger</a:t>
            </a:r>
            <a:r>
              <a:rPr sz="2400"/>
              <a:t> = something that starts the symptoms</a:t>
            </a:r>
          </a:p>
          <a:p>
            <a:pPr>
              <a:spcBef>
                <a:spcPts val="1200"/>
              </a:spcBef>
            </a:pPr>
            <a:r>
              <a:rPr sz="2400" b="1"/>
              <a:t>Allergens: </a:t>
            </a:r>
            <a:r>
              <a:rPr sz="2400"/>
              <a:t>pollen, dust mites, pet hair, mould</a:t>
            </a:r>
          </a:p>
          <a:p>
            <a:pPr>
              <a:spcBef>
                <a:spcPts val="1200"/>
              </a:spcBef>
            </a:pPr>
            <a:r>
              <a:rPr sz="2400"/>
              <a:t>Cigarette smoke and air pollution</a:t>
            </a:r>
          </a:p>
          <a:p>
            <a:pPr>
              <a:spcBef>
                <a:spcPts val="1200"/>
              </a:spcBef>
            </a:pPr>
            <a:r>
              <a:rPr sz="2400"/>
              <a:t>Cold air and exercise</a:t>
            </a:r>
          </a:p>
          <a:p>
            <a:pPr>
              <a:spcBef>
                <a:spcPts val="1200"/>
              </a:spcBef>
            </a:pPr>
            <a:r>
              <a:rPr sz="2400"/>
              <a:t>Colds and flu (viral infections)</a:t>
            </a:r>
          </a:p>
          <a:p>
            <a:pPr>
              <a:spcBef>
                <a:spcPts val="1200"/>
              </a:spcBef>
            </a:pPr>
            <a:r>
              <a:rPr sz="2400"/>
              <a:t>Strong emotions and stress</a:t>
            </a:r>
          </a:p>
        </p:txBody>
      </p:sp>
      <p:sp>
        <p:nvSpPr>
          <p:cNvPr id="4" name="IMAGE PLACEHOLDER"/>
          <p:cNvSpPr/>
          <p:nvPr/>
        </p:nvSpPr>
        <p:spPr>
          <a:xfrm>
            <a:off x="6172200" y="1783080"/>
            <a:ext cx="5181904" cy="4023360"/>
          </a:xfrm>
          <a:prstGeom prst="rect">
            <a:avLst/>
          </a:prstGeom>
          <a:solidFill>
            <a:srgbClr val="F2F2F2"/>
          </a:solidFill>
          <a:ln w="15875">
            <a:solidFill>
              <a:srgbClr val="7F7F7F"/>
            </a:solidFill>
            <a:prstDash val="dash"/>
          </a:ln>
        </p:spPr>
        <p:txBody>
          <a:bodyPr rtlCol="0" anchor="ctr" wrap="square"/>
          <a:lstStyle/>
          <a:p>
            <a:pPr algn="ctr"/>
            <a:r>
              <a:rPr sz="1600" b="1" i="0">
                <a:solidFill>
                  <a:srgbClr val="595959"/>
                </a:solidFill>
              </a:rPr>
              <a:t>[ IMAGE ]</a:t>
            </a:r>
          </a:p>
          <a:p>
            <a:pPr algn="ctr">
              <a:spcBef>
                <a:spcPts val="600"/>
              </a:spcBef>
            </a:pPr>
            <a:r>
              <a:rPr sz="1400" b="0" i="0">
                <a:solidFill>
                  <a:srgbClr val="595959"/>
                </a:solidFill>
              </a:rPr>
              <a:t>Common asthma triggers: pollen, cat, dust, smoke, cold air, running</a:t>
            </a:r>
          </a:p>
          <a:p>
            <a:pPr algn="ctr">
              <a:spcBef>
                <a:spcPts val="600"/>
              </a:spcBef>
            </a:pPr>
            <a:r>
              <a:rPr sz="1200" b="0" i="1">
                <a:solidFill>
                  <a:srgbClr val="595959"/>
                </a:solidFill>
              </a:rPr>
              <a:t>Search: “asthma triggers illustration”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Signs and Symptoms of Asthma</a:t>
            </a:r>
          </a:p>
        </p:txBody>
      </p:sp>
      <p:sp>
        <p:nvSpPr>
          <p:cNvPr id="3" name="Rectangle 2"/>
          <p:cNvSpPr/>
          <p:nvPr/>
        </p:nvSpPr>
        <p:spPr>
          <a:xfrm>
            <a:off x="838504" y="1783080"/>
            <a:ext cx="5120640" cy="155448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wrap="square"/>
          <a:lstStyle/>
          <a:p>
            <a:pPr algn="ctr"/>
            <a:r>
              <a:rPr sz="2400" b="1"/>
              <a:t>Wheezing</a:t>
            </a:r>
          </a:p>
          <a:p>
            <a:pPr algn="ctr"/>
            <a:r>
              <a:rPr sz="2400"/>
              <a:t>a whistling sound when breathing out</a:t>
            </a:r>
          </a:p>
        </p:txBody>
      </p:sp>
      <p:sp>
        <p:nvSpPr>
          <p:cNvPr id="4" name="Rectangle 3"/>
          <p:cNvSpPr/>
          <p:nvPr/>
        </p:nvSpPr>
        <p:spPr>
          <a:xfrm>
            <a:off x="6233464" y="1783080"/>
            <a:ext cx="5120640" cy="155448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wrap="square"/>
          <a:lstStyle/>
          <a:p>
            <a:pPr algn="ctr"/>
            <a:r>
              <a:rPr sz="2400" b="1"/>
              <a:t>Coughing</a:t>
            </a:r>
          </a:p>
          <a:p>
            <a:pPr algn="ctr"/>
            <a:r>
              <a:rPr sz="2400"/>
              <a:t>often at night or early in the morning</a:t>
            </a:r>
          </a:p>
        </p:txBody>
      </p:sp>
      <p:sp>
        <p:nvSpPr>
          <p:cNvPr id="5" name="Rectangle 4"/>
          <p:cNvSpPr/>
          <p:nvPr/>
        </p:nvSpPr>
        <p:spPr>
          <a:xfrm>
            <a:off x="838504" y="3611880"/>
            <a:ext cx="5120640" cy="155448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wrap="square"/>
          <a:lstStyle/>
          <a:p>
            <a:pPr algn="ctr"/>
            <a:r>
              <a:rPr sz="2400" b="1"/>
              <a:t>Chest tightness</a:t>
            </a:r>
          </a:p>
          <a:p>
            <a:pPr algn="ctr"/>
            <a:r>
              <a:rPr sz="2400"/>
              <a:t>like a band around the chest</a:t>
            </a:r>
          </a:p>
        </p:txBody>
      </p:sp>
      <p:sp>
        <p:nvSpPr>
          <p:cNvPr id="6" name="Rectangle 5"/>
          <p:cNvSpPr/>
          <p:nvPr/>
        </p:nvSpPr>
        <p:spPr>
          <a:xfrm>
            <a:off x="6233464" y="3611880"/>
            <a:ext cx="5120640" cy="155448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wrap="square"/>
          <a:lstStyle/>
          <a:p>
            <a:pPr algn="ctr"/>
            <a:r>
              <a:rPr sz="2400" b="1"/>
              <a:t>Shortness of breath</a:t>
            </a:r>
          </a:p>
          <a:p>
            <a:pPr algn="ctr"/>
            <a:r>
              <a:rPr sz="2400"/>
              <a:t>feeling you cannot get enough air</a:t>
            </a:r>
          </a:p>
        </p:txBody>
      </p:sp>
      <p:sp>
        <p:nvSpPr>
          <p:cNvPr id="7" name="TextBox 6"/>
          <p:cNvSpPr txBox="1"/>
          <p:nvPr/>
        </p:nvSpPr>
        <p:spPr>
          <a:xfrm>
            <a:off x="838504" y="5394960"/>
            <a:ext cx="10515600" cy="822960"/>
          </a:xfrm>
          <a:prstGeom prst="rect">
            <a:avLst/>
          </a:prstGeom>
          <a:noFill/>
        </p:spPr>
        <p:txBody>
          <a:bodyPr wrap="square" anchor="t">
            <a:spAutoFit/>
          </a:bodyPr>
          <a:lstStyle/>
          <a:p>
            <a:pPr algn="l"/>
            <a:r>
              <a:rPr sz="2200" b="1"/>
              <a:t>Key point: </a:t>
            </a:r>
            <a:r>
              <a:rPr sz="2200"/>
              <a:t>symptoms come and go. A sudden, severe attack can be an emergency.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Meet Mr. Brown: A COPD Story</a:t>
            </a:r>
          </a:p>
        </p:txBody>
      </p:sp>
      <p:sp>
        <p:nvSpPr>
          <p:cNvPr id="3" name="Content Placeholder 2"/>
          <p:cNvSpPr>
            <a:spLocks noGrp="1"/>
          </p:cNvSpPr>
          <p:nvPr>
            <p:ph idx="1" sz="half"/>
          </p:nvPr>
        </p:nvSpPr>
        <p:spPr/>
        <p:txBody>
          <a:bodyPr/>
          <a:lstStyle/>
          <a:p>
            <a:pPr/>
            <a:r>
              <a:rPr sz="2400"/>
              <a:t>Mr. Brown is 67 years old</a:t>
            </a:r>
          </a:p>
          <a:p>
            <a:pPr>
              <a:spcBef>
                <a:spcPts val="1200"/>
              </a:spcBef>
            </a:pPr>
            <a:r>
              <a:rPr sz="2400"/>
              <a:t>He smoked for 40 years</a:t>
            </a:r>
          </a:p>
          <a:p>
            <a:pPr>
              <a:spcBef>
                <a:spcPts val="1200"/>
              </a:spcBef>
            </a:pPr>
            <a:r>
              <a:rPr sz="2400"/>
              <a:t>He coughs up phlegm every morning</a:t>
            </a:r>
          </a:p>
          <a:p>
            <a:pPr>
              <a:spcBef>
                <a:spcPts val="1200"/>
              </a:spcBef>
            </a:pPr>
            <a:r>
              <a:rPr sz="2400"/>
              <a:t>Climbing stairs makes him breathless</a:t>
            </a:r>
          </a:p>
          <a:p>
            <a:pPr>
              <a:spcBef>
                <a:spcPts val="1200"/>
              </a:spcBef>
            </a:pPr>
            <a:r>
              <a:rPr sz="2400"/>
              <a:t>It has slowly got worse over the years</a:t>
            </a:r>
          </a:p>
          <a:p>
            <a:pPr>
              <a:spcBef>
                <a:spcPts val="1200"/>
              </a:spcBef>
            </a:pPr>
            <a:r>
              <a:rPr sz="2400" i="1"/>
              <a:t>What is happening in his lungs?</a:t>
            </a:r>
          </a:p>
        </p:txBody>
      </p:sp>
      <p:sp>
        <p:nvSpPr>
          <p:cNvPr id="4" name="IMAGE PLACEHOLDER"/>
          <p:cNvSpPr/>
          <p:nvPr/>
        </p:nvSpPr>
        <p:spPr>
          <a:xfrm>
            <a:off x="6172200" y="1783080"/>
            <a:ext cx="5181904" cy="4023360"/>
          </a:xfrm>
          <a:prstGeom prst="rect">
            <a:avLst/>
          </a:prstGeom>
          <a:solidFill>
            <a:srgbClr val="F2F2F2"/>
          </a:solidFill>
          <a:ln w="15875">
            <a:solidFill>
              <a:srgbClr val="7F7F7F"/>
            </a:solidFill>
            <a:prstDash val="dash"/>
          </a:ln>
        </p:spPr>
        <p:txBody>
          <a:bodyPr rtlCol="0" anchor="ctr" wrap="square"/>
          <a:lstStyle/>
          <a:p>
            <a:pPr algn="ctr"/>
            <a:r>
              <a:rPr sz="1600" b="1" i="0">
                <a:solidFill>
                  <a:srgbClr val="595959"/>
                </a:solidFill>
              </a:rPr>
              <a:t>[ IMAGE ]</a:t>
            </a:r>
          </a:p>
          <a:p>
            <a:pPr algn="ctr">
              <a:spcBef>
                <a:spcPts val="600"/>
              </a:spcBef>
            </a:pPr>
            <a:r>
              <a:rPr sz="1400" b="0" i="0">
                <a:solidFill>
                  <a:srgbClr val="595959"/>
                </a:solidFill>
              </a:rPr>
              <a:t>Older man out of breath on the stairs</a:t>
            </a:r>
          </a:p>
          <a:p>
            <a:pPr algn="ctr">
              <a:spcBef>
                <a:spcPts val="600"/>
              </a:spcBef>
            </a:pPr>
            <a:r>
              <a:rPr sz="1200" b="0" i="1">
                <a:solidFill>
                  <a:srgbClr val="595959"/>
                </a:solidFill>
              </a:rPr>
              <a:t>Search: “older man short of breath stairs”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What Is COPD?</a:t>
            </a:r>
          </a:p>
        </p:txBody>
      </p:sp>
      <p:sp>
        <p:nvSpPr>
          <p:cNvPr id="3" name="Rectangle 2"/>
          <p:cNvSpPr/>
          <p:nvPr/>
        </p:nvSpPr>
        <p:spPr>
          <a:xfrm>
            <a:off x="838504" y="1783080"/>
            <a:ext cx="777240" cy="7772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wrap="square"/>
          <a:lstStyle/>
          <a:p>
            <a:pPr algn="ctr"/>
            <a:r>
              <a:rPr sz="3600" b="1"/>
              <a:t>C</a:t>
            </a:r>
          </a:p>
        </p:txBody>
      </p:sp>
      <p:sp>
        <p:nvSpPr>
          <p:cNvPr id="4" name="TextBox 3"/>
          <p:cNvSpPr txBox="1"/>
          <p:nvPr/>
        </p:nvSpPr>
        <p:spPr>
          <a:xfrm>
            <a:off x="1798624" y="1783080"/>
            <a:ext cx="4206240" cy="777240"/>
          </a:xfrm>
          <a:prstGeom prst="rect">
            <a:avLst/>
          </a:prstGeom>
          <a:noFill/>
        </p:spPr>
        <p:txBody>
          <a:bodyPr wrap="square" anchor="ctr">
            <a:spAutoFit/>
          </a:bodyPr>
          <a:lstStyle/>
          <a:p>
            <a:pPr algn="l"/>
            <a:r>
              <a:rPr sz="2400" b="1"/>
              <a:t>Chronic</a:t>
            </a:r>
            <a:r>
              <a:rPr sz="2400"/>
              <a:t> = long-lasting</a:t>
            </a:r>
          </a:p>
        </p:txBody>
      </p:sp>
      <p:sp>
        <p:nvSpPr>
          <p:cNvPr id="5" name="Rectangle 4"/>
          <p:cNvSpPr/>
          <p:nvPr/>
        </p:nvSpPr>
        <p:spPr>
          <a:xfrm>
            <a:off x="838504" y="2807208"/>
            <a:ext cx="777240" cy="7772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wrap="square"/>
          <a:lstStyle/>
          <a:p>
            <a:pPr algn="ctr"/>
            <a:r>
              <a:rPr sz="3600" b="1"/>
              <a:t>O</a:t>
            </a:r>
          </a:p>
        </p:txBody>
      </p:sp>
      <p:sp>
        <p:nvSpPr>
          <p:cNvPr id="6" name="TextBox 5"/>
          <p:cNvSpPr txBox="1"/>
          <p:nvPr/>
        </p:nvSpPr>
        <p:spPr>
          <a:xfrm>
            <a:off x="1798624" y="2807208"/>
            <a:ext cx="4206240" cy="777240"/>
          </a:xfrm>
          <a:prstGeom prst="rect">
            <a:avLst/>
          </a:prstGeom>
          <a:noFill/>
        </p:spPr>
        <p:txBody>
          <a:bodyPr wrap="square" anchor="ctr">
            <a:spAutoFit/>
          </a:bodyPr>
          <a:lstStyle/>
          <a:p>
            <a:pPr algn="l"/>
            <a:r>
              <a:rPr sz="2400" b="1"/>
              <a:t>Obstructive</a:t>
            </a:r>
            <a:r>
              <a:rPr sz="2400"/>
              <a:t> = blocking the airflow</a:t>
            </a:r>
          </a:p>
        </p:txBody>
      </p:sp>
      <p:sp>
        <p:nvSpPr>
          <p:cNvPr id="7" name="Rectangle 6"/>
          <p:cNvSpPr/>
          <p:nvPr/>
        </p:nvSpPr>
        <p:spPr>
          <a:xfrm>
            <a:off x="838504" y="3831336"/>
            <a:ext cx="777240" cy="7772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wrap="square"/>
          <a:lstStyle/>
          <a:p>
            <a:pPr algn="ctr"/>
            <a:r>
              <a:rPr sz="3600" b="1"/>
              <a:t>P</a:t>
            </a:r>
          </a:p>
        </p:txBody>
      </p:sp>
      <p:sp>
        <p:nvSpPr>
          <p:cNvPr id="8" name="TextBox 7"/>
          <p:cNvSpPr txBox="1"/>
          <p:nvPr/>
        </p:nvSpPr>
        <p:spPr>
          <a:xfrm>
            <a:off x="1798624" y="3831336"/>
            <a:ext cx="4206240" cy="777240"/>
          </a:xfrm>
          <a:prstGeom prst="rect">
            <a:avLst/>
          </a:prstGeom>
          <a:noFill/>
        </p:spPr>
        <p:txBody>
          <a:bodyPr wrap="square" anchor="ctr">
            <a:spAutoFit/>
          </a:bodyPr>
          <a:lstStyle/>
          <a:p>
            <a:pPr algn="l"/>
            <a:r>
              <a:rPr sz="2400" b="1"/>
              <a:t>Pulmonary</a:t>
            </a:r>
            <a:r>
              <a:rPr sz="2400"/>
              <a:t> = of the lungs</a:t>
            </a:r>
          </a:p>
        </p:txBody>
      </p:sp>
      <p:sp>
        <p:nvSpPr>
          <p:cNvPr id="9" name="Rectangle 8"/>
          <p:cNvSpPr/>
          <p:nvPr/>
        </p:nvSpPr>
        <p:spPr>
          <a:xfrm>
            <a:off x="838504" y="4855464"/>
            <a:ext cx="777240" cy="7772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wrap="square"/>
          <a:lstStyle/>
          <a:p>
            <a:pPr algn="ctr"/>
            <a:r>
              <a:rPr sz="3600" b="1"/>
              <a:t>D</a:t>
            </a:r>
          </a:p>
        </p:txBody>
      </p:sp>
      <p:sp>
        <p:nvSpPr>
          <p:cNvPr id="10" name="TextBox 9"/>
          <p:cNvSpPr txBox="1"/>
          <p:nvPr/>
        </p:nvSpPr>
        <p:spPr>
          <a:xfrm>
            <a:off x="1798624" y="4855464"/>
            <a:ext cx="4206240" cy="777240"/>
          </a:xfrm>
          <a:prstGeom prst="rect">
            <a:avLst/>
          </a:prstGeom>
          <a:noFill/>
        </p:spPr>
        <p:txBody>
          <a:bodyPr wrap="square" anchor="ctr">
            <a:spAutoFit/>
          </a:bodyPr>
          <a:lstStyle/>
          <a:p>
            <a:pPr algn="l"/>
            <a:r>
              <a:rPr sz="2400" b="1"/>
              <a:t>Disease</a:t>
            </a:r>
          </a:p>
        </p:txBody>
      </p:sp>
      <p:sp>
        <p:nvSpPr>
          <p:cNvPr id="11" name="TextBox 10"/>
          <p:cNvSpPr txBox="1"/>
          <p:nvPr/>
        </p:nvSpPr>
        <p:spPr>
          <a:xfrm>
            <a:off x="6172200" y="1783080"/>
            <a:ext cx="5181904" cy="548640"/>
          </a:xfrm>
          <a:prstGeom prst="rect">
            <a:avLst/>
          </a:prstGeom>
          <a:noFill/>
        </p:spPr>
        <p:txBody>
          <a:bodyPr wrap="square" anchor="t">
            <a:spAutoFit/>
          </a:bodyPr>
          <a:lstStyle/>
          <a:p>
            <a:pPr algn="l"/>
            <a:r>
              <a:rPr sz="2400" b="1"/>
              <a:t>Key facts</a:t>
            </a:r>
          </a:p>
        </p:txBody>
      </p:sp>
      <p:sp>
        <p:nvSpPr>
          <p:cNvPr id="12" name="TextBox 11"/>
          <p:cNvSpPr txBox="1"/>
          <p:nvPr/>
        </p:nvSpPr>
        <p:spPr>
          <a:xfrm>
            <a:off x="6172200" y="2377440"/>
            <a:ext cx="5181904" cy="3200400"/>
          </a:xfrm>
          <a:prstGeom prst="rect">
            <a:avLst/>
          </a:prstGeom>
          <a:noFill/>
        </p:spPr>
        <p:txBody>
          <a:bodyPr wrap="square" anchor="t">
            <a:spAutoFit/>
          </a:bodyPr>
          <a:lstStyle/>
          <a:p>
            <a:pPr algn="l" marL="223520" indent="-223520">
              <a:buFont typeface="Arial" panose="020B0604020202020204" pitchFamily="34" charset="0"/>
              <a:buChar char="•"/>
            </a:pPr>
            <a:r>
              <a:rPr sz="2200"/>
              <a:t>Airflow out of the lungs is limited</a:t>
            </a:r>
          </a:p>
          <a:p>
            <a:pPr algn="l" marL="223520" indent="-223520">
              <a:spcBef>
                <a:spcPts val="1200"/>
              </a:spcBef>
              <a:buFont typeface="Arial" panose="020B0604020202020204" pitchFamily="34" charset="0"/>
              <a:buChar char="•"/>
            </a:pPr>
            <a:r>
              <a:rPr sz="2200"/>
              <a:t>The blockage is </a:t>
            </a:r>
            <a:r>
              <a:rPr sz="2200" b="1"/>
              <a:t>not fully reversible</a:t>
            </a:r>
          </a:p>
          <a:p>
            <a:pPr algn="l" marL="223520" indent="-223520">
              <a:spcBef>
                <a:spcPts val="1200"/>
              </a:spcBef>
              <a:buFont typeface="Arial" panose="020B0604020202020204" pitchFamily="34" charset="0"/>
              <a:buChar char="•"/>
            </a:pPr>
            <a:r>
              <a:rPr sz="2200"/>
              <a:t>It slowly gets worse (</a:t>
            </a:r>
            <a:r>
              <a:rPr sz="2200" b="1"/>
              <a:t>progressive</a:t>
            </a:r>
            <a:r>
              <a:rPr sz="2200"/>
              <a:t>)</a:t>
            </a:r>
          </a:p>
          <a:p>
            <a:pPr algn="l" marL="223520" indent="-223520">
              <a:spcBef>
                <a:spcPts val="1200"/>
              </a:spcBef>
              <a:buFont typeface="Arial" panose="020B0604020202020204" pitchFamily="34" charset="0"/>
              <a:buChar char="•"/>
            </a:pPr>
            <a:r>
              <a:rPr sz="2200"/>
              <a:t>It usually starts after age 40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Two Main Types of COPD</a:t>
            </a:r>
          </a:p>
        </p:txBody>
      </p:sp>
      <p:sp>
        <p:nvSpPr>
          <p:cNvPr id="3" name="Text Placeholder 2"/>
          <p:cNvSpPr>
            <a:spLocks noGrp="1"/>
          </p:cNvSpPr>
          <p:nvPr>
            <p:ph type="body" idx="1"/>
          </p:nvPr>
        </p:nvSpPr>
        <p:spPr/>
        <p:txBody>
          <a:bodyPr/>
          <a:lstStyle/>
          <a:p>
            <a:r>
              <a:t>Chronic Bronchitis</a:t>
            </a:r>
          </a:p>
        </p:txBody>
      </p:sp>
      <p:sp>
        <p:nvSpPr>
          <p:cNvPr id="4" name="Content Placeholder 3"/>
          <p:cNvSpPr>
            <a:spLocks noGrp="1"/>
          </p:cNvSpPr>
          <p:nvPr>
            <p:ph idx="2" sz="half"/>
          </p:nvPr>
        </p:nvSpPr>
        <p:spPr>
          <a:xfrm>
            <a:off x="839788" y="2514600"/>
            <a:ext cx="5157787" cy="1463040"/>
          </a:xfrm>
        </p:spPr>
        <p:txBody>
          <a:bodyPr/>
          <a:lstStyle/>
          <a:p>
            <a:pPr/>
            <a:r>
              <a:rPr sz="2000"/>
              <a:t>Problem in the </a:t>
            </a:r>
            <a:r>
              <a:rPr sz="2000" b="1"/>
              <a:t>bronchi</a:t>
            </a:r>
            <a:r>
              <a:rPr sz="2000"/>
              <a:t> (tubes)</a:t>
            </a:r>
          </a:p>
          <a:p>
            <a:pPr>
              <a:spcBef>
                <a:spcPts val="600"/>
              </a:spcBef>
            </a:pPr>
            <a:r>
              <a:rPr sz="2000"/>
              <a:t>Swelling and too much mucus</a:t>
            </a:r>
          </a:p>
          <a:p>
            <a:pPr>
              <a:spcBef>
                <a:spcPts val="600"/>
              </a:spcBef>
            </a:pPr>
            <a:r>
              <a:rPr sz="2000"/>
              <a:t>Long-term cough with phlegm</a:t>
            </a:r>
          </a:p>
        </p:txBody>
      </p:sp>
      <p:sp>
        <p:nvSpPr>
          <p:cNvPr id="5" name="Text Placeholder 4"/>
          <p:cNvSpPr>
            <a:spLocks noGrp="1"/>
          </p:cNvSpPr>
          <p:nvPr>
            <p:ph type="body" idx="3" sz="quarter"/>
          </p:nvPr>
        </p:nvSpPr>
        <p:spPr/>
        <p:txBody>
          <a:bodyPr/>
          <a:lstStyle/>
          <a:p>
            <a:r>
              <a:t>Emphysema</a:t>
            </a:r>
          </a:p>
        </p:txBody>
      </p:sp>
      <p:sp>
        <p:nvSpPr>
          <p:cNvPr id="6" name="Content Placeholder 5"/>
          <p:cNvSpPr>
            <a:spLocks noGrp="1"/>
          </p:cNvSpPr>
          <p:nvPr>
            <p:ph idx="4" sz="quarter"/>
          </p:nvPr>
        </p:nvSpPr>
        <p:spPr>
          <a:xfrm>
            <a:off x="6172200" y="2514600"/>
            <a:ext cx="5183188" cy="1463040"/>
          </a:xfrm>
        </p:spPr>
        <p:txBody>
          <a:bodyPr/>
          <a:lstStyle/>
          <a:p>
            <a:pPr/>
            <a:r>
              <a:rPr sz="2000"/>
              <a:t>Problem in the </a:t>
            </a:r>
            <a:r>
              <a:rPr sz="2000" b="1"/>
              <a:t>alveoli</a:t>
            </a:r>
            <a:r>
              <a:rPr sz="2000"/>
              <a:t> (air sacs)</a:t>
            </a:r>
          </a:p>
          <a:p>
            <a:pPr>
              <a:spcBef>
                <a:spcPts val="600"/>
              </a:spcBef>
            </a:pPr>
            <a:r>
              <a:rPr sz="2000"/>
              <a:t>The walls break down and lose their stretch</a:t>
            </a:r>
          </a:p>
          <a:p>
            <a:pPr>
              <a:spcBef>
                <a:spcPts val="600"/>
              </a:spcBef>
            </a:pPr>
            <a:r>
              <a:rPr sz="2000"/>
              <a:t>Air gets trapped in the lungs</a:t>
            </a:r>
          </a:p>
        </p:txBody>
      </p:sp>
      <p:sp>
        <p:nvSpPr>
          <p:cNvPr id="7" name="IMAGE PLACEHOLDER"/>
          <p:cNvSpPr/>
          <p:nvPr/>
        </p:nvSpPr>
        <p:spPr>
          <a:xfrm>
            <a:off x="839419" y="4069080"/>
            <a:ext cx="5157216" cy="1600200"/>
          </a:xfrm>
          <a:prstGeom prst="rect">
            <a:avLst/>
          </a:prstGeom>
          <a:solidFill>
            <a:srgbClr val="F2F2F2"/>
          </a:solidFill>
          <a:ln w="15875">
            <a:solidFill>
              <a:srgbClr val="7F7F7F"/>
            </a:solidFill>
            <a:prstDash val="dash"/>
          </a:ln>
        </p:spPr>
        <p:txBody>
          <a:bodyPr rtlCol="0" anchor="ctr" wrap="square"/>
          <a:lstStyle/>
          <a:p>
            <a:pPr algn="ctr"/>
            <a:r>
              <a:rPr sz="1600" b="1" i="0">
                <a:solidFill>
                  <a:srgbClr val="595959"/>
                </a:solidFill>
              </a:rPr>
              <a:t>[ IMAGE ]</a:t>
            </a:r>
          </a:p>
          <a:p>
            <a:pPr algn="ctr">
              <a:spcBef>
                <a:spcPts val="600"/>
              </a:spcBef>
            </a:pPr>
            <a:r>
              <a:rPr sz="1400" b="0" i="0">
                <a:solidFill>
                  <a:srgbClr val="595959"/>
                </a:solidFill>
              </a:rPr>
              <a:t>Inflamed bronchus with too much mucus (chronic bronchitis)</a:t>
            </a:r>
          </a:p>
          <a:p>
            <a:pPr algn="ctr">
              <a:spcBef>
                <a:spcPts val="600"/>
              </a:spcBef>
            </a:pPr>
            <a:r>
              <a:rPr sz="1200" b="0" i="1">
                <a:solidFill>
                  <a:srgbClr val="595959"/>
                </a:solidFill>
              </a:rPr>
              <a:t>Search: “chronic bronchitis bronchus mucus diagram”</a:t>
            </a:r>
          </a:p>
        </p:txBody>
      </p:sp>
      <p:sp>
        <p:nvSpPr>
          <p:cNvPr id="8" name="IMAGE PLACEHOLDER"/>
          <p:cNvSpPr/>
          <p:nvPr/>
        </p:nvSpPr>
        <p:spPr>
          <a:xfrm>
            <a:off x="6172200" y="4069080"/>
            <a:ext cx="5184648" cy="1600200"/>
          </a:xfrm>
          <a:prstGeom prst="rect">
            <a:avLst/>
          </a:prstGeom>
          <a:solidFill>
            <a:srgbClr val="F2F2F2"/>
          </a:solidFill>
          <a:ln w="15875">
            <a:solidFill>
              <a:srgbClr val="7F7F7F"/>
            </a:solidFill>
            <a:prstDash val="dash"/>
          </a:ln>
        </p:spPr>
        <p:txBody>
          <a:bodyPr rtlCol="0" anchor="ctr" wrap="square"/>
          <a:lstStyle/>
          <a:p>
            <a:pPr algn="ctr"/>
            <a:r>
              <a:rPr sz="1600" b="1" i="0">
                <a:solidFill>
                  <a:srgbClr val="595959"/>
                </a:solidFill>
              </a:rPr>
              <a:t>[ IMAGE ]</a:t>
            </a:r>
          </a:p>
          <a:p>
            <a:pPr algn="ctr">
              <a:spcBef>
                <a:spcPts val="600"/>
              </a:spcBef>
            </a:pPr>
            <a:r>
              <a:rPr sz="1400" b="0" i="0">
                <a:solidFill>
                  <a:srgbClr val="595959"/>
                </a:solidFill>
              </a:rPr>
              <a:t>Healthy alveoli next to damaged alveoli (emphysema)</a:t>
            </a:r>
          </a:p>
          <a:p>
            <a:pPr algn="ctr">
              <a:spcBef>
                <a:spcPts val="600"/>
              </a:spcBef>
            </a:pPr>
            <a:r>
              <a:rPr sz="1200" b="0" i="1">
                <a:solidFill>
                  <a:srgbClr val="595959"/>
                </a:solidFill>
              </a:rPr>
              <a:t>Search: “emphysema alveoli normal vs damaged”</a:t>
            </a:r>
          </a:p>
        </p:txBody>
      </p:sp>
      <p:sp>
        <p:nvSpPr>
          <p:cNvPr id="9" name="TextBox 8"/>
          <p:cNvSpPr txBox="1"/>
          <p:nvPr/>
        </p:nvSpPr>
        <p:spPr>
          <a:xfrm>
            <a:off x="838504" y="5760720"/>
            <a:ext cx="10515600" cy="457200"/>
          </a:xfrm>
          <a:prstGeom prst="rect">
            <a:avLst/>
          </a:prstGeom>
          <a:noFill/>
        </p:spPr>
        <p:txBody>
          <a:bodyPr wrap="square" anchor="t">
            <a:spAutoFit/>
          </a:bodyPr>
          <a:lstStyle/>
          <a:p>
            <a:pPr algn="ctr"/>
            <a:r>
              <a:rPr sz="1800" i="1"/>
              <a:t>Most patients have a mix of both.</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What Causes COPD?</a:t>
            </a:r>
          </a:p>
        </p:txBody>
      </p:sp>
      <p:sp>
        <p:nvSpPr>
          <p:cNvPr id="3" name="Rectangle 2"/>
          <p:cNvSpPr/>
          <p:nvPr/>
        </p:nvSpPr>
        <p:spPr>
          <a:xfrm>
            <a:off x="838504" y="1783080"/>
            <a:ext cx="4480560" cy="11887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wrap="square"/>
          <a:lstStyle/>
          <a:p>
            <a:pPr algn="ctr"/>
            <a:r>
              <a:rPr sz="2600" b="1"/>
              <a:t>Smoking is the No. 1 cause</a:t>
            </a:r>
          </a:p>
        </p:txBody>
      </p:sp>
      <p:sp>
        <p:nvSpPr>
          <p:cNvPr id="4" name="TextBox 3"/>
          <p:cNvSpPr txBox="1"/>
          <p:nvPr/>
        </p:nvSpPr>
        <p:spPr>
          <a:xfrm>
            <a:off x="838504" y="3154680"/>
            <a:ext cx="4480560" cy="914400"/>
          </a:xfrm>
          <a:prstGeom prst="rect">
            <a:avLst/>
          </a:prstGeom>
          <a:noFill/>
        </p:spPr>
        <p:txBody>
          <a:bodyPr wrap="square" anchor="t">
            <a:spAutoFit/>
          </a:bodyPr>
          <a:lstStyle/>
          <a:p>
            <a:pPr algn="ctr"/>
            <a:r>
              <a:rPr sz="5400" b="1"/>
              <a:t>70%+</a:t>
            </a:r>
          </a:p>
        </p:txBody>
      </p:sp>
      <p:sp>
        <p:nvSpPr>
          <p:cNvPr id="5" name="TextBox 4"/>
          <p:cNvSpPr txBox="1"/>
          <p:nvPr/>
        </p:nvSpPr>
        <p:spPr>
          <a:xfrm>
            <a:off x="838504" y="4069080"/>
            <a:ext cx="4480560" cy="1097280"/>
          </a:xfrm>
          <a:prstGeom prst="rect">
            <a:avLst/>
          </a:prstGeom>
          <a:noFill/>
        </p:spPr>
        <p:txBody>
          <a:bodyPr wrap="square" anchor="t">
            <a:spAutoFit/>
          </a:bodyPr>
          <a:lstStyle/>
          <a:p>
            <a:pPr algn="ctr"/>
            <a:r>
              <a:rPr sz="1800"/>
              <a:t>of COPD cases in high-income countries are linked to smoking</a:t>
            </a:r>
          </a:p>
        </p:txBody>
      </p:sp>
      <p:sp>
        <p:nvSpPr>
          <p:cNvPr id="6" name="TextBox 5"/>
          <p:cNvSpPr txBox="1"/>
          <p:nvPr/>
        </p:nvSpPr>
        <p:spPr>
          <a:xfrm>
            <a:off x="838504" y="5166360"/>
            <a:ext cx="4480560" cy="365760"/>
          </a:xfrm>
          <a:prstGeom prst="rect">
            <a:avLst/>
          </a:prstGeom>
          <a:noFill/>
        </p:spPr>
        <p:txBody>
          <a:bodyPr wrap="square" anchor="t">
            <a:spAutoFit/>
          </a:bodyPr>
          <a:lstStyle/>
          <a:p>
            <a:pPr algn="ctr"/>
            <a:r>
              <a:rPr sz="1200">
                <a:solidFill>
                  <a:srgbClr val="595959"/>
                </a:solidFill>
              </a:rPr>
              <a:t>Source: World Health Organization (WHO)</a:t>
            </a:r>
          </a:p>
        </p:txBody>
      </p:sp>
      <p:sp>
        <p:nvSpPr>
          <p:cNvPr id="7" name="TextBox 6"/>
          <p:cNvSpPr txBox="1"/>
          <p:nvPr/>
        </p:nvSpPr>
        <p:spPr>
          <a:xfrm>
            <a:off x="5852160" y="1783080"/>
            <a:ext cx="5486400" cy="548640"/>
          </a:xfrm>
          <a:prstGeom prst="rect">
            <a:avLst/>
          </a:prstGeom>
          <a:noFill/>
        </p:spPr>
        <p:txBody>
          <a:bodyPr wrap="square" anchor="t">
            <a:spAutoFit/>
          </a:bodyPr>
          <a:lstStyle/>
          <a:p>
            <a:pPr algn="l"/>
            <a:r>
              <a:rPr sz="2400" b="1"/>
              <a:t>Other causes</a:t>
            </a:r>
          </a:p>
        </p:txBody>
      </p:sp>
      <p:sp>
        <p:nvSpPr>
          <p:cNvPr id="8" name="TextBox 7"/>
          <p:cNvSpPr txBox="1"/>
          <p:nvPr/>
        </p:nvSpPr>
        <p:spPr>
          <a:xfrm>
            <a:off x="5852160" y="2377440"/>
            <a:ext cx="5486400" cy="3566160"/>
          </a:xfrm>
          <a:prstGeom prst="rect">
            <a:avLst/>
          </a:prstGeom>
          <a:noFill/>
        </p:spPr>
        <p:txBody>
          <a:bodyPr wrap="square" anchor="t">
            <a:spAutoFit/>
          </a:bodyPr>
          <a:lstStyle/>
          <a:p>
            <a:pPr algn="l" marL="203200" indent="-203200">
              <a:buFont typeface="Arial" panose="020B0604020202020204" pitchFamily="34" charset="0"/>
              <a:buChar char="•"/>
            </a:pPr>
            <a:r>
              <a:rPr sz="2000"/>
              <a:t>Second-hand smoke</a:t>
            </a:r>
          </a:p>
          <a:p>
            <a:pPr algn="l" marL="203200" indent="-203200">
              <a:spcBef>
                <a:spcPts val="800"/>
              </a:spcBef>
              <a:buFont typeface="Arial" panose="020B0604020202020204" pitchFamily="34" charset="0"/>
              <a:buChar char="•"/>
            </a:pPr>
            <a:r>
              <a:rPr sz="2000"/>
              <a:t>Smoke from cooking and heating fuels at home (wood, coal)</a:t>
            </a:r>
          </a:p>
          <a:p>
            <a:pPr algn="l" marL="203200" indent="-203200">
              <a:spcBef>
                <a:spcPts val="800"/>
              </a:spcBef>
              <a:buFont typeface="Arial" panose="020B0604020202020204" pitchFamily="34" charset="0"/>
              <a:buChar char="•"/>
            </a:pPr>
            <a:r>
              <a:rPr sz="2000"/>
              <a:t>Outdoor air pollution</a:t>
            </a:r>
          </a:p>
          <a:p>
            <a:pPr algn="l" marL="203200" indent="-203200">
              <a:spcBef>
                <a:spcPts val="800"/>
              </a:spcBef>
              <a:buFont typeface="Arial" panose="020B0604020202020204" pitchFamily="34" charset="0"/>
              <a:buChar char="•"/>
            </a:pPr>
            <a:r>
              <a:rPr sz="2000"/>
              <a:t>Dust and chemicals at work</a:t>
            </a:r>
          </a:p>
          <a:p>
            <a:pPr algn="l" marL="203200" indent="-203200">
              <a:spcBef>
                <a:spcPts val="800"/>
              </a:spcBef>
              <a:buFont typeface="Arial" panose="020B0604020202020204" pitchFamily="34" charset="0"/>
              <a:buChar char="•"/>
            </a:pPr>
            <a:r>
              <a:rPr sz="2000"/>
              <a:t>Frequent lung infections in childhood</a:t>
            </a:r>
          </a:p>
          <a:p>
            <a:pPr algn="l" marL="203200" indent="-203200">
              <a:spcBef>
                <a:spcPts val="800"/>
              </a:spcBef>
              <a:buFont typeface="Arial" panose="020B0604020202020204" pitchFamily="34" charset="0"/>
              <a:buChar char="•"/>
            </a:pPr>
            <a:r>
              <a:rPr sz="2000"/>
              <a:t>Rare: alpha-1 antitrypsin deficiency (genetic)</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Symptoms of COPD</a:t>
            </a:r>
          </a:p>
        </p:txBody>
      </p:sp>
      <p:sp>
        <p:nvSpPr>
          <p:cNvPr id="3" name="TextBox 2"/>
          <p:cNvSpPr txBox="1"/>
          <p:nvPr/>
        </p:nvSpPr>
        <p:spPr>
          <a:xfrm>
            <a:off x="838504" y="1783080"/>
            <a:ext cx="4846320" cy="4114800"/>
          </a:xfrm>
          <a:prstGeom prst="rect">
            <a:avLst/>
          </a:prstGeom>
          <a:noFill/>
        </p:spPr>
        <p:txBody>
          <a:bodyPr wrap="square" anchor="t">
            <a:spAutoFit/>
          </a:bodyPr>
          <a:lstStyle/>
          <a:p>
            <a:pPr algn="l" marL="243840" indent="-243840">
              <a:buFont typeface="Arial" panose="020B0604020202020204" pitchFamily="34" charset="0"/>
              <a:buChar char="•"/>
            </a:pPr>
            <a:r>
              <a:rPr sz="2400" b="1"/>
              <a:t>Shortness of breath</a:t>
            </a:r>
            <a:r>
              <a:rPr sz="2400"/>
              <a:t> (dyspnea)</a:t>
            </a:r>
          </a:p>
          <a:p>
            <a:pPr algn="l" marL="243840" indent="-243840">
              <a:spcBef>
                <a:spcPts val="1400"/>
              </a:spcBef>
              <a:buFont typeface="Arial" panose="020B0604020202020204" pitchFamily="34" charset="0"/>
              <a:buChar char="•"/>
            </a:pPr>
            <a:r>
              <a:rPr sz="2400" b="1"/>
              <a:t>Chronic cough</a:t>
            </a:r>
          </a:p>
          <a:p>
            <a:pPr algn="l" marL="243840" indent="-243840">
              <a:spcBef>
                <a:spcPts val="1400"/>
              </a:spcBef>
              <a:buFont typeface="Arial" panose="020B0604020202020204" pitchFamily="34" charset="0"/>
              <a:buChar char="•"/>
            </a:pPr>
            <a:r>
              <a:rPr sz="2400" b="1"/>
              <a:t>Sputum</a:t>
            </a:r>
            <a:r>
              <a:rPr sz="2400"/>
              <a:t> (phlegm)</a:t>
            </a:r>
          </a:p>
          <a:p>
            <a:pPr algn="l" marL="243840" indent="-243840">
              <a:spcBef>
                <a:spcPts val="1400"/>
              </a:spcBef>
              <a:buFont typeface="Arial" panose="020B0604020202020204" pitchFamily="34" charset="0"/>
              <a:buChar char="•"/>
            </a:pPr>
            <a:r>
              <a:rPr sz="2400"/>
              <a:t>Wheezing and chest tightness</a:t>
            </a:r>
          </a:p>
          <a:p>
            <a:pPr algn="l" marL="243840" indent="-243840">
              <a:spcBef>
                <a:spcPts val="1400"/>
              </a:spcBef>
              <a:buFont typeface="Arial" panose="020B0604020202020204" pitchFamily="34" charset="0"/>
              <a:buChar char="•"/>
            </a:pPr>
            <a:r>
              <a:rPr sz="2400"/>
              <a:t>Tiredness</a:t>
            </a:r>
          </a:p>
        </p:txBody>
      </p:sp>
      <p:sp>
        <p:nvSpPr>
          <p:cNvPr id="4" name="TextBox 3"/>
          <p:cNvSpPr txBox="1"/>
          <p:nvPr/>
        </p:nvSpPr>
        <p:spPr>
          <a:xfrm>
            <a:off x="6035040" y="1691640"/>
            <a:ext cx="5303520" cy="457200"/>
          </a:xfrm>
          <a:prstGeom prst="rect">
            <a:avLst/>
          </a:prstGeom>
          <a:noFill/>
        </p:spPr>
        <p:txBody>
          <a:bodyPr wrap="square" anchor="t">
            <a:spAutoFit/>
          </a:bodyPr>
          <a:lstStyle/>
          <a:p>
            <a:pPr algn="ctr"/>
            <a:r>
              <a:rPr sz="2000" b="1"/>
              <a:t>Breathlessness slowly gets worse</a:t>
            </a:r>
          </a:p>
        </p:txBody>
      </p:sp>
      <p:sp>
        <p:nvSpPr>
          <p:cNvPr id="5" name="Rectangle 4"/>
          <p:cNvSpPr/>
          <p:nvPr/>
        </p:nvSpPr>
        <p:spPr>
          <a:xfrm>
            <a:off x="6035040" y="4343400"/>
            <a:ext cx="1645920" cy="14630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t" wrap="square"/>
          <a:lstStyle/>
          <a:p>
            <a:pPr algn="ctr"/>
            <a:r>
              <a:rPr sz="1600" b="1"/>
              <a:t>Early</a:t>
            </a:r>
          </a:p>
          <a:p>
            <a:pPr algn="ctr"/>
            <a:r>
              <a:rPr sz="1600"/>
              <a:t>on stairs or hills</a:t>
            </a:r>
          </a:p>
        </p:txBody>
      </p:sp>
      <p:sp>
        <p:nvSpPr>
          <p:cNvPr id="6" name="Rectangle 5"/>
          <p:cNvSpPr/>
          <p:nvPr/>
        </p:nvSpPr>
        <p:spPr>
          <a:xfrm>
            <a:off x="7863840" y="3428999"/>
            <a:ext cx="1645920" cy="23774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t" wrap="square"/>
          <a:lstStyle/>
          <a:p>
            <a:pPr algn="ctr"/>
            <a:r>
              <a:rPr sz="1600" b="1"/>
              <a:t>Later</a:t>
            </a:r>
          </a:p>
          <a:p>
            <a:pPr algn="ctr"/>
            <a:r>
              <a:rPr sz="1600"/>
              <a:t>when walking on flat ground</a:t>
            </a:r>
          </a:p>
        </p:txBody>
      </p:sp>
      <p:sp>
        <p:nvSpPr>
          <p:cNvPr id="7" name="Rectangle 6"/>
          <p:cNvSpPr/>
          <p:nvPr/>
        </p:nvSpPr>
        <p:spPr>
          <a:xfrm>
            <a:off x="9692640" y="2514599"/>
            <a:ext cx="1645920" cy="32918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t" wrap="square"/>
          <a:lstStyle/>
          <a:p>
            <a:pPr algn="ctr"/>
            <a:r>
              <a:rPr sz="1600" b="1"/>
              <a:t>Severe</a:t>
            </a:r>
          </a:p>
          <a:p>
            <a:pPr algn="ctr"/>
            <a:r>
              <a:rPr sz="1600"/>
              <a:t>even when getting dressed</a:t>
            </a:r>
          </a:p>
        </p:txBody>
      </p:sp>
      <p:sp>
        <p:nvSpPr>
          <p:cNvPr id="8" name="TextBox 7"/>
          <p:cNvSpPr txBox="1"/>
          <p:nvPr/>
        </p:nvSpPr>
        <p:spPr>
          <a:xfrm>
            <a:off x="6035040" y="5852160"/>
            <a:ext cx="5303520" cy="411480"/>
          </a:xfrm>
          <a:prstGeom prst="rect">
            <a:avLst/>
          </a:prstGeom>
          <a:noFill/>
        </p:spPr>
        <p:txBody>
          <a:bodyPr wrap="square" anchor="t">
            <a:spAutoFit/>
          </a:bodyPr>
          <a:lstStyle/>
          <a:p>
            <a:pPr algn="ctr"/>
            <a:r>
              <a:rPr sz="1600">
                <a:solidFill>
                  <a:srgbClr val="595959"/>
                </a:solidFill>
              </a:rPr>
              <a:t>Over the years  →</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Flare-Ups (Exacerbations)</a:t>
            </a:r>
          </a:p>
        </p:txBody>
      </p:sp>
      <p:sp>
        <p:nvSpPr>
          <p:cNvPr id="3" name="Content Placeholder 2"/>
          <p:cNvSpPr>
            <a:spLocks noGrp="1"/>
          </p:cNvSpPr>
          <p:nvPr>
            <p:ph idx="1" sz="half"/>
          </p:nvPr>
        </p:nvSpPr>
        <p:spPr/>
        <p:txBody>
          <a:bodyPr/>
          <a:lstStyle/>
          <a:p>
            <a:pPr/>
            <a:r>
              <a:rPr sz="2400" b="1"/>
              <a:t>Flare-up</a:t>
            </a:r>
            <a:r>
              <a:rPr sz="2400"/>
              <a:t> = a sudden worsening of symptoms</a:t>
            </a:r>
          </a:p>
          <a:p>
            <a:pPr>
              <a:spcBef>
                <a:spcPts val="1200"/>
              </a:spcBef>
            </a:pPr>
            <a:r>
              <a:rPr sz="2400"/>
              <a:t>More breathless than usual</a:t>
            </a:r>
          </a:p>
          <a:p>
            <a:pPr>
              <a:spcBef>
                <a:spcPts val="1200"/>
              </a:spcBef>
            </a:pPr>
            <a:r>
              <a:rPr sz="2400"/>
              <a:t>More cough and more sputum, sometimes yellow or green</a:t>
            </a:r>
          </a:p>
          <a:p>
            <a:pPr>
              <a:spcBef>
                <a:spcPts val="1200"/>
              </a:spcBef>
            </a:pPr>
            <a:r>
              <a:rPr sz="2400" b="1"/>
              <a:t>Causes: </a:t>
            </a:r>
            <a:r>
              <a:rPr sz="2400"/>
              <a:t>chest infections, air pollution</a:t>
            </a:r>
          </a:p>
          <a:p>
            <a:pPr>
              <a:spcBef>
                <a:spcPts val="1200"/>
              </a:spcBef>
            </a:pPr>
            <a:r>
              <a:rPr sz="2400"/>
              <a:t>Serious flare-ups need hospital care</a:t>
            </a:r>
          </a:p>
        </p:txBody>
      </p:sp>
      <p:sp>
        <p:nvSpPr>
          <p:cNvPr id="4" name="IMAGE PLACEHOLDER"/>
          <p:cNvSpPr/>
          <p:nvPr/>
        </p:nvSpPr>
        <p:spPr>
          <a:xfrm>
            <a:off x="6172200" y="1783080"/>
            <a:ext cx="5181904" cy="4023360"/>
          </a:xfrm>
          <a:prstGeom prst="rect">
            <a:avLst/>
          </a:prstGeom>
          <a:solidFill>
            <a:srgbClr val="F2F2F2"/>
          </a:solidFill>
          <a:ln w="15875">
            <a:solidFill>
              <a:srgbClr val="7F7F7F"/>
            </a:solidFill>
            <a:prstDash val="dash"/>
          </a:ln>
        </p:spPr>
        <p:txBody>
          <a:bodyPr rtlCol="0" anchor="ctr" wrap="square"/>
          <a:lstStyle/>
          <a:p>
            <a:pPr algn="ctr"/>
            <a:r>
              <a:rPr sz="1600" b="1" i="0">
                <a:solidFill>
                  <a:srgbClr val="595959"/>
                </a:solidFill>
              </a:rPr>
              <a:t>[ IMAGE ]</a:t>
            </a:r>
          </a:p>
          <a:p>
            <a:pPr algn="ctr">
              <a:spcBef>
                <a:spcPts val="600"/>
              </a:spcBef>
            </a:pPr>
            <a:r>
              <a:rPr sz="1400" b="0" i="0">
                <a:solidFill>
                  <a:srgbClr val="595959"/>
                </a:solidFill>
              </a:rPr>
              <a:t>Patient in hospital receiving oxygen</a:t>
            </a:r>
          </a:p>
          <a:p>
            <a:pPr algn="ctr">
              <a:spcBef>
                <a:spcPts val="600"/>
              </a:spcBef>
            </a:pPr>
            <a:r>
              <a:rPr sz="1200" b="0" i="1">
                <a:solidFill>
                  <a:srgbClr val="595959"/>
                </a:solidFill>
              </a:rPr>
              <a:t>Search: “COPD patient oxygen hospital”</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Why Should We Care?</a:t>
            </a:r>
          </a:p>
        </p:txBody>
      </p:sp>
      <p:sp>
        <p:nvSpPr>
          <p:cNvPr id="3" name="Rectangle 2"/>
          <p:cNvSpPr/>
          <p:nvPr/>
        </p:nvSpPr>
        <p:spPr>
          <a:xfrm>
            <a:off x="838504" y="1828800"/>
            <a:ext cx="3200400" cy="1371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wrap="square"/>
          <a:lstStyle/>
          <a:p>
            <a:pPr algn="ctr"/>
            <a:r>
              <a:rPr sz="4000" b="1"/>
              <a:t>262 million</a:t>
            </a:r>
          </a:p>
        </p:txBody>
      </p:sp>
      <p:sp>
        <p:nvSpPr>
          <p:cNvPr id="4" name="TextBox 3"/>
          <p:cNvSpPr txBox="1"/>
          <p:nvPr/>
        </p:nvSpPr>
        <p:spPr>
          <a:xfrm>
            <a:off x="838504" y="3383280"/>
            <a:ext cx="3200400" cy="1280160"/>
          </a:xfrm>
          <a:prstGeom prst="rect">
            <a:avLst/>
          </a:prstGeom>
          <a:noFill/>
        </p:spPr>
        <p:txBody>
          <a:bodyPr wrap="square" anchor="t">
            <a:spAutoFit/>
          </a:bodyPr>
          <a:lstStyle/>
          <a:p>
            <a:pPr algn="ctr"/>
            <a:r>
              <a:rPr sz="2000"/>
              <a:t>people had asthma in 2019</a:t>
            </a:r>
          </a:p>
        </p:txBody>
      </p:sp>
      <p:sp>
        <p:nvSpPr>
          <p:cNvPr id="5" name="Rectangle 4"/>
          <p:cNvSpPr/>
          <p:nvPr/>
        </p:nvSpPr>
        <p:spPr>
          <a:xfrm>
            <a:off x="4496104" y="1828800"/>
            <a:ext cx="3200400" cy="1371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wrap="square"/>
          <a:lstStyle/>
          <a:p>
            <a:pPr algn="ctr"/>
            <a:r>
              <a:rPr sz="4000" b="1"/>
              <a:t>455,000</a:t>
            </a:r>
          </a:p>
        </p:txBody>
      </p:sp>
      <p:sp>
        <p:nvSpPr>
          <p:cNvPr id="6" name="TextBox 5"/>
          <p:cNvSpPr txBox="1"/>
          <p:nvPr/>
        </p:nvSpPr>
        <p:spPr>
          <a:xfrm>
            <a:off x="4496104" y="3383280"/>
            <a:ext cx="3200400" cy="1280160"/>
          </a:xfrm>
          <a:prstGeom prst="rect">
            <a:avLst/>
          </a:prstGeom>
          <a:noFill/>
        </p:spPr>
        <p:txBody>
          <a:bodyPr wrap="square" anchor="t">
            <a:spAutoFit/>
          </a:bodyPr>
          <a:lstStyle/>
          <a:p>
            <a:pPr algn="ctr"/>
            <a:r>
              <a:rPr sz="2000"/>
              <a:t>deaths from asthma in 2019</a:t>
            </a:r>
          </a:p>
        </p:txBody>
      </p:sp>
      <p:sp>
        <p:nvSpPr>
          <p:cNvPr id="7" name="Rectangle 6"/>
          <p:cNvSpPr/>
          <p:nvPr/>
        </p:nvSpPr>
        <p:spPr>
          <a:xfrm>
            <a:off x="8153704" y="1828800"/>
            <a:ext cx="3200400" cy="1371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wrap="square"/>
          <a:lstStyle/>
          <a:p>
            <a:pPr algn="ctr"/>
            <a:r>
              <a:rPr sz="4000" b="1"/>
              <a:t>3.4 million</a:t>
            </a:r>
          </a:p>
        </p:txBody>
      </p:sp>
      <p:sp>
        <p:nvSpPr>
          <p:cNvPr id="8" name="TextBox 7"/>
          <p:cNvSpPr txBox="1"/>
          <p:nvPr/>
        </p:nvSpPr>
        <p:spPr>
          <a:xfrm>
            <a:off x="8153704" y="3383280"/>
            <a:ext cx="3200400" cy="1280160"/>
          </a:xfrm>
          <a:prstGeom prst="rect">
            <a:avLst/>
          </a:prstGeom>
          <a:noFill/>
        </p:spPr>
        <p:txBody>
          <a:bodyPr wrap="square" anchor="t">
            <a:spAutoFit/>
          </a:bodyPr>
          <a:lstStyle/>
          <a:p>
            <a:pPr algn="ctr"/>
            <a:r>
              <a:rPr sz="2000"/>
              <a:t>deaths from COPD in 2023: the 3rd leading cause of death in the world</a:t>
            </a:r>
          </a:p>
        </p:txBody>
      </p:sp>
      <p:sp>
        <p:nvSpPr>
          <p:cNvPr id="9" name="TextBox 8"/>
          <p:cNvSpPr txBox="1"/>
          <p:nvPr/>
        </p:nvSpPr>
        <p:spPr>
          <a:xfrm>
            <a:off x="838504" y="4754880"/>
            <a:ext cx="10515600" cy="548640"/>
          </a:xfrm>
          <a:prstGeom prst="rect">
            <a:avLst/>
          </a:prstGeom>
          <a:noFill/>
        </p:spPr>
        <p:txBody>
          <a:bodyPr wrap="square" anchor="t">
            <a:spAutoFit/>
          </a:bodyPr>
          <a:lstStyle/>
          <a:p>
            <a:pPr algn="ctr"/>
            <a:r>
              <a:rPr sz="2200"/>
              <a:t>Most of these deaths happen in low- and middle-income countries.</a:t>
            </a:r>
          </a:p>
        </p:txBody>
      </p:sp>
      <p:sp>
        <p:nvSpPr>
          <p:cNvPr id="10" name="TextBox 9"/>
          <p:cNvSpPr txBox="1"/>
          <p:nvPr/>
        </p:nvSpPr>
        <p:spPr>
          <a:xfrm>
            <a:off x="838504" y="5486400"/>
            <a:ext cx="10515600" cy="365760"/>
          </a:xfrm>
          <a:prstGeom prst="rect">
            <a:avLst/>
          </a:prstGeom>
          <a:noFill/>
        </p:spPr>
        <p:txBody>
          <a:bodyPr wrap="square" anchor="t">
            <a:spAutoFit/>
          </a:bodyPr>
          <a:lstStyle/>
          <a:p>
            <a:pPr algn="ctr"/>
            <a:r>
              <a:rPr sz="1200">
                <a:solidFill>
                  <a:srgbClr val="595959"/>
                </a:solidFill>
              </a:rPr>
              <a:t>Source: World Health Organization (WHO) fact sheets on asthma and COPD</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How Do Doctors Diagnose Them?</a:t>
            </a:r>
          </a:p>
        </p:txBody>
      </p:sp>
      <p:sp>
        <p:nvSpPr>
          <p:cNvPr id="3" name="Pentagon 2"/>
          <p:cNvSpPr/>
          <p:nvPr/>
        </p:nvSpPr>
        <p:spPr>
          <a:xfrm>
            <a:off x="838504" y="1828800"/>
            <a:ext cx="3520440" cy="1097280"/>
          </a:xfrm>
          <a:prstGeom prst="homePlat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wrap="square"/>
          <a:lstStyle/>
          <a:p>
            <a:pPr algn="ctr"/>
            <a:r>
              <a:rPr sz="2600" b="1"/>
              <a:t>1. Ask</a:t>
            </a:r>
          </a:p>
        </p:txBody>
      </p:sp>
      <p:sp>
        <p:nvSpPr>
          <p:cNvPr id="4" name="TextBox 3"/>
          <p:cNvSpPr txBox="1"/>
          <p:nvPr/>
        </p:nvSpPr>
        <p:spPr>
          <a:xfrm>
            <a:off x="929944" y="3154680"/>
            <a:ext cx="3154680" cy="1645920"/>
          </a:xfrm>
          <a:prstGeom prst="rect">
            <a:avLst/>
          </a:prstGeom>
          <a:noFill/>
        </p:spPr>
        <p:txBody>
          <a:bodyPr wrap="square" anchor="t">
            <a:spAutoFit/>
          </a:bodyPr>
          <a:lstStyle/>
          <a:p>
            <a:pPr algn="l"/>
            <a:r>
              <a:rPr sz="2200"/>
              <a:t>Take a history: symptoms, smoking, allergies, family illnesses</a:t>
            </a:r>
          </a:p>
        </p:txBody>
      </p:sp>
      <p:sp>
        <p:nvSpPr>
          <p:cNvPr id="5" name="Chevron 4"/>
          <p:cNvSpPr/>
          <p:nvPr/>
        </p:nvSpPr>
        <p:spPr>
          <a:xfrm>
            <a:off x="4336084" y="1828800"/>
            <a:ext cx="3520440" cy="1097280"/>
          </a:xfrm>
          <a:prstGeom prst="chevr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wrap="square"/>
          <a:lstStyle/>
          <a:p>
            <a:pPr algn="ctr"/>
            <a:r>
              <a:rPr sz="2600" b="1"/>
              <a:t>2. Examine</a:t>
            </a:r>
          </a:p>
        </p:txBody>
      </p:sp>
      <p:sp>
        <p:nvSpPr>
          <p:cNvPr id="6" name="TextBox 5"/>
          <p:cNvSpPr txBox="1"/>
          <p:nvPr/>
        </p:nvSpPr>
        <p:spPr>
          <a:xfrm>
            <a:off x="4427524" y="3154680"/>
            <a:ext cx="3154680" cy="1645920"/>
          </a:xfrm>
          <a:prstGeom prst="rect">
            <a:avLst/>
          </a:prstGeom>
          <a:noFill/>
        </p:spPr>
        <p:txBody>
          <a:bodyPr wrap="square" anchor="t">
            <a:spAutoFit/>
          </a:bodyPr>
          <a:lstStyle/>
          <a:p>
            <a:pPr algn="l"/>
            <a:r>
              <a:rPr sz="2200"/>
              <a:t>Listen to the chest with a stethoscope (wheeze?)</a:t>
            </a:r>
          </a:p>
        </p:txBody>
      </p:sp>
      <p:sp>
        <p:nvSpPr>
          <p:cNvPr id="7" name="Chevron 6"/>
          <p:cNvSpPr/>
          <p:nvPr/>
        </p:nvSpPr>
        <p:spPr>
          <a:xfrm>
            <a:off x="7833664" y="1828800"/>
            <a:ext cx="3520440" cy="1097280"/>
          </a:xfrm>
          <a:prstGeom prst="chevr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wrap="square"/>
          <a:lstStyle/>
          <a:p>
            <a:pPr algn="ctr"/>
            <a:r>
              <a:rPr sz="2600" b="1"/>
              <a:t>3. Test</a:t>
            </a:r>
          </a:p>
        </p:txBody>
      </p:sp>
      <p:sp>
        <p:nvSpPr>
          <p:cNvPr id="8" name="TextBox 7"/>
          <p:cNvSpPr txBox="1"/>
          <p:nvPr/>
        </p:nvSpPr>
        <p:spPr>
          <a:xfrm>
            <a:off x="7925104" y="3154680"/>
            <a:ext cx="3154680" cy="1645920"/>
          </a:xfrm>
          <a:prstGeom prst="rect">
            <a:avLst/>
          </a:prstGeom>
          <a:noFill/>
        </p:spPr>
        <p:txBody>
          <a:bodyPr wrap="square" anchor="t">
            <a:spAutoFit/>
          </a:bodyPr>
          <a:lstStyle/>
          <a:p>
            <a:pPr algn="l"/>
            <a:r>
              <a:rPr sz="2200"/>
              <a:t>Spirometry: a breathing test that measures airflow</a:t>
            </a:r>
          </a:p>
        </p:txBody>
      </p:sp>
      <p:sp>
        <p:nvSpPr>
          <p:cNvPr id="9" name="TextBox 8"/>
          <p:cNvSpPr txBox="1"/>
          <p:nvPr/>
        </p:nvSpPr>
        <p:spPr>
          <a:xfrm>
            <a:off x="838504" y="4754880"/>
            <a:ext cx="10515600" cy="548640"/>
          </a:xfrm>
          <a:prstGeom prst="rect">
            <a:avLst/>
          </a:prstGeom>
          <a:noFill/>
        </p:spPr>
        <p:txBody>
          <a:bodyPr wrap="square" anchor="t">
            <a:spAutoFit/>
          </a:bodyPr>
          <a:lstStyle/>
          <a:p>
            <a:pPr algn="l"/>
            <a:r>
              <a:rPr sz="2000" b="1"/>
              <a:t>Sometimes also: </a:t>
            </a:r>
            <a:r>
              <a:rPr sz="2000"/>
              <a:t>chest X-ray, peak flow meter, blood oxygen level</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Spirometry: The Breathing Test</a:t>
            </a:r>
          </a:p>
        </p:txBody>
      </p:sp>
      <p:sp>
        <p:nvSpPr>
          <p:cNvPr id="3" name="TextBox 2"/>
          <p:cNvSpPr txBox="1"/>
          <p:nvPr/>
        </p:nvSpPr>
        <p:spPr>
          <a:xfrm>
            <a:off x="838504" y="1783080"/>
            <a:ext cx="4754880" cy="4206240"/>
          </a:xfrm>
          <a:prstGeom prst="rect">
            <a:avLst/>
          </a:prstGeom>
          <a:noFill/>
        </p:spPr>
        <p:txBody>
          <a:bodyPr wrap="square" anchor="t">
            <a:spAutoFit/>
          </a:bodyPr>
          <a:lstStyle/>
          <a:p>
            <a:pPr algn="l" marL="203200" indent="-203200">
              <a:buFont typeface="Arial" panose="020B0604020202020204" pitchFamily="34" charset="0"/>
              <a:buChar char="•"/>
            </a:pPr>
            <a:r>
              <a:rPr sz="2000"/>
              <a:t>Breathe in deeply, then blow out as hard and fast as you can</a:t>
            </a:r>
          </a:p>
          <a:p>
            <a:pPr algn="l" marL="203200" indent="-203200">
              <a:spcBef>
                <a:spcPts val="1200"/>
              </a:spcBef>
              <a:buFont typeface="Arial" panose="020B0604020202020204" pitchFamily="34" charset="0"/>
              <a:buChar char="•"/>
            </a:pPr>
            <a:r>
              <a:rPr sz="2000" b="1"/>
              <a:t>FEV1</a:t>
            </a:r>
            <a:r>
              <a:rPr sz="2000"/>
              <a:t> = air blown out in the first second</a:t>
            </a:r>
          </a:p>
          <a:p>
            <a:pPr algn="l" marL="203200" indent="-203200">
              <a:spcBef>
                <a:spcPts val="1200"/>
              </a:spcBef>
              <a:buFont typeface="Arial" panose="020B0604020202020204" pitchFamily="34" charset="0"/>
              <a:buChar char="•"/>
            </a:pPr>
            <a:r>
              <a:rPr sz="2000" b="1"/>
              <a:t>FVC</a:t>
            </a:r>
            <a:r>
              <a:rPr sz="2000"/>
              <a:t> = all the air blown out</a:t>
            </a:r>
          </a:p>
          <a:p>
            <a:pPr algn="l" marL="203200" indent="-203200">
              <a:spcBef>
                <a:spcPts val="1200"/>
              </a:spcBef>
              <a:buFont typeface="Arial" panose="020B0604020202020204" pitchFamily="34" charset="0"/>
              <a:buChar char="•"/>
            </a:pPr>
            <a:r>
              <a:rPr sz="2000" b="1"/>
              <a:t>FEV1/FVC below 0.7</a:t>
            </a:r>
            <a:r>
              <a:rPr sz="2000"/>
              <a:t> = obstruction</a:t>
            </a:r>
          </a:p>
          <a:p>
            <a:pPr algn="l" marL="203200" indent="-203200">
              <a:spcBef>
                <a:spcPts val="1200"/>
              </a:spcBef>
              <a:buFont typeface="Arial" panose="020B0604020202020204" pitchFamily="34" charset="0"/>
              <a:buChar char="•"/>
            </a:pPr>
            <a:r>
              <a:rPr sz="2000"/>
              <a:t>Then repeat the test after a reliever inhaler</a:t>
            </a:r>
          </a:p>
        </p:txBody>
      </p:sp>
      <p:graphicFrame>
        <p:nvGraphicFramePr>
          <p:cNvPr id="4" name="Chart 3"/>
          <p:cNvGraphicFramePr>
            <a:graphicFrameLocks noGrp="1"/>
          </p:cNvGraphicFramePr>
          <p:nvPr/>
        </p:nvGraphicFramePr>
        <p:xfrm>
          <a:off x="5943600" y="1691640"/>
          <a:ext cx="5394960" cy="3840480"/>
        </p:xfrm>
        <a:graphic>
          <a:graphicData uri="http://schemas.openxmlformats.org/drawingml/2006/chart">
            <c:chart xmlns:c="http://schemas.openxmlformats.org/drawingml/2006/chart" r:id="rId2"/>
          </a:graphicData>
        </a:graphic>
      </p:graphicFrame>
      <p:sp>
        <p:nvSpPr>
          <p:cNvPr id="5" name="TextBox 4"/>
          <p:cNvSpPr txBox="1"/>
          <p:nvPr/>
        </p:nvSpPr>
        <p:spPr>
          <a:xfrm>
            <a:off x="5943600" y="5577840"/>
            <a:ext cx="5394960" cy="457200"/>
          </a:xfrm>
          <a:prstGeom prst="rect">
            <a:avLst/>
          </a:prstGeom>
          <a:noFill/>
        </p:spPr>
        <p:txBody>
          <a:bodyPr wrap="square" anchor="t">
            <a:spAutoFit/>
          </a:bodyPr>
          <a:lstStyle/>
          <a:p>
            <a:pPr algn="ctr"/>
            <a:r>
              <a:rPr sz="1800" b="1"/>
              <a:t>Asthma: </a:t>
            </a:r>
            <a:r>
              <a:rPr sz="1800"/>
              <a:t>big improvement.  </a:t>
            </a:r>
            <a:r>
              <a:rPr sz="1800" b="1"/>
              <a:t>COPD: </a:t>
            </a:r>
            <a:r>
              <a:rPr sz="1800"/>
              <a:t>small improvement.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Treating Asthma</a:t>
            </a:r>
          </a:p>
        </p:txBody>
      </p:sp>
      <p:sp>
        <p:nvSpPr>
          <p:cNvPr id="3" name="Text Placeholder 2"/>
          <p:cNvSpPr>
            <a:spLocks noGrp="1"/>
          </p:cNvSpPr>
          <p:nvPr>
            <p:ph type="body" idx="1"/>
          </p:nvPr>
        </p:nvSpPr>
        <p:spPr/>
        <p:txBody>
          <a:bodyPr/>
          <a:lstStyle/>
          <a:p>
            <a:r>
              <a:t>Reliever inhaler</a:t>
            </a:r>
          </a:p>
        </p:txBody>
      </p:sp>
      <p:sp>
        <p:nvSpPr>
          <p:cNvPr id="4" name="Content Placeholder 3"/>
          <p:cNvSpPr>
            <a:spLocks noGrp="1"/>
          </p:cNvSpPr>
          <p:nvPr>
            <p:ph idx="2" sz="half"/>
          </p:nvPr>
        </p:nvSpPr>
        <p:spPr>
          <a:xfrm>
            <a:off x="839788" y="2514600"/>
            <a:ext cx="5157787" cy="1737360"/>
          </a:xfrm>
        </p:spPr>
        <p:txBody>
          <a:bodyPr/>
          <a:lstStyle/>
          <a:p>
            <a:pPr/>
            <a:r>
              <a:rPr sz="2000"/>
              <a:t>Works in minutes</a:t>
            </a:r>
          </a:p>
          <a:p>
            <a:pPr>
              <a:spcBef>
                <a:spcPts val="400"/>
              </a:spcBef>
            </a:pPr>
            <a:r>
              <a:rPr sz="2000"/>
              <a:t>Opens the airways (</a:t>
            </a:r>
            <a:r>
              <a:rPr sz="2000" b="1"/>
              <a:t>bronchodilator</a:t>
            </a:r>
            <a:r>
              <a:rPr sz="2000"/>
              <a:t>)</a:t>
            </a:r>
          </a:p>
          <a:p>
            <a:pPr>
              <a:spcBef>
                <a:spcPts val="400"/>
              </a:spcBef>
            </a:pPr>
            <a:r>
              <a:rPr sz="2000"/>
              <a:t>Used when symptoms start</a:t>
            </a:r>
          </a:p>
          <a:p>
            <a:pPr>
              <a:spcBef>
                <a:spcPts val="400"/>
              </a:spcBef>
            </a:pPr>
            <a:r>
              <a:rPr sz="2000" i="1"/>
              <a:t>Example: salbutamol</a:t>
            </a:r>
          </a:p>
        </p:txBody>
      </p:sp>
      <p:sp>
        <p:nvSpPr>
          <p:cNvPr id="5" name="Text Placeholder 4"/>
          <p:cNvSpPr>
            <a:spLocks noGrp="1"/>
          </p:cNvSpPr>
          <p:nvPr>
            <p:ph type="body" idx="3" sz="quarter"/>
          </p:nvPr>
        </p:nvSpPr>
        <p:spPr/>
        <p:txBody>
          <a:bodyPr/>
          <a:lstStyle/>
          <a:p>
            <a:r>
              <a:t>Controller (preventer) inhaler</a:t>
            </a:r>
          </a:p>
        </p:txBody>
      </p:sp>
      <p:sp>
        <p:nvSpPr>
          <p:cNvPr id="6" name="Content Placeholder 5"/>
          <p:cNvSpPr>
            <a:spLocks noGrp="1"/>
          </p:cNvSpPr>
          <p:nvPr>
            <p:ph idx="4" sz="quarter"/>
          </p:nvPr>
        </p:nvSpPr>
        <p:spPr>
          <a:xfrm>
            <a:off x="6172200" y="2514600"/>
            <a:ext cx="5183188" cy="1737360"/>
          </a:xfrm>
        </p:spPr>
        <p:txBody>
          <a:bodyPr/>
          <a:lstStyle/>
          <a:p>
            <a:pPr/>
            <a:r>
              <a:rPr sz="2000"/>
              <a:t>Works over days and weeks</a:t>
            </a:r>
          </a:p>
          <a:p>
            <a:pPr>
              <a:spcBef>
                <a:spcPts val="400"/>
              </a:spcBef>
            </a:pPr>
            <a:r>
              <a:rPr sz="2000"/>
              <a:t>Calms the swelling (</a:t>
            </a:r>
            <a:r>
              <a:rPr sz="2000" b="1"/>
              <a:t>inhaled steroid</a:t>
            </a:r>
            <a:r>
              <a:rPr sz="2000"/>
              <a:t>)</a:t>
            </a:r>
          </a:p>
          <a:p>
            <a:pPr>
              <a:spcBef>
                <a:spcPts val="400"/>
              </a:spcBef>
            </a:pPr>
            <a:r>
              <a:rPr sz="2000"/>
              <a:t>Used every day, even when well</a:t>
            </a:r>
          </a:p>
          <a:p>
            <a:pPr>
              <a:spcBef>
                <a:spcPts val="400"/>
              </a:spcBef>
            </a:pPr>
            <a:r>
              <a:rPr sz="2000" i="1"/>
              <a:t>Example: budesonide</a:t>
            </a:r>
          </a:p>
        </p:txBody>
      </p:sp>
      <p:sp>
        <p:nvSpPr>
          <p:cNvPr id="7" name="IMAGE PLACEHOLDER"/>
          <p:cNvSpPr/>
          <p:nvPr/>
        </p:nvSpPr>
        <p:spPr>
          <a:xfrm>
            <a:off x="839419" y="4343400"/>
            <a:ext cx="5157216" cy="1234440"/>
          </a:xfrm>
          <a:prstGeom prst="rect">
            <a:avLst/>
          </a:prstGeom>
          <a:solidFill>
            <a:srgbClr val="F2F2F2"/>
          </a:solidFill>
          <a:ln w="15875">
            <a:solidFill>
              <a:srgbClr val="7F7F7F"/>
            </a:solidFill>
            <a:prstDash val="dash"/>
          </a:ln>
        </p:spPr>
        <p:txBody>
          <a:bodyPr rtlCol="0" anchor="ctr" wrap="square"/>
          <a:lstStyle/>
          <a:p>
            <a:pPr algn="ctr"/>
            <a:r>
              <a:rPr sz="1600" b="1" i="0">
                <a:solidFill>
                  <a:srgbClr val="595959"/>
                </a:solidFill>
              </a:rPr>
              <a:t>[ IMAGE ]</a:t>
            </a:r>
          </a:p>
          <a:p>
            <a:pPr algn="ctr">
              <a:spcBef>
                <a:spcPts val="600"/>
              </a:spcBef>
            </a:pPr>
            <a:r>
              <a:rPr sz="1400" b="0" i="0">
                <a:solidFill>
                  <a:srgbClr val="595959"/>
                </a:solidFill>
              </a:rPr>
              <a:t>A reliever inhaler (often blue)</a:t>
            </a:r>
          </a:p>
          <a:p>
            <a:pPr algn="ctr">
              <a:spcBef>
                <a:spcPts val="600"/>
              </a:spcBef>
            </a:pPr>
            <a:r>
              <a:rPr sz="1200" b="0" i="1">
                <a:solidFill>
                  <a:srgbClr val="595959"/>
                </a:solidFill>
              </a:rPr>
              <a:t>Search: “reliever inhaler salbutamol”</a:t>
            </a:r>
          </a:p>
        </p:txBody>
      </p:sp>
      <p:sp>
        <p:nvSpPr>
          <p:cNvPr id="8" name="IMAGE PLACEHOLDER"/>
          <p:cNvSpPr/>
          <p:nvPr/>
        </p:nvSpPr>
        <p:spPr>
          <a:xfrm>
            <a:off x="6172200" y="4343400"/>
            <a:ext cx="5184648" cy="1234440"/>
          </a:xfrm>
          <a:prstGeom prst="rect">
            <a:avLst/>
          </a:prstGeom>
          <a:solidFill>
            <a:srgbClr val="F2F2F2"/>
          </a:solidFill>
          <a:ln w="15875">
            <a:solidFill>
              <a:srgbClr val="7F7F7F"/>
            </a:solidFill>
            <a:prstDash val="dash"/>
          </a:ln>
        </p:spPr>
        <p:txBody>
          <a:bodyPr rtlCol="0" anchor="ctr" wrap="square"/>
          <a:lstStyle/>
          <a:p>
            <a:pPr algn="ctr"/>
            <a:r>
              <a:rPr sz="1600" b="1" i="0">
                <a:solidFill>
                  <a:srgbClr val="595959"/>
                </a:solidFill>
              </a:rPr>
              <a:t>[ IMAGE ]</a:t>
            </a:r>
          </a:p>
          <a:p>
            <a:pPr algn="ctr">
              <a:spcBef>
                <a:spcPts val="600"/>
              </a:spcBef>
            </a:pPr>
            <a:r>
              <a:rPr sz="1400" b="0" i="0">
                <a:solidFill>
                  <a:srgbClr val="595959"/>
                </a:solidFill>
              </a:rPr>
              <a:t>A preventer / controller inhaler (often brown, orange or purple)</a:t>
            </a:r>
          </a:p>
          <a:p>
            <a:pPr algn="ctr">
              <a:spcBef>
                <a:spcPts val="600"/>
              </a:spcBef>
            </a:pPr>
            <a:r>
              <a:rPr sz="1200" b="0" i="1">
                <a:solidFill>
                  <a:srgbClr val="595959"/>
                </a:solidFill>
              </a:rPr>
              <a:t>Search: “preventer inhaler steroid”</a:t>
            </a:r>
          </a:p>
        </p:txBody>
      </p:sp>
      <p:sp>
        <p:nvSpPr>
          <p:cNvPr id="9" name="TextBox 8"/>
          <p:cNvSpPr txBox="1"/>
          <p:nvPr/>
        </p:nvSpPr>
        <p:spPr>
          <a:xfrm>
            <a:off x="838504" y="5669280"/>
            <a:ext cx="10515600" cy="457200"/>
          </a:xfrm>
          <a:prstGeom prst="rect">
            <a:avLst/>
          </a:prstGeom>
          <a:noFill/>
        </p:spPr>
        <p:txBody>
          <a:bodyPr wrap="square" anchor="t">
            <a:spAutoFit/>
          </a:bodyPr>
          <a:lstStyle/>
          <a:p>
            <a:pPr algn="ctr"/>
            <a:r>
              <a:rPr sz="1800" b="1"/>
              <a:t>Also: </a:t>
            </a:r>
            <a:r>
              <a:rPr sz="1800"/>
              <a:t>avoid triggers, use the inhaler correctly, follow a written asthma action plan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Treating COPD</a:t>
            </a:r>
          </a:p>
        </p:txBody>
      </p:sp>
      <p:sp>
        <p:nvSpPr>
          <p:cNvPr id="3" name="Content Placeholder 2"/>
          <p:cNvSpPr>
            <a:spLocks noGrp="1"/>
          </p:cNvSpPr>
          <p:nvPr>
            <p:ph idx="1" sz="half"/>
          </p:nvPr>
        </p:nvSpPr>
        <p:spPr>
          <a:xfrm>
            <a:off x="838200" y="1825625"/>
            <a:ext cx="6309360" cy="4351338"/>
          </a:xfrm>
        </p:spPr>
        <p:txBody>
          <a:bodyPr/>
          <a:lstStyle/>
          <a:p>
            <a:pPr marL="457200" indent="-457200">
              <a:buFont typeface="+mj-lt"/>
              <a:buAutoNum type="arabicPeriod"/>
            </a:pPr>
            <a:r>
              <a:rPr sz="2400" b="1"/>
              <a:t>Stop smoking</a:t>
            </a:r>
            <a:r>
              <a:rPr sz="2400"/>
              <a:t> – the most important step</a:t>
            </a:r>
          </a:p>
          <a:p>
            <a:pPr marL="457200" indent="-457200">
              <a:spcBef>
                <a:spcPts val="1400"/>
              </a:spcBef>
              <a:buFont typeface="+mj-lt"/>
              <a:buAutoNum type="arabicPeriod"/>
            </a:pPr>
            <a:r>
              <a:rPr sz="2400" b="1"/>
              <a:t>Bronchodilator inhalers</a:t>
            </a:r>
            <a:r>
              <a:rPr sz="2400"/>
              <a:t> – open the airways</a:t>
            </a:r>
          </a:p>
          <a:p>
            <a:pPr marL="457200" indent="-457200">
              <a:spcBef>
                <a:spcPts val="1400"/>
              </a:spcBef>
              <a:buFont typeface="+mj-lt"/>
              <a:buAutoNum type="arabicPeriod"/>
            </a:pPr>
            <a:r>
              <a:rPr sz="2400" b="1"/>
              <a:t>Pulmonary rehabilitation</a:t>
            </a:r>
            <a:r>
              <a:rPr sz="2400"/>
              <a:t> – exercise and breathing training</a:t>
            </a:r>
          </a:p>
          <a:p>
            <a:pPr marL="457200" indent="-457200">
              <a:spcBef>
                <a:spcPts val="1400"/>
              </a:spcBef>
              <a:buFont typeface="+mj-lt"/>
              <a:buAutoNum type="arabicPeriod"/>
            </a:pPr>
            <a:r>
              <a:rPr sz="2400" b="1"/>
              <a:t>Vaccines</a:t>
            </a:r>
            <a:r>
              <a:rPr sz="2400"/>
              <a:t> – flu, pneumonia, COVID-19</a:t>
            </a:r>
          </a:p>
          <a:p>
            <a:pPr marL="457200" indent="-457200">
              <a:spcBef>
                <a:spcPts val="1400"/>
              </a:spcBef>
              <a:buFont typeface="+mj-lt"/>
              <a:buAutoNum type="arabicPeriod"/>
            </a:pPr>
            <a:r>
              <a:rPr sz="2400" b="1"/>
              <a:t>Oxygen therapy</a:t>
            </a:r>
            <a:r>
              <a:rPr sz="2400"/>
              <a:t> – for severe COPD</a:t>
            </a:r>
          </a:p>
        </p:txBody>
      </p:sp>
      <p:sp>
        <p:nvSpPr>
          <p:cNvPr id="4" name="IMAGE PLACEHOLDER"/>
          <p:cNvSpPr/>
          <p:nvPr/>
        </p:nvSpPr>
        <p:spPr>
          <a:xfrm>
            <a:off x="7406640" y="1783080"/>
            <a:ext cx="3947464" cy="3566160"/>
          </a:xfrm>
          <a:prstGeom prst="rect">
            <a:avLst/>
          </a:prstGeom>
          <a:solidFill>
            <a:srgbClr val="F2F2F2"/>
          </a:solidFill>
          <a:ln w="15875">
            <a:solidFill>
              <a:srgbClr val="7F7F7F"/>
            </a:solidFill>
            <a:prstDash val="dash"/>
          </a:ln>
        </p:spPr>
        <p:txBody>
          <a:bodyPr rtlCol="0" anchor="ctr" wrap="square"/>
          <a:lstStyle/>
          <a:p>
            <a:pPr algn="ctr"/>
            <a:r>
              <a:rPr sz="1600" b="1" i="0">
                <a:solidFill>
                  <a:srgbClr val="595959"/>
                </a:solidFill>
              </a:rPr>
              <a:t>[ IMAGE ]</a:t>
            </a:r>
          </a:p>
          <a:p>
            <a:pPr algn="ctr">
              <a:spcBef>
                <a:spcPts val="600"/>
              </a:spcBef>
            </a:pPr>
            <a:r>
              <a:rPr sz="1400" b="0" i="0">
                <a:solidFill>
                  <a:srgbClr val="595959"/>
                </a:solidFill>
              </a:rPr>
              <a:t>Pulmonary rehabilitation: patients exercising with a physiotherapist</a:t>
            </a:r>
          </a:p>
          <a:p>
            <a:pPr algn="ctr">
              <a:spcBef>
                <a:spcPts val="600"/>
              </a:spcBef>
            </a:pPr>
            <a:r>
              <a:rPr sz="1200" b="0" i="1">
                <a:solidFill>
                  <a:srgbClr val="595959"/>
                </a:solidFill>
              </a:rPr>
              <a:t>Search: “pulmonary rehabilitation exercise”</a:t>
            </a:r>
          </a:p>
        </p:txBody>
      </p:sp>
      <p:sp>
        <p:nvSpPr>
          <p:cNvPr id="5" name="TextBox 4"/>
          <p:cNvSpPr txBox="1"/>
          <p:nvPr/>
        </p:nvSpPr>
        <p:spPr>
          <a:xfrm>
            <a:off x="838504" y="5577840"/>
            <a:ext cx="10515600" cy="548640"/>
          </a:xfrm>
          <a:prstGeom prst="rect">
            <a:avLst/>
          </a:prstGeom>
          <a:noFill/>
        </p:spPr>
        <p:txBody>
          <a:bodyPr wrap="square" anchor="t">
            <a:spAutoFit/>
          </a:bodyPr>
          <a:lstStyle/>
          <a:p>
            <a:pPr algn="l"/>
            <a:r>
              <a:rPr sz="2000" i="1"/>
              <a:t>COPD cannot be cured, but treatment helps people breathe better and live better.</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Asthma vs COPD: Side by Side</a:t>
            </a:r>
          </a:p>
        </p:txBody>
      </p:sp>
      <p:graphicFrame>
        <p:nvGraphicFramePr>
          <p:cNvPr id="3" name="Table 2"/>
          <p:cNvGraphicFramePr>
            <a:graphicFrameLocks noGrp="1"/>
          </p:cNvGraphicFramePr>
          <p:nvPr/>
        </p:nvGraphicFramePr>
        <p:xfrm>
          <a:off x="838504" y="1783080"/>
          <a:ext cx="10515600" cy="4114800"/>
        </p:xfrm>
        <a:graphic>
          <a:graphicData uri="http://schemas.openxmlformats.org/drawingml/2006/table">
            <a:tbl>
              <a:tblPr firstRow="1" bandRow="1">
                <a:tableStyleId>{5C22544A-7EE6-4342-B048-85BDC9FD1C3A}</a:tableStyleId>
              </a:tblPr>
              <a:tblGrid>
                <a:gridCol w="2834640"/>
                <a:gridCol w="3840480"/>
                <a:gridCol w="3840480"/>
              </a:tblGrid>
              <a:tr h="685800">
                <a:tc>
                  <a:txBody>
                    <a:bodyPr/>
                    <a:lstStyle/>
                    <a:p>
                      <a:r>
                        <a:rPr sz="2000" b="1"/>
                        <a:t/>
                      </a:r>
                    </a:p>
                  </a:txBody>
                  <a:tcPr anchor="ctr"/>
                </a:tc>
                <a:tc>
                  <a:txBody>
                    <a:bodyPr/>
                    <a:lstStyle/>
                    <a:p>
                      <a:r>
                        <a:rPr sz="2000" b="1"/>
                        <a:t>Asthma</a:t>
                      </a:r>
                    </a:p>
                  </a:txBody>
                  <a:tcPr anchor="ctr"/>
                </a:tc>
                <a:tc>
                  <a:txBody>
                    <a:bodyPr/>
                    <a:lstStyle/>
                    <a:p>
                      <a:r>
                        <a:rPr sz="2000" b="1"/>
                        <a:t>COPD</a:t>
                      </a:r>
                    </a:p>
                  </a:txBody>
                  <a:tcPr anchor="ctr"/>
                </a:tc>
              </a:tr>
              <a:tr h="685800">
                <a:tc>
                  <a:txBody>
                    <a:bodyPr/>
                    <a:lstStyle/>
                    <a:p>
                      <a:r>
                        <a:rPr sz="2000" b="1"/>
                        <a:t>Usual age at start</a:t>
                      </a:r>
                    </a:p>
                  </a:txBody>
                  <a:tcPr anchor="ctr"/>
                </a:tc>
                <a:tc>
                  <a:txBody>
                    <a:bodyPr/>
                    <a:lstStyle/>
                    <a:p>
                      <a:r>
                        <a:rPr sz="2000"/>
                        <a:t>Often in childhood</a:t>
                      </a:r>
                    </a:p>
                  </a:txBody>
                  <a:tcPr anchor="ctr"/>
                </a:tc>
                <a:tc>
                  <a:txBody>
                    <a:bodyPr/>
                    <a:lstStyle/>
                    <a:p>
                      <a:r>
                        <a:rPr sz="2000"/>
                        <a:t>Usually after 40</a:t>
                      </a:r>
                    </a:p>
                  </a:txBody>
                  <a:tcPr anchor="ctr"/>
                </a:tc>
              </a:tr>
              <a:tr h="685800">
                <a:tc>
                  <a:txBody>
                    <a:bodyPr/>
                    <a:lstStyle/>
                    <a:p>
                      <a:r>
                        <a:rPr sz="2000" b="1"/>
                        <a:t>Main cause</a:t>
                      </a:r>
                    </a:p>
                  </a:txBody>
                  <a:tcPr anchor="ctr"/>
                </a:tc>
                <a:tc>
                  <a:txBody>
                    <a:bodyPr/>
                    <a:lstStyle/>
                    <a:p>
                      <a:r>
                        <a:rPr sz="2000"/>
                        <a:t>Allergies and triggers</a:t>
                      </a:r>
                    </a:p>
                  </a:txBody>
                  <a:tcPr anchor="ctr"/>
                </a:tc>
                <a:tc>
                  <a:txBody>
                    <a:bodyPr/>
                    <a:lstStyle/>
                    <a:p>
                      <a:r>
                        <a:rPr sz="2000"/>
                        <a:t>Smoking and other smoke</a:t>
                      </a:r>
                    </a:p>
                  </a:txBody>
                  <a:tcPr anchor="ctr"/>
                </a:tc>
              </a:tr>
              <a:tr h="685800">
                <a:tc>
                  <a:txBody>
                    <a:bodyPr/>
                    <a:lstStyle/>
                    <a:p>
                      <a:r>
                        <a:rPr sz="2000" b="1"/>
                        <a:t>Symptoms</a:t>
                      </a:r>
                    </a:p>
                  </a:txBody>
                  <a:tcPr anchor="ctr"/>
                </a:tc>
                <a:tc>
                  <a:txBody>
                    <a:bodyPr/>
                    <a:lstStyle/>
                    <a:p>
                      <a:r>
                        <a:rPr sz="2000"/>
                        <a:t>Come and go</a:t>
                      </a:r>
                    </a:p>
                  </a:txBody>
                  <a:tcPr anchor="ctr"/>
                </a:tc>
                <a:tc>
                  <a:txBody>
                    <a:bodyPr/>
                    <a:lstStyle/>
                    <a:p>
                      <a:r>
                        <a:rPr sz="2000"/>
                        <a:t>Slowly get worse</a:t>
                      </a:r>
                    </a:p>
                  </a:txBody>
                  <a:tcPr anchor="ctr"/>
                </a:tc>
              </a:tr>
              <a:tr h="685800">
                <a:tc>
                  <a:txBody>
                    <a:bodyPr/>
                    <a:lstStyle/>
                    <a:p>
                      <a:r>
                        <a:rPr sz="2000" b="1"/>
                        <a:t>Airway blockage</a:t>
                      </a:r>
                    </a:p>
                  </a:txBody>
                  <a:tcPr anchor="ctr"/>
                </a:tc>
                <a:tc>
                  <a:txBody>
                    <a:bodyPr/>
                    <a:lstStyle/>
                    <a:p>
                      <a:r>
                        <a:rPr sz="2000"/>
                        <a:t>Mostly reversible</a:t>
                      </a:r>
                    </a:p>
                  </a:txBody>
                  <a:tcPr anchor="ctr"/>
                </a:tc>
                <a:tc>
                  <a:txBody>
                    <a:bodyPr/>
                    <a:lstStyle/>
                    <a:p>
                      <a:r>
                        <a:rPr sz="2000"/>
                        <a:t>Not fully reversible</a:t>
                      </a:r>
                    </a:p>
                  </a:txBody>
                  <a:tcPr anchor="ctr"/>
                </a:tc>
              </a:tr>
              <a:tr h="685800">
                <a:tc>
                  <a:txBody>
                    <a:bodyPr/>
                    <a:lstStyle/>
                    <a:p>
                      <a:r>
                        <a:rPr sz="2000" b="1"/>
                        <a:t>Main treatment</a:t>
                      </a:r>
                    </a:p>
                  </a:txBody>
                  <a:tcPr anchor="ctr"/>
                </a:tc>
                <a:tc>
                  <a:txBody>
                    <a:bodyPr/>
                    <a:lstStyle/>
                    <a:p>
                      <a:r>
                        <a:rPr sz="2000"/>
                        <a:t>Controller inhaler + reliever</a:t>
                      </a:r>
                    </a:p>
                  </a:txBody>
                  <a:tcPr anchor="ctr"/>
                </a:tc>
                <a:tc>
                  <a:txBody>
                    <a:bodyPr/>
                    <a:lstStyle/>
                    <a:p>
                      <a:r>
                        <a:rPr sz="2000"/>
                        <a:t>Stop smoking + bronchodilators</a:t>
                      </a:r>
                    </a:p>
                  </a:txBody>
                  <a:tcPr anchor="ctr"/>
                </a:tc>
              </a:tr>
            </a:tbl>
          </a:graphicData>
        </a:graphic>
      </p:graphicFrame>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Quick Quiz: Asthma or COPD?</a:t>
            </a:r>
          </a:p>
        </p:txBody>
      </p:sp>
      <p:sp>
        <p:nvSpPr>
          <p:cNvPr id="3" name="TextBox 2"/>
          <p:cNvSpPr txBox="1"/>
          <p:nvPr/>
        </p:nvSpPr>
        <p:spPr>
          <a:xfrm>
            <a:off x="838504" y="1828800"/>
            <a:ext cx="7863840" cy="777240"/>
          </a:xfrm>
          <a:prstGeom prst="rect">
            <a:avLst/>
          </a:prstGeom>
          <a:noFill/>
        </p:spPr>
        <p:txBody>
          <a:bodyPr wrap="square" anchor="ctr">
            <a:spAutoFit/>
          </a:bodyPr>
          <a:lstStyle/>
          <a:p>
            <a:pPr algn="l"/>
            <a:r>
              <a:rPr sz="2200" b="1"/>
              <a:t>1.  </a:t>
            </a:r>
            <a:r>
              <a:rPr sz="2200"/>
              <a:t>A 10-year-old boy wheezes every time he plays with a cat.</a:t>
            </a:r>
          </a:p>
        </p:txBody>
      </p:sp>
      <p:sp>
        <p:nvSpPr>
          <p:cNvPr id="4" name="Answer 1"/>
          <p:cNvSpPr/>
          <p:nvPr/>
        </p:nvSpPr>
        <p:spPr>
          <a:xfrm>
            <a:off x="9052560" y="1874519"/>
            <a:ext cx="2286000" cy="685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wrap="square"/>
          <a:lstStyle/>
          <a:p>
            <a:pPr algn="ctr"/>
            <a:r>
              <a:rPr sz="2400" b="1"/>
              <a:t>Asthma</a:t>
            </a:r>
          </a:p>
        </p:txBody>
      </p:sp>
      <p:sp>
        <p:nvSpPr>
          <p:cNvPr id="5" name="TextBox 4"/>
          <p:cNvSpPr txBox="1"/>
          <p:nvPr/>
        </p:nvSpPr>
        <p:spPr>
          <a:xfrm>
            <a:off x="838504" y="2834640"/>
            <a:ext cx="7863840" cy="777240"/>
          </a:xfrm>
          <a:prstGeom prst="rect">
            <a:avLst/>
          </a:prstGeom>
          <a:noFill/>
        </p:spPr>
        <p:txBody>
          <a:bodyPr wrap="square" anchor="ctr">
            <a:spAutoFit/>
          </a:bodyPr>
          <a:lstStyle/>
          <a:p>
            <a:pPr algn="l"/>
            <a:r>
              <a:rPr sz="2200" b="1"/>
              <a:t>2.  </a:t>
            </a:r>
            <a:r>
              <a:rPr sz="2200"/>
              <a:t>A 70-year-old ex-smoker coughs up phlegm every morning.</a:t>
            </a:r>
          </a:p>
        </p:txBody>
      </p:sp>
      <p:sp>
        <p:nvSpPr>
          <p:cNvPr id="6" name="Answer 2"/>
          <p:cNvSpPr/>
          <p:nvPr/>
        </p:nvSpPr>
        <p:spPr>
          <a:xfrm>
            <a:off x="9052560" y="2880360"/>
            <a:ext cx="2286000" cy="685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wrap="square"/>
          <a:lstStyle/>
          <a:p>
            <a:pPr algn="ctr"/>
            <a:r>
              <a:rPr sz="2400" b="1"/>
              <a:t>COPD</a:t>
            </a:r>
          </a:p>
        </p:txBody>
      </p:sp>
      <p:sp>
        <p:nvSpPr>
          <p:cNvPr id="7" name="TextBox 6"/>
          <p:cNvSpPr txBox="1"/>
          <p:nvPr/>
        </p:nvSpPr>
        <p:spPr>
          <a:xfrm>
            <a:off x="838504" y="3840480"/>
            <a:ext cx="7863840" cy="777240"/>
          </a:xfrm>
          <a:prstGeom prst="rect">
            <a:avLst/>
          </a:prstGeom>
          <a:noFill/>
        </p:spPr>
        <p:txBody>
          <a:bodyPr wrap="square" anchor="ctr">
            <a:spAutoFit/>
          </a:bodyPr>
          <a:lstStyle/>
          <a:p>
            <a:pPr algn="l"/>
            <a:r>
              <a:rPr sz="2200" b="1"/>
              <a:t>3.  </a:t>
            </a:r>
            <a:r>
              <a:rPr sz="2200"/>
              <a:t>Her breathing test becomes almost normal after an inhaler.</a:t>
            </a:r>
          </a:p>
        </p:txBody>
      </p:sp>
      <p:sp>
        <p:nvSpPr>
          <p:cNvPr id="8" name="Answer 3"/>
          <p:cNvSpPr/>
          <p:nvPr/>
        </p:nvSpPr>
        <p:spPr>
          <a:xfrm>
            <a:off x="9052560" y="3886200"/>
            <a:ext cx="2286000" cy="685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wrap="square"/>
          <a:lstStyle/>
          <a:p>
            <a:pPr algn="ctr"/>
            <a:r>
              <a:rPr sz="2400" b="1"/>
              <a:t>Asthma</a:t>
            </a:r>
          </a:p>
        </p:txBody>
      </p:sp>
      <p:sp>
        <p:nvSpPr>
          <p:cNvPr id="9" name="TextBox 8"/>
          <p:cNvSpPr txBox="1"/>
          <p:nvPr/>
        </p:nvSpPr>
        <p:spPr>
          <a:xfrm>
            <a:off x="838504" y="4846320"/>
            <a:ext cx="7863840" cy="777240"/>
          </a:xfrm>
          <a:prstGeom prst="rect">
            <a:avLst/>
          </a:prstGeom>
          <a:noFill/>
        </p:spPr>
        <p:txBody>
          <a:bodyPr wrap="square" anchor="ctr">
            <a:spAutoFit/>
          </a:bodyPr>
          <a:lstStyle/>
          <a:p>
            <a:pPr algn="l"/>
            <a:r>
              <a:rPr sz="2200" b="1"/>
              <a:t>4.  </a:t>
            </a:r>
            <a:r>
              <a:rPr sz="2200"/>
              <a:t>The walls of his alveoli are damaged and air is trapped.</a:t>
            </a:r>
          </a:p>
        </p:txBody>
      </p:sp>
      <p:sp>
        <p:nvSpPr>
          <p:cNvPr id="10" name="Answer 4"/>
          <p:cNvSpPr/>
          <p:nvPr/>
        </p:nvSpPr>
        <p:spPr>
          <a:xfrm>
            <a:off x="9052560" y="4892040"/>
            <a:ext cx="2286000" cy="685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wrap="square"/>
          <a:lstStyle/>
          <a:p>
            <a:pPr algn="ctr"/>
            <a:r>
              <a:rPr sz="2400" b="1"/>
              <a:t>COPD</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8" grpId="0" animBg="1"/>
      <p:bldP spid="10" grpId="0" animBg="1"/>
    </p:bldLst>
  </p:timing>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Take-Home Messages</a:t>
            </a:r>
          </a:p>
        </p:txBody>
      </p:sp>
      <p:sp>
        <p:nvSpPr>
          <p:cNvPr id="3" name="Content Placeholder 2"/>
          <p:cNvSpPr>
            <a:spLocks noGrp="1"/>
          </p:cNvSpPr>
          <p:nvPr>
            <p:ph idx="1"/>
          </p:nvPr>
        </p:nvSpPr>
        <p:spPr/>
        <p:txBody>
          <a:bodyPr/>
          <a:lstStyle/>
          <a:p>
            <a:pPr/>
            <a:r>
              <a:t>Asthma and COPD both block the airflow out of the lungs</a:t>
            </a:r>
          </a:p>
          <a:p>
            <a:pPr>
              <a:spcBef>
                <a:spcPts val="1400"/>
              </a:spcBef>
            </a:pPr>
            <a:r>
              <a:rPr b="1"/>
              <a:t>Asthma: </a:t>
            </a:r>
            <a:r>
              <a:t>sensitive airways, triggers, usually reversible</a:t>
            </a:r>
          </a:p>
          <a:p>
            <a:pPr>
              <a:spcBef>
                <a:spcPts val="1400"/>
              </a:spcBef>
            </a:pPr>
            <a:r>
              <a:rPr b="1"/>
              <a:t>COPD: </a:t>
            </a:r>
            <a:r>
              <a:t>mostly from smoking, slowly gets worse, not fully reversible</a:t>
            </a:r>
          </a:p>
          <a:p>
            <a:pPr>
              <a:spcBef>
                <a:spcPts val="1400"/>
              </a:spcBef>
            </a:pPr>
            <a:r>
              <a:t>Both can be treated with the right inhalers</a:t>
            </a:r>
          </a:p>
          <a:p>
            <a:pPr>
              <a:spcBef>
                <a:spcPts val="1400"/>
              </a:spcBef>
            </a:pPr>
            <a:r>
              <a:t>COPD can often be prevented: </a:t>
            </a:r>
            <a:r>
              <a:rPr b="1"/>
              <a:t>don’t smoke!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Thank You!</a:t>
            </a:r>
          </a:p>
        </p:txBody>
      </p:sp>
      <p:sp>
        <p:nvSpPr>
          <p:cNvPr id="3" name="Subtitle 2"/>
          <p:cNvSpPr>
            <a:spLocks noGrp="1"/>
          </p:cNvSpPr>
          <p:nvPr>
            <p:ph type="subTitle" idx="1"/>
          </p:nvPr>
        </p:nvSpPr>
        <p:spPr/>
        <p:txBody>
          <a:bodyPr/>
          <a:lstStyle/>
          <a:p>
            <a:r>
              <a:rPr sz="2800"/>
              <a:t>Any questions?</a:t>
            </a:r>
          </a:p>
          <a:p>
            <a:pPr>
              <a:spcBef>
                <a:spcPts val="1800"/>
              </a:spcBef>
            </a:pPr>
            <a:r>
              <a:rPr sz="2000"/>
              <a:t>Presenter 1, Presenter 2 and Presenter 3</a:t>
            </a:r>
          </a:p>
        </p:txBody>
      </p:sp>
      <p:sp>
        <p:nvSpPr>
          <p:cNvPr id="4" name="TextBox 3"/>
          <p:cNvSpPr txBox="1"/>
          <p:nvPr/>
        </p:nvSpPr>
        <p:spPr>
          <a:xfrm>
            <a:off x="838504" y="5897880"/>
            <a:ext cx="10515600" cy="365760"/>
          </a:xfrm>
          <a:prstGeom prst="rect">
            <a:avLst/>
          </a:prstGeom>
          <a:noFill/>
        </p:spPr>
        <p:txBody>
          <a:bodyPr wrap="square" anchor="t">
            <a:spAutoFit/>
          </a:bodyPr>
          <a:lstStyle/>
          <a:p>
            <a:pPr algn="ctr"/>
            <a:r>
              <a:rPr sz="1200">
                <a:solidFill>
                  <a:srgbClr val="595959"/>
                </a:solidFill>
              </a:rPr>
              <a:t>Sources: World Health Organization (WHO) fact sheets: Asthma; Chronic obstructive pulmonary disease (COPD)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Asthma and COPD</dc:title>
  <dc:subject/>
  <dc:creator>Presenter 1, Presenter 2, Presenter 3</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